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999"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Mở đầu trong khoảng 30 giây. Giới thiệu LearnSpace là dự án cá nhân giải quyết đồng thời quản lý học tập, kho học liệu và hỗ trợ người học. Nhấn mạnh trọng tâm của bài là nghiệp vụ có phân quyền và bảo mật dữ liệu.</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Trình bày ba vấn đề dẫn đến mục tiêu. Dự án không chỉ gom dữ liệu, mà phải kiểm soát ai được nhìn và được sửa dữ liệu nào. Ba phân hệ mục tiêu tương ứng học vụ, LMS/LCMS và hỗ trợ người học.</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Giải thích role chỉ là lớp đầu. Ví dụ giáo viên có quyền quản lý bài tập nhưng vẫn chỉ được thao tác lớp mình phụ trách; Staff chỉ thấy sinh viên thuộc khoa được giao; Student chỉ thấy dữ liệu cá nhân và lớp đã ghi danh.</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 từ trên xuống: React dùng cookie cùng origin. Mutation có antiforgery. Controller nhận contract có validation, service áp dụng nghiệp vụ và typed Mongo filter. DTO chặn trường nội bộ. File nằm trong GridFS, dịch vụ ngoài được gọi từ backend để không lộ secret.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Nêu lý do không dùng Redux: Context + reducer đủ cho session, state form giữ gần component. MongoDB phù hợp phạm vi bài tập và GridFS; TypeScript không tự tạo bảo mật, nhưng giảm lỗi kiểu ở client.</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Đi nhanh qua sáu nhóm chức năng. Điểm quan trọng là chúng không tách rời: đăng ký lớp sinh hóa đơn; lớp liên kết bài học, quiz và báo cáo; học liệu có thể dùng cho nhiều môn; notification nối các bước duyệt.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Cho thấy cùng một bộ component nhưng menu và shortcut thay đổi theo identity. Nhấn mạnh việc ẩn menu chỉ là UX; API server vẫn kiểm tra lại quyền khi gọi URL trực tiếp.</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Mô tả một ca sử dụng từ mở lớp đến báo cáo. Các ràng buộc được kiểm tra server-side. Khi hủy lịch hoặc lưu trữ lớp, hệ thống giữ lịch sử thay vì xóa vật lý.</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Học liệu là entity độc lập, không chỉ là file của một bài tập. Một tài liệu có thể gắn nhiều môn. Câu hỏi có version và reviewer; tác giả không tự duyệt.</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Đây không phải chatbot sinh viên. AI chỉ hỗ trợ tác giả tạo một bản nháp. Backend dùng Responses API, JSON Schema, giới hạn 64 KiB và rate limit 10 request/phút/IP. API key nằm ở environment.</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Không đọc toàn bộ code. Chỉ trỏ vào ba ý: schema buộc cấu trúc; instruction giới hạn hành vi; mọi lỗi đều fail closed. Sau parse, service vẫn kiểm tra độ dài và đáp án một lần nữa trước khi lưu.</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Minh họa defense in depth. Nếu người dùng sửa ID trên URL, ownership/scope vẫn chặn. Nếu role bị gán nhầm permission, domain rule vẫn chặn Student chấm bài. Response DTO không trả hash mật khẩu hoặc đáp án quiz trước khi nộp.</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Bên trái: đổi mật khẩu yêu cầu mật khẩu hiện tại, chống dùng lại 5 mật khẩu gần nhất và update có điều kiện để tránh race. Bên phải: không chỉ tin phần mở rộng/MIME; đọc signature PDF, PNG, JPEG, ZIP/Office trước khi lưu.</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Nêu rõ đây là số liệu từ lần nghiệm thu gần nhất. Bộ test tạo database tạm và dọn sau khi chạy. AI test dùng HTTPS server giả lập nên không tốn phí; SMTP test dùng chứng chỉ TLS cục bộ.</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Quy trình build React được tích hợp MSBuild. Máy production chạy artifact đã publish nên không cần Node.js. Secret chỉ nhập trên Render Environment. Restore script mặc định sang database thử để tránh ghi đè production.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Trình bày trung thực giới hạn. Các tính năng Atlas không thể chứng minh chỉ bằng commit. Nếu đề bắt buộc đúng cú pháp SQL Server thì làm lab riêng, không đổi toàn bộ LMS. Chatbot sinh viên được bỏ vì chỉ là hướng phát triển.</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Kết thúc bằng demo flow nếu có thời gian. Thông điệp chính: dự án đã hoàn thành nghiệp vụ cốt lõi, phân quyền theo dữ liệu, có bằng chứng kiểm thử và sẵn sàng cấu hình dịch vụ thật để triển khai. Mời câu hỏi.</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6.pn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4254A"/>
        </a:solidFill>
        <a:effectLst/>
      </p:bgPr>
    </p:bg>
    <p:spTree>
      <p:nvGrpSpPr>
        <p:cNvPr id="1" name=""/>
        <p:cNvGrpSpPr/>
        <p:nvPr/>
      </p:nvGrpSpPr>
      <p:grpSpPr/>
      <p:sp>
        <p:nvSpPr>
          <p:cNvPr id="2" name="Rounded Rectangle 1"/>
          <p:cNvSpPr/>
          <p:nvPr/>
        </p:nvSpPr>
        <p:spPr>
          <a:xfrm>
            <a:off x="7955279" y="-365760"/>
            <a:ext cx="4754880" cy="7589520"/>
          </a:xfrm>
          <a:prstGeom prst="roundRect">
            <a:avLst/>
          </a:prstGeom>
          <a:solidFill>
            <a:srgbClr val="1D3974"/>
          </a:solidFill>
          <a:ln>
            <a:solidFill>
              <a:srgbClr val="1D3974"/>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8778240" y="594360"/>
            <a:ext cx="2468880" cy="2468880"/>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 name="TextBox 3"/>
          <p:cNvSpPr txBox="1"/>
          <p:nvPr/>
        </p:nvSpPr>
        <p:spPr>
          <a:xfrm>
            <a:off x="9491472" y="1024128"/>
            <a:ext cx="1005840" cy="1005840"/>
          </a:xfrm>
          <a:prstGeom prst="rect">
            <a:avLst/>
          </a:prstGeom>
          <a:noFill/>
        </p:spPr>
        <p:txBody>
          <a:bodyPr wrap="none" lIns="36576" rIns="36576" tIns="36576" bIns="36576" anchor="ctr">
            <a:spAutoFit/>
          </a:bodyPr>
          <a:lstStyle/>
          <a:p>
            <a:pPr algn="ctr"/>
            <a:r>
              <a:rPr sz="4400" b="1">
                <a:solidFill>
                  <a:srgbClr val="FFFFFF"/>
                </a:solidFill>
                <a:latin typeface="Aptos"/>
              </a:rPr>
              <a:t>L</a:t>
            </a:r>
          </a:p>
        </p:txBody>
      </p:sp>
      <p:sp>
        <p:nvSpPr>
          <p:cNvPr id="5" name="Rounded Rectangle 4"/>
          <p:cNvSpPr/>
          <p:nvPr/>
        </p:nvSpPr>
        <p:spPr>
          <a:xfrm>
            <a:off x="685800" y="658368"/>
            <a:ext cx="2331720" cy="310896"/>
          </a:xfrm>
          <a:prstGeom prst="roundRect">
            <a:avLst/>
          </a:prstGeom>
          <a:solidFill>
            <a:srgbClr val="263B68"/>
          </a:solidFill>
          <a:ln>
            <a:solidFill>
              <a:srgbClr val="263B68"/>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758952" y="708660"/>
            <a:ext cx="2185415" cy="201168"/>
          </a:xfrm>
          <a:prstGeom prst="rect">
            <a:avLst/>
          </a:prstGeom>
          <a:noFill/>
        </p:spPr>
        <p:txBody>
          <a:bodyPr wrap="none" lIns="36576" rIns="36576" tIns="36576" bIns="36576" anchor="t">
            <a:spAutoFit/>
          </a:bodyPr>
          <a:lstStyle/>
          <a:p>
            <a:pPr algn="ctr"/>
            <a:r>
              <a:rPr sz="900" b="1">
                <a:solidFill>
                  <a:srgbClr val="3EC6E0"/>
                </a:solidFill>
                <a:latin typeface="Aptos"/>
              </a:rPr>
              <a:t>BÁO CÁO ĐỒ ÁN CÁ NHÂN</a:t>
            </a:r>
          </a:p>
        </p:txBody>
      </p:sp>
      <p:sp>
        <p:nvSpPr>
          <p:cNvPr id="7" name="TextBox 6"/>
          <p:cNvSpPr txBox="1"/>
          <p:nvPr/>
        </p:nvSpPr>
        <p:spPr>
          <a:xfrm>
            <a:off x="685800" y="1298448"/>
            <a:ext cx="6949440" cy="658368"/>
          </a:xfrm>
          <a:prstGeom prst="rect">
            <a:avLst/>
          </a:prstGeom>
          <a:noFill/>
        </p:spPr>
        <p:txBody>
          <a:bodyPr wrap="none" lIns="36576" rIns="36576" tIns="36576" bIns="36576" anchor="t">
            <a:spAutoFit/>
          </a:bodyPr>
          <a:lstStyle/>
          <a:p>
            <a:pPr algn="l"/>
            <a:r>
              <a:rPr sz="3400" b="1">
                <a:solidFill>
                  <a:srgbClr val="FFFFFF"/>
                </a:solidFill>
                <a:latin typeface="Aptos"/>
              </a:rPr>
              <a:t>LearnSpace</a:t>
            </a:r>
          </a:p>
        </p:txBody>
      </p:sp>
      <p:sp>
        <p:nvSpPr>
          <p:cNvPr id="8" name="TextBox 7"/>
          <p:cNvSpPr txBox="1"/>
          <p:nvPr/>
        </p:nvSpPr>
        <p:spPr>
          <a:xfrm>
            <a:off x="685800" y="1993392"/>
            <a:ext cx="7040880" cy="1188720"/>
          </a:xfrm>
          <a:prstGeom prst="rect">
            <a:avLst/>
          </a:prstGeom>
          <a:noFill/>
        </p:spPr>
        <p:txBody>
          <a:bodyPr wrap="none" lIns="36576" rIns="36576" tIns="36576" bIns="36576" anchor="t">
            <a:spAutoFit/>
          </a:bodyPr>
          <a:lstStyle/>
          <a:p>
            <a:pPr algn="l"/>
            <a:r>
              <a:rPr sz="2600" b="1">
                <a:solidFill>
                  <a:srgbClr val="FFFFFF"/>
                </a:solidFill>
                <a:latin typeface="Aptos"/>
              </a:rPr>
              <a:t>Hệ thống quản lý học tập,
học liệu và tài nguyên số</a:t>
            </a:r>
          </a:p>
        </p:txBody>
      </p:sp>
      <p:sp>
        <p:nvSpPr>
          <p:cNvPr id="9" name="TextBox 8"/>
          <p:cNvSpPr txBox="1"/>
          <p:nvPr/>
        </p:nvSpPr>
        <p:spPr>
          <a:xfrm>
            <a:off x="722376" y="3401568"/>
            <a:ext cx="6812280" cy="640080"/>
          </a:xfrm>
          <a:prstGeom prst="rect">
            <a:avLst/>
          </a:prstGeom>
          <a:noFill/>
        </p:spPr>
        <p:txBody>
          <a:bodyPr wrap="none" lIns="36576" rIns="36576" tIns="36576" bIns="36576" anchor="t">
            <a:spAutoFit/>
          </a:bodyPr>
          <a:lstStyle/>
          <a:p>
            <a:pPr algn="l"/>
            <a:r>
              <a:rPr sz="1300" b="0">
                <a:solidFill>
                  <a:srgbClr val="C9D6FA"/>
                </a:solidFill>
                <a:latin typeface="Aptos"/>
              </a:rPr>
              <a:t>React + TypeScript  ·  ASP.NET Core .NET 10  ·  MongoDB Atlas  ·  OpenAI</a:t>
            </a:r>
          </a:p>
        </p:txBody>
      </p:sp>
      <p:cxnSp>
        <p:nvCxnSpPr>
          <p:cNvPr id="10" name="Connector 9"/>
          <p:cNvCxnSpPr/>
          <p:nvPr/>
        </p:nvCxnSpPr>
        <p:spPr>
          <a:xfrm>
            <a:off x="731520" y="4251960"/>
            <a:ext cx="6446520" cy="0"/>
          </a:xfrm>
          <a:prstGeom prst="line">
            <a:avLst/>
          </a:prstGeom>
          <a:ln w="12700">
            <a:solidFill>
              <a:srgbClr val="3F5687"/>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731520" y="4526280"/>
            <a:ext cx="4114800" cy="365760"/>
          </a:xfrm>
          <a:prstGeom prst="rect">
            <a:avLst/>
          </a:prstGeom>
          <a:noFill/>
        </p:spPr>
        <p:txBody>
          <a:bodyPr wrap="none" lIns="36576" rIns="36576" tIns="36576" bIns="36576" anchor="t">
            <a:spAutoFit/>
          </a:bodyPr>
          <a:lstStyle/>
          <a:p>
            <a:pPr algn="l"/>
            <a:r>
              <a:rPr sz="1600" b="1">
                <a:solidFill>
                  <a:srgbClr val="FFFFFF"/>
                </a:solidFill>
                <a:latin typeface="Aptos"/>
              </a:rPr>
              <a:t>Nguyễn Hải Phong</a:t>
            </a:r>
          </a:p>
        </p:txBody>
      </p:sp>
      <p:sp>
        <p:nvSpPr>
          <p:cNvPr id="12" name="TextBox 11"/>
          <p:cNvSpPr txBox="1"/>
          <p:nvPr/>
        </p:nvSpPr>
        <p:spPr>
          <a:xfrm>
            <a:off x="731520" y="4956048"/>
            <a:ext cx="6126480" cy="365760"/>
          </a:xfrm>
          <a:prstGeom prst="rect">
            <a:avLst/>
          </a:prstGeom>
          <a:noFill/>
        </p:spPr>
        <p:txBody>
          <a:bodyPr wrap="none" lIns="36576" rIns="36576" tIns="36576" bIns="36576" anchor="t">
            <a:spAutoFit/>
          </a:bodyPr>
          <a:lstStyle/>
          <a:p>
            <a:pPr algn="l"/>
            <a:r>
              <a:rPr sz="1100" b="0">
                <a:solidFill>
                  <a:srgbClr val="AEBEE6"/>
                </a:solidFill>
                <a:latin typeface="Aptos"/>
              </a:rPr>
              <a:t>Thuyết trình kiến trúc · nghiệp vụ · bảo mật · kiểm thử</a:t>
            </a:r>
          </a:p>
        </p:txBody>
      </p:sp>
      <p:sp>
        <p:nvSpPr>
          <p:cNvPr id="13" name="TextBox 12"/>
          <p:cNvSpPr txBox="1"/>
          <p:nvPr/>
        </p:nvSpPr>
        <p:spPr>
          <a:xfrm>
            <a:off x="10287000" y="6144768"/>
            <a:ext cx="1051560" cy="310896"/>
          </a:xfrm>
          <a:prstGeom prst="rect">
            <a:avLst/>
          </a:prstGeom>
          <a:noFill/>
        </p:spPr>
        <p:txBody>
          <a:bodyPr wrap="none" lIns="36576" rIns="36576" tIns="36576" bIns="36576" anchor="t">
            <a:spAutoFit/>
          </a:bodyPr>
          <a:lstStyle/>
          <a:p>
            <a:pPr algn="r"/>
            <a:r>
              <a:rPr sz="1200" b="1">
                <a:solidFill>
                  <a:srgbClr val="FFFFFF"/>
                </a:solidFill>
                <a:latin typeface="Aptos"/>
              </a:rPr>
              <a:t>2026</a:t>
            </a:r>
          </a:p>
        </p:txBody>
      </p:sp>
    </p:spTree>
  </p:cSld>
  <p:clrMapOvr>
    <a:masterClrMapping/>
  </p:clrMapOvr>
  <p:transition spd="med">
    <p:fade/>
  </p:transition>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01 · BỐI CẢNH</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Bài toán không chỉ là CRUD</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Dữ liệu học tập cần đúng người, đúng phạm vi và có khả năng truy vết.</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02</a:t>
            </a:r>
          </a:p>
        </p:txBody>
      </p:sp>
      <p:sp>
        <p:nvSpPr>
          <p:cNvPr id="6" name="Rounded Rectangle 5"/>
          <p:cNvSpPr/>
          <p:nvPr/>
        </p:nvSpPr>
        <p:spPr>
          <a:xfrm>
            <a:off x="594360" y="1755648"/>
            <a:ext cx="3520440" cy="1417320"/>
          </a:xfrm>
          <a:prstGeom prst="roundRect">
            <a:avLst/>
          </a:prstGeom>
          <a:solidFill>
            <a:srgbClr val="FFFFFF"/>
          </a:solidFill>
          <a:ln>
            <a:solidFill>
              <a:srgbClr val="E1E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94360" y="1755648"/>
            <a:ext cx="73152" cy="1417320"/>
          </a:xfrm>
          <a:prstGeom prst="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1938528"/>
            <a:ext cx="411480" cy="365760"/>
          </a:xfrm>
          <a:prstGeom prst="rect">
            <a:avLst/>
          </a:prstGeom>
          <a:noFill/>
        </p:spPr>
        <p:txBody>
          <a:bodyPr wrap="none" lIns="36576" rIns="36576" tIns="36576" bIns="36576" anchor="t">
            <a:spAutoFit/>
          </a:bodyPr>
          <a:lstStyle/>
          <a:p>
            <a:pPr algn="l"/>
            <a:r>
              <a:rPr sz="2000" b="1">
                <a:solidFill>
                  <a:srgbClr val="2F5BEA"/>
                </a:solidFill>
                <a:latin typeface="Aptos"/>
              </a:rPr>
              <a:t>01</a:t>
            </a:r>
          </a:p>
        </p:txBody>
      </p:sp>
      <p:sp>
        <p:nvSpPr>
          <p:cNvPr id="9" name="TextBox 8"/>
          <p:cNvSpPr txBox="1"/>
          <p:nvPr/>
        </p:nvSpPr>
        <p:spPr>
          <a:xfrm>
            <a:off x="1280160" y="1938528"/>
            <a:ext cx="2670048" cy="310896"/>
          </a:xfrm>
          <a:prstGeom prst="rect">
            <a:avLst/>
          </a:prstGeom>
          <a:noFill/>
        </p:spPr>
        <p:txBody>
          <a:bodyPr wrap="none" lIns="36576" rIns="36576" tIns="36576" bIns="36576" anchor="t">
            <a:spAutoFit/>
          </a:bodyPr>
          <a:lstStyle/>
          <a:p>
            <a:pPr algn="l"/>
            <a:r>
              <a:rPr sz="1300" b="1">
                <a:solidFill>
                  <a:srgbClr val="14254A"/>
                </a:solidFill>
                <a:latin typeface="Aptos"/>
              </a:rPr>
              <a:t>Dữ liệu phân tán</a:t>
            </a:r>
          </a:p>
        </p:txBody>
      </p:sp>
      <p:sp>
        <p:nvSpPr>
          <p:cNvPr id="10" name="TextBox 9"/>
          <p:cNvSpPr txBox="1"/>
          <p:nvPr/>
        </p:nvSpPr>
        <p:spPr>
          <a:xfrm>
            <a:off x="813816" y="2395728"/>
            <a:ext cx="3081528" cy="667512"/>
          </a:xfrm>
          <a:prstGeom prst="rect">
            <a:avLst/>
          </a:prstGeom>
          <a:noFill/>
        </p:spPr>
        <p:txBody>
          <a:bodyPr wrap="none" lIns="36576" rIns="36576" tIns="36576" bIns="36576" anchor="t">
            <a:spAutoFit/>
          </a:bodyPr>
          <a:lstStyle/>
          <a:p>
            <a:pPr algn="l"/>
            <a:r>
              <a:rPr sz="1000" b="0">
                <a:solidFill>
                  <a:srgbClr val="64708A"/>
                </a:solidFill>
                <a:latin typeface="Aptos"/>
              </a:rPr>
              <a:t>Lớp, tài liệu, điểm, lịch và hỗ trợ nằm ở nhiều nơi; khó theo dõi xuyên suốt.</a:t>
            </a:r>
          </a:p>
        </p:txBody>
      </p:sp>
      <p:sp>
        <p:nvSpPr>
          <p:cNvPr id="11" name="Rounded Rectangle 10"/>
          <p:cNvSpPr/>
          <p:nvPr/>
        </p:nvSpPr>
        <p:spPr>
          <a:xfrm>
            <a:off x="4343400" y="1755648"/>
            <a:ext cx="3520440" cy="1417320"/>
          </a:xfrm>
          <a:prstGeom prst="roundRect">
            <a:avLst/>
          </a:prstGeom>
          <a:solidFill>
            <a:srgbClr val="FFFFFF"/>
          </a:solidFill>
          <a:ln>
            <a:solidFill>
              <a:srgbClr val="E1E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4343400" y="1755648"/>
            <a:ext cx="73152" cy="1417320"/>
          </a:xfrm>
          <a:prstGeom prst="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44568" y="1938528"/>
            <a:ext cx="411480" cy="365760"/>
          </a:xfrm>
          <a:prstGeom prst="rect">
            <a:avLst/>
          </a:prstGeom>
          <a:noFill/>
        </p:spPr>
        <p:txBody>
          <a:bodyPr wrap="none" lIns="36576" rIns="36576" tIns="36576" bIns="36576" anchor="t">
            <a:spAutoFit/>
          </a:bodyPr>
          <a:lstStyle/>
          <a:p>
            <a:pPr algn="l"/>
            <a:r>
              <a:rPr sz="2000" b="1">
                <a:solidFill>
                  <a:srgbClr val="F5B942"/>
                </a:solidFill>
                <a:latin typeface="Aptos"/>
              </a:rPr>
              <a:t>02</a:t>
            </a:r>
          </a:p>
        </p:txBody>
      </p:sp>
      <p:sp>
        <p:nvSpPr>
          <p:cNvPr id="14" name="TextBox 13"/>
          <p:cNvSpPr txBox="1"/>
          <p:nvPr/>
        </p:nvSpPr>
        <p:spPr>
          <a:xfrm>
            <a:off x="5029200" y="1938528"/>
            <a:ext cx="2670048" cy="310896"/>
          </a:xfrm>
          <a:prstGeom prst="rect">
            <a:avLst/>
          </a:prstGeom>
          <a:noFill/>
        </p:spPr>
        <p:txBody>
          <a:bodyPr wrap="none" lIns="36576" rIns="36576" tIns="36576" bIns="36576" anchor="t">
            <a:spAutoFit/>
          </a:bodyPr>
          <a:lstStyle/>
          <a:p>
            <a:pPr algn="l"/>
            <a:r>
              <a:rPr sz="1300" b="1">
                <a:solidFill>
                  <a:srgbClr val="14254A"/>
                </a:solidFill>
                <a:latin typeface="Aptos"/>
              </a:rPr>
              <a:t>Quyền truy cập phức tạp</a:t>
            </a:r>
          </a:p>
        </p:txBody>
      </p:sp>
      <p:sp>
        <p:nvSpPr>
          <p:cNvPr id="15" name="TextBox 14"/>
          <p:cNvSpPr txBox="1"/>
          <p:nvPr/>
        </p:nvSpPr>
        <p:spPr>
          <a:xfrm>
            <a:off x="4562856" y="2395728"/>
            <a:ext cx="3081528" cy="667512"/>
          </a:xfrm>
          <a:prstGeom prst="rect">
            <a:avLst/>
          </a:prstGeom>
          <a:noFill/>
        </p:spPr>
        <p:txBody>
          <a:bodyPr wrap="none" lIns="36576" rIns="36576" tIns="36576" bIns="36576" anchor="t">
            <a:spAutoFit/>
          </a:bodyPr>
          <a:lstStyle/>
          <a:p>
            <a:pPr algn="l"/>
            <a:r>
              <a:rPr sz="1000" b="0">
                <a:solidFill>
                  <a:srgbClr val="64708A"/>
                </a:solidFill>
                <a:latin typeface="Aptos"/>
              </a:rPr>
              <a:t>Admin, cán bộ, giảng viên và sinh viên nhìn cùng dữ liệu theo phạm vi khác nhau.</a:t>
            </a:r>
          </a:p>
        </p:txBody>
      </p:sp>
      <p:sp>
        <p:nvSpPr>
          <p:cNvPr id="16" name="Rounded Rectangle 15"/>
          <p:cNvSpPr/>
          <p:nvPr/>
        </p:nvSpPr>
        <p:spPr>
          <a:xfrm>
            <a:off x="8092440" y="1755648"/>
            <a:ext cx="3520440" cy="1417320"/>
          </a:xfrm>
          <a:prstGeom prst="roundRect">
            <a:avLst/>
          </a:prstGeom>
          <a:solidFill>
            <a:srgbClr val="FFFFFF"/>
          </a:solidFill>
          <a:ln>
            <a:solidFill>
              <a:srgbClr val="E1E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ectangle 16"/>
          <p:cNvSpPr/>
          <p:nvPr/>
        </p:nvSpPr>
        <p:spPr>
          <a:xfrm>
            <a:off x="8092440" y="1755648"/>
            <a:ext cx="73152" cy="1417320"/>
          </a:xfrm>
          <a:prstGeom prst="rect">
            <a:avLst/>
          </a:prstGeom>
          <a:solidFill>
            <a:srgbClr val="3EC6E0"/>
          </a:solidFill>
          <a:ln>
            <a:solidFill>
              <a:srgbClr val="3EC6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293608" y="1938528"/>
            <a:ext cx="411480" cy="365760"/>
          </a:xfrm>
          <a:prstGeom prst="rect">
            <a:avLst/>
          </a:prstGeom>
          <a:noFill/>
        </p:spPr>
        <p:txBody>
          <a:bodyPr wrap="none" lIns="36576" rIns="36576" tIns="36576" bIns="36576" anchor="t">
            <a:spAutoFit/>
          </a:bodyPr>
          <a:lstStyle/>
          <a:p>
            <a:pPr algn="l"/>
            <a:r>
              <a:rPr sz="2000" b="1">
                <a:solidFill>
                  <a:srgbClr val="3EC6E0"/>
                </a:solidFill>
                <a:latin typeface="Aptos"/>
              </a:rPr>
              <a:t>03</a:t>
            </a:r>
          </a:p>
        </p:txBody>
      </p:sp>
      <p:sp>
        <p:nvSpPr>
          <p:cNvPr id="19" name="TextBox 18"/>
          <p:cNvSpPr txBox="1"/>
          <p:nvPr/>
        </p:nvSpPr>
        <p:spPr>
          <a:xfrm>
            <a:off x="8778240" y="1938528"/>
            <a:ext cx="2670048" cy="310896"/>
          </a:xfrm>
          <a:prstGeom prst="rect">
            <a:avLst/>
          </a:prstGeom>
          <a:noFill/>
        </p:spPr>
        <p:txBody>
          <a:bodyPr wrap="none" lIns="36576" rIns="36576" tIns="36576" bIns="36576" anchor="t">
            <a:spAutoFit/>
          </a:bodyPr>
          <a:lstStyle/>
          <a:p>
            <a:pPr algn="l"/>
            <a:r>
              <a:rPr sz="1300" b="1">
                <a:solidFill>
                  <a:srgbClr val="14254A"/>
                </a:solidFill>
                <a:latin typeface="Aptos"/>
              </a:rPr>
              <a:t>Học liệu thiếu vòng đời</a:t>
            </a:r>
          </a:p>
        </p:txBody>
      </p:sp>
      <p:sp>
        <p:nvSpPr>
          <p:cNvPr id="20" name="TextBox 19"/>
          <p:cNvSpPr txBox="1"/>
          <p:nvPr/>
        </p:nvSpPr>
        <p:spPr>
          <a:xfrm>
            <a:off x="8311896" y="2395728"/>
            <a:ext cx="3081528" cy="667512"/>
          </a:xfrm>
          <a:prstGeom prst="rect">
            <a:avLst/>
          </a:prstGeom>
          <a:noFill/>
        </p:spPr>
        <p:txBody>
          <a:bodyPr wrap="none" lIns="36576" rIns="36576" tIns="36576" bIns="36576" anchor="t">
            <a:spAutoFit/>
          </a:bodyPr>
          <a:lstStyle/>
          <a:p>
            <a:pPr algn="l"/>
            <a:r>
              <a:rPr sz="1000" b="0">
                <a:solidFill>
                  <a:srgbClr val="64708A"/>
                </a:solidFill>
                <a:latin typeface="Aptos"/>
              </a:rPr>
              <a:t>Tài liệu cần nguồn, license, phiên bản, kiểm duyệt và công bố thay vì chỉ upload file.</a:t>
            </a:r>
          </a:p>
        </p:txBody>
      </p:sp>
      <p:sp>
        <p:nvSpPr>
          <p:cNvPr id="21" name="Rounded Rectangle 20"/>
          <p:cNvSpPr/>
          <p:nvPr/>
        </p:nvSpPr>
        <p:spPr>
          <a:xfrm>
            <a:off x="594360" y="3493008"/>
            <a:ext cx="11018520" cy="2331720"/>
          </a:xfrm>
          <a:prstGeom prst="roundRect">
            <a:avLst/>
          </a:prstGeom>
          <a:solidFill>
            <a:srgbClr val="14254A"/>
          </a:solidFill>
          <a:ln>
            <a:solidFill>
              <a:srgbClr val="142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3749039"/>
            <a:ext cx="1188720" cy="256032"/>
          </a:xfrm>
          <a:prstGeom prst="rect">
            <a:avLst/>
          </a:prstGeom>
          <a:noFill/>
        </p:spPr>
        <p:txBody>
          <a:bodyPr wrap="none" lIns="36576" rIns="36576" tIns="36576" bIns="36576" anchor="t">
            <a:spAutoFit/>
          </a:bodyPr>
          <a:lstStyle/>
          <a:p>
            <a:pPr algn="l"/>
            <a:r>
              <a:rPr sz="1000" b="1">
                <a:solidFill>
                  <a:srgbClr val="3EC6E0"/>
                </a:solidFill>
                <a:latin typeface="Aptos"/>
              </a:rPr>
              <a:t>MỤC TIÊU</a:t>
            </a:r>
          </a:p>
        </p:txBody>
      </p:sp>
      <p:sp>
        <p:nvSpPr>
          <p:cNvPr id="23" name="TextBox 22"/>
          <p:cNvSpPr txBox="1"/>
          <p:nvPr/>
        </p:nvSpPr>
        <p:spPr>
          <a:xfrm>
            <a:off x="868680" y="4133087"/>
            <a:ext cx="5029200" cy="411480"/>
          </a:xfrm>
          <a:prstGeom prst="rect">
            <a:avLst/>
          </a:prstGeom>
          <a:noFill/>
        </p:spPr>
        <p:txBody>
          <a:bodyPr wrap="none" lIns="36576" rIns="36576" tIns="36576" bIns="36576" anchor="t">
            <a:spAutoFit/>
          </a:bodyPr>
          <a:lstStyle/>
          <a:p>
            <a:pPr algn="l"/>
            <a:r>
              <a:rPr sz="2400" b="1">
                <a:solidFill>
                  <a:srgbClr val="FFFFFF"/>
                </a:solidFill>
                <a:latin typeface="Aptos"/>
              </a:rPr>
              <a:t>Một không gian học tập thống nhất</a:t>
            </a:r>
          </a:p>
        </p:txBody>
      </p:sp>
      <p:sp>
        <p:nvSpPr>
          <p:cNvPr id="24" name="Rounded Rectangle 23"/>
          <p:cNvSpPr/>
          <p:nvPr/>
        </p:nvSpPr>
        <p:spPr>
          <a:xfrm>
            <a:off x="6172200" y="3931920"/>
            <a:ext cx="1508760" cy="1325880"/>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20840" y="4133087"/>
            <a:ext cx="411480" cy="365760"/>
          </a:xfrm>
          <a:prstGeom prst="rect">
            <a:avLst/>
          </a:prstGeom>
          <a:noFill/>
        </p:spPr>
        <p:txBody>
          <a:bodyPr wrap="none" lIns="36576" rIns="36576" tIns="36576" bIns="36576" anchor="t">
            <a:spAutoFit/>
          </a:bodyPr>
          <a:lstStyle/>
          <a:p>
            <a:pPr algn="ctr"/>
            <a:r>
              <a:rPr sz="2000" b="1">
                <a:solidFill>
                  <a:srgbClr val="2F5BEA"/>
                </a:solidFill>
                <a:latin typeface="Aptos"/>
              </a:rPr>
              <a:t>1</a:t>
            </a:r>
          </a:p>
        </p:txBody>
      </p:sp>
      <p:sp>
        <p:nvSpPr>
          <p:cNvPr id="26" name="TextBox 25"/>
          <p:cNvSpPr txBox="1"/>
          <p:nvPr/>
        </p:nvSpPr>
        <p:spPr>
          <a:xfrm>
            <a:off x="6291072" y="4663440"/>
            <a:ext cx="1280160" cy="502920"/>
          </a:xfrm>
          <a:prstGeom prst="rect">
            <a:avLst/>
          </a:prstGeom>
          <a:noFill/>
        </p:spPr>
        <p:txBody>
          <a:bodyPr wrap="none" lIns="36576" rIns="36576" tIns="36576" bIns="36576" anchor="t">
            <a:spAutoFit/>
          </a:bodyPr>
          <a:lstStyle/>
          <a:p>
            <a:pPr algn="ctr"/>
            <a:r>
              <a:rPr sz="900" b="1">
                <a:solidFill>
                  <a:srgbClr val="14254A"/>
                </a:solidFill>
                <a:latin typeface="Aptos"/>
              </a:rPr>
              <a:t>Quản lý học vụ &amp; tiến trình</a:t>
            </a:r>
          </a:p>
        </p:txBody>
      </p:sp>
      <p:sp>
        <p:nvSpPr>
          <p:cNvPr id="27" name="Rounded Rectangle 26"/>
          <p:cNvSpPr/>
          <p:nvPr/>
        </p:nvSpPr>
        <p:spPr>
          <a:xfrm>
            <a:off x="7909560" y="3931920"/>
            <a:ext cx="1508760" cy="1325880"/>
          </a:xfrm>
          <a:prstGeom prst="roundRect">
            <a:avLst/>
          </a:prstGeom>
          <a:solidFill>
            <a:srgbClr val="FFF4DC"/>
          </a:solidFill>
          <a:ln>
            <a:solidFill>
              <a:srgbClr val="FFF4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58200" y="4133087"/>
            <a:ext cx="411480" cy="365760"/>
          </a:xfrm>
          <a:prstGeom prst="rect">
            <a:avLst/>
          </a:prstGeom>
          <a:noFill/>
        </p:spPr>
        <p:txBody>
          <a:bodyPr wrap="none" lIns="36576" rIns="36576" tIns="36576" bIns="36576" anchor="t">
            <a:spAutoFit/>
          </a:bodyPr>
          <a:lstStyle/>
          <a:p>
            <a:pPr algn="ctr"/>
            <a:r>
              <a:rPr sz="2000" b="1">
                <a:solidFill>
                  <a:srgbClr val="2F5BEA"/>
                </a:solidFill>
                <a:latin typeface="Aptos"/>
              </a:rPr>
              <a:t>2</a:t>
            </a:r>
          </a:p>
        </p:txBody>
      </p:sp>
      <p:sp>
        <p:nvSpPr>
          <p:cNvPr id="29" name="TextBox 28"/>
          <p:cNvSpPr txBox="1"/>
          <p:nvPr/>
        </p:nvSpPr>
        <p:spPr>
          <a:xfrm>
            <a:off x="8028431" y="4663440"/>
            <a:ext cx="1280160" cy="502920"/>
          </a:xfrm>
          <a:prstGeom prst="rect">
            <a:avLst/>
          </a:prstGeom>
          <a:noFill/>
        </p:spPr>
        <p:txBody>
          <a:bodyPr wrap="none" lIns="36576" rIns="36576" tIns="36576" bIns="36576" anchor="t">
            <a:spAutoFit/>
          </a:bodyPr>
          <a:lstStyle/>
          <a:p>
            <a:pPr algn="ctr"/>
            <a:r>
              <a:rPr sz="900" b="1">
                <a:solidFill>
                  <a:srgbClr val="14254A"/>
                </a:solidFill>
                <a:latin typeface="Aptos"/>
              </a:rPr>
              <a:t>Kho học liệu dùng chung</a:t>
            </a:r>
          </a:p>
        </p:txBody>
      </p:sp>
      <p:sp>
        <p:nvSpPr>
          <p:cNvPr id="30" name="Rounded Rectangle 29"/>
          <p:cNvSpPr/>
          <p:nvPr/>
        </p:nvSpPr>
        <p:spPr>
          <a:xfrm>
            <a:off x="9646920" y="3931920"/>
            <a:ext cx="1508760" cy="1325880"/>
          </a:xfrm>
          <a:prstGeom prst="roundRect">
            <a:avLst/>
          </a:prstGeom>
          <a:solidFill>
            <a:srgbClr val="E8F8F3"/>
          </a:solidFill>
          <a:ln>
            <a:solidFill>
              <a:srgbClr val="E8F8F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0195559" y="4133087"/>
            <a:ext cx="411480" cy="365760"/>
          </a:xfrm>
          <a:prstGeom prst="rect">
            <a:avLst/>
          </a:prstGeom>
          <a:noFill/>
        </p:spPr>
        <p:txBody>
          <a:bodyPr wrap="none" lIns="36576" rIns="36576" tIns="36576" bIns="36576" anchor="t">
            <a:spAutoFit/>
          </a:bodyPr>
          <a:lstStyle/>
          <a:p>
            <a:pPr algn="ctr"/>
            <a:r>
              <a:rPr sz="2000" b="1">
                <a:solidFill>
                  <a:srgbClr val="2F5BEA"/>
                </a:solidFill>
                <a:latin typeface="Aptos"/>
              </a:rPr>
              <a:t>3</a:t>
            </a:r>
          </a:p>
        </p:txBody>
      </p:sp>
      <p:sp>
        <p:nvSpPr>
          <p:cNvPr id="32" name="TextBox 31"/>
          <p:cNvSpPr txBox="1"/>
          <p:nvPr/>
        </p:nvSpPr>
        <p:spPr>
          <a:xfrm>
            <a:off x="9765792" y="4663440"/>
            <a:ext cx="1280160" cy="502920"/>
          </a:xfrm>
          <a:prstGeom prst="rect">
            <a:avLst/>
          </a:prstGeom>
          <a:noFill/>
        </p:spPr>
        <p:txBody>
          <a:bodyPr wrap="none" lIns="36576" rIns="36576" tIns="36576" bIns="36576" anchor="t">
            <a:spAutoFit/>
          </a:bodyPr>
          <a:lstStyle/>
          <a:p>
            <a:pPr algn="ctr"/>
            <a:r>
              <a:rPr sz="900" b="1">
                <a:solidFill>
                  <a:srgbClr val="14254A"/>
                </a:solidFill>
                <a:latin typeface="Aptos"/>
              </a:rPr>
              <a:t>Hỗ trợ &amp; báo cáo theo quyền</a:t>
            </a:r>
          </a:p>
        </p:txBody>
      </p:sp>
      <p:cxnSp>
        <p:nvCxnSpPr>
          <p:cNvPr id="33" name="Connector 32"/>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clrMapOvr>
    <a:masterClrMapping/>
  </p:clrMapOvr>
  <p:transition spd="med">
    <p:push dir="l"/>
  </p:transition>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02 · PHẠM VI</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Bốn vai trò, một nền tảng</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Quyền chức năng kết hợp với phạm vi dữ liệu thực tế.</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03</a:t>
            </a:r>
          </a:p>
        </p:txBody>
      </p:sp>
      <p:sp>
        <p:nvSpPr>
          <p:cNvPr id="6" name="Rounded Rectangle 5"/>
          <p:cNvSpPr/>
          <p:nvPr/>
        </p:nvSpPr>
        <p:spPr>
          <a:xfrm>
            <a:off x="594360" y="1664208"/>
            <a:ext cx="2487168" cy="297180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13816" y="1901952"/>
            <a:ext cx="960120" cy="310896"/>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86968" y="1952244"/>
            <a:ext cx="813816" cy="201168"/>
          </a:xfrm>
          <a:prstGeom prst="rect">
            <a:avLst/>
          </a:prstGeom>
          <a:noFill/>
        </p:spPr>
        <p:txBody>
          <a:bodyPr wrap="none" lIns="36576" rIns="36576" tIns="36576" bIns="36576" anchor="t">
            <a:spAutoFit/>
          </a:bodyPr>
          <a:lstStyle/>
          <a:p>
            <a:pPr algn="ctr"/>
            <a:r>
              <a:rPr sz="900" b="1">
                <a:solidFill>
                  <a:srgbClr val="FFFFFF"/>
                </a:solidFill>
                <a:latin typeface="Aptos"/>
              </a:rPr>
              <a:t>ADMIN</a:t>
            </a:r>
          </a:p>
        </p:txBody>
      </p:sp>
      <p:sp>
        <p:nvSpPr>
          <p:cNvPr id="9" name="TextBox 8"/>
          <p:cNvSpPr txBox="1"/>
          <p:nvPr/>
        </p:nvSpPr>
        <p:spPr>
          <a:xfrm>
            <a:off x="813816" y="2468880"/>
            <a:ext cx="2057400" cy="594360"/>
          </a:xfrm>
          <a:prstGeom prst="rect">
            <a:avLst/>
          </a:prstGeom>
          <a:noFill/>
        </p:spPr>
        <p:txBody>
          <a:bodyPr wrap="none" lIns="36576" rIns="36576" tIns="36576" bIns="36576" anchor="t">
            <a:spAutoFit/>
          </a:bodyPr>
          <a:lstStyle/>
          <a:p>
            <a:pPr algn="l"/>
            <a:r>
              <a:rPr sz="1700" b="1">
                <a:solidFill>
                  <a:srgbClr val="14254A"/>
                </a:solidFill>
                <a:latin typeface="Aptos"/>
              </a:rPr>
              <a:t>Quản trị hệ thống</a:t>
            </a:r>
          </a:p>
        </p:txBody>
      </p:sp>
      <p:sp>
        <p:nvSpPr>
          <p:cNvPr id="10" name="TextBox 9"/>
          <p:cNvSpPr txBox="1"/>
          <p:nvPr/>
        </p:nvSpPr>
        <p:spPr>
          <a:xfrm>
            <a:off x="813816" y="3246120"/>
            <a:ext cx="2011680" cy="640080"/>
          </a:xfrm>
          <a:prstGeom prst="rect">
            <a:avLst/>
          </a:prstGeom>
          <a:noFill/>
        </p:spPr>
        <p:txBody>
          <a:bodyPr wrap="none" lIns="36576" rIns="36576" tIns="36576" bIns="36576" anchor="t">
            <a:spAutoFit/>
          </a:bodyPr>
          <a:lstStyle/>
          <a:p>
            <a:pPr algn="l"/>
            <a:r>
              <a:rPr sz="1000" b="0">
                <a:solidFill>
                  <a:srgbClr val="64708A"/>
                </a:solidFill>
                <a:latin typeface="Aptos"/>
              </a:rPr>
              <a:t>Tài khoản · học vụ · phân quyền</a:t>
            </a:r>
          </a:p>
        </p:txBody>
      </p:sp>
      <p:sp>
        <p:nvSpPr>
          <p:cNvPr id="11" name="TextBox 10"/>
          <p:cNvSpPr txBox="1"/>
          <p:nvPr/>
        </p:nvSpPr>
        <p:spPr>
          <a:xfrm>
            <a:off x="813816" y="4041648"/>
            <a:ext cx="502920" cy="384048"/>
          </a:xfrm>
          <a:prstGeom prst="rect">
            <a:avLst/>
          </a:prstGeom>
          <a:noFill/>
        </p:spPr>
        <p:txBody>
          <a:bodyPr wrap="none" lIns="36576" rIns="36576" tIns="36576" bIns="36576" anchor="t">
            <a:spAutoFit/>
          </a:bodyPr>
          <a:lstStyle/>
          <a:p>
            <a:pPr algn="l"/>
            <a:r>
              <a:rPr sz="2200" b="1">
                <a:solidFill>
                  <a:srgbClr val="2F5BEA"/>
                </a:solidFill>
                <a:latin typeface="Aptos"/>
              </a:rPr>
              <a:t>⚙</a:t>
            </a:r>
          </a:p>
        </p:txBody>
      </p:sp>
      <p:sp>
        <p:nvSpPr>
          <p:cNvPr id="12" name="Rounded Rectangle 11"/>
          <p:cNvSpPr/>
          <p:nvPr/>
        </p:nvSpPr>
        <p:spPr>
          <a:xfrm>
            <a:off x="3355848" y="1664208"/>
            <a:ext cx="2487168" cy="297180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3575304" y="1901952"/>
            <a:ext cx="960120" cy="310896"/>
          </a:xfrm>
          <a:prstGeom prst="roundRect">
            <a:avLst/>
          </a:prstGeom>
          <a:solidFill>
            <a:srgbClr val="3EC6E0"/>
          </a:solidFill>
          <a:ln>
            <a:solidFill>
              <a:srgbClr val="3EC6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48456" y="1952244"/>
            <a:ext cx="813816" cy="201168"/>
          </a:xfrm>
          <a:prstGeom prst="rect">
            <a:avLst/>
          </a:prstGeom>
          <a:noFill/>
        </p:spPr>
        <p:txBody>
          <a:bodyPr wrap="none" lIns="36576" rIns="36576" tIns="36576" bIns="36576" anchor="t">
            <a:spAutoFit/>
          </a:bodyPr>
          <a:lstStyle/>
          <a:p>
            <a:pPr algn="ctr"/>
            <a:r>
              <a:rPr sz="900" b="1">
                <a:solidFill>
                  <a:srgbClr val="FFFFFF"/>
                </a:solidFill>
                <a:latin typeface="Aptos"/>
              </a:rPr>
              <a:t>STAFF</a:t>
            </a:r>
          </a:p>
        </p:txBody>
      </p:sp>
      <p:sp>
        <p:nvSpPr>
          <p:cNvPr id="15" name="TextBox 14"/>
          <p:cNvSpPr txBox="1"/>
          <p:nvPr/>
        </p:nvSpPr>
        <p:spPr>
          <a:xfrm>
            <a:off x="3575304" y="2468880"/>
            <a:ext cx="2057400" cy="594360"/>
          </a:xfrm>
          <a:prstGeom prst="rect">
            <a:avLst/>
          </a:prstGeom>
          <a:noFill/>
        </p:spPr>
        <p:txBody>
          <a:bodyPr wrap="none" lIns="36576" rIns="36576" tIns="36576" bIns="36576" anchor="t">
            <a:spAutoFit/>
          </a:bodyPr>
          <a:lstStyle/>
          <a:p>
            <a:pPr algn="l"/>
            <a:r>
              <a:rPr sz="1700" b="1">
                <a:solidFill>
                  <a:srgbClr val="14254A"/>
                </a:solidFill>
                <a:latin typeface="Aptos"/>
              </a:rPr>
              <a:t>Cán bộ quản lý</a:t>
            </a:r>
          </a:p>
        </p:txBody>
      </p:sp>
      <p:sp>
        <p:nvSpPr>
          <p:cNvPr id="16" name="TextBox 15"/>
          <p:cNvSpPr txBox="1"/>
          <p:nvPr/>
        </p:nvSpPr>
        <p:spPr>
          <a:xfrm>
            <a:off x="3575304" y="3246120"/>
            <a:ext cx="2011680" cy="640080"/>
          </a:xfrm>
          <a:prstGeom prst="rect">
            <a:avLst/>
          </a:prstGeom>
          <a:noFill/>
        </p:spPr>
        <p:txBody>
          <a:bodyPr wrap="none" lIns="36576" rIns="36576" tIns="36576" bIns="36576" anchor="t">
            <a:spAutoFit/>
          </a:bodyPr>
          <a:lstStyle/>
          <a:p>
            <a:pPr algn="l"/>
            <a:r>
              <a:rPr sz="1000" b="0">
                <a:solidFill>
                  <a:srgbClr val="64708A"/>
                </a:solidFill>
                <a:latin typeface="Aptos"/>
              </a:rPr>
              <a:t>Sinh viên &amp; báo cáo trong khoa</a:t>
            </a:r>
          </a:p>
        </p:txBody>
      </p:sp>
      <p:sp>
        <p:nvSpPr>
          <p:cNvPr id="17" name="TextBox 16"/>
          <p:cNvSpPr txBox="1"/>
          <p:nvPr/>
        </p:nvSpPr>
        <p:spPr>
          <a:xfrm>
            <a:off x="3575304" y="4041648"/>
            <a:ext cx="502920" cy="384048"/>
          </a:xfrm>
          <a:prstGeom prst="rect">
            <a:avLst/>
          </a:prstGeom>
          <a:noFill/>
        </p:spPr>
        <p:txBody>
          <a:bodyPr wrap="none" lIns="36576" rIns="36576" tIns="36576" bIns="36576" anchor="t">
            <a:spAutoFit/>
          </a:bodyPr>
          <a:lstStyle/>
          <a:p>
            <a:pPr algn="l"/>
            <a:r>
              <a:rPr sz="2200" b="1">
                <a:solidFill>
                  <a:srgbClr val="3EC6E0"/>
                </a:solidFill>
                <a:latin typeface="Aptos"/>
              </a:rPr>
              <a:t>▦</a:t>
            </a:r>
          </a:p>
        </p:txBody>
      </p:sp>
      <p:sp>
        <p:nvSpPr>
          <p:cNvPr id="18" name="Rounded Rectangle 17"/>
          <p:cNvSpPr/>
          <p:nvPr/>
        </p:nvSpPr>
        <p:spPr>
          <a:xfrm>
            <a:off x="6117336" y="1664208"/>
            <a:ext cx="2487168" cy="297180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6336792" y="1901952"/>
            <a:ext cx="960120" cy="310896"/>
          </a:xfrm>
          <a:prstGeom prst="roundRect">
            <a:avLst/>
          </a:prstGeom>
          <a:solidFill>
            <a:srgbClr val="FFF4DC"/>
          </a:solidFill>
          <a:ln>
            <a:solidFill>
              <a:srgbClr val="FFF4D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409944" y="1952244"/>
            <a:ext cx="813816" cy="201168"/>
          </a:xfrm>
          <a:prstGeom prst="rect">
            <a:avLst/>
          </a:prstGeom>
          <a:noFill/>
        </p:spPr>
        <p:txBody>
          <a:bodyPr wrap="none" lIns="36576" rIns="36576" tIns="36576" bIns="36576" anchor="t">
            <a:spAutoFit/>
          </a:bodyPr>
          <a:lstStyle/>
          <a:p>
            <a:pPr algn="ctr"/>
            <a:r>
              <a:rPr sz="900" b="1">
                <a:solidFill>
                  <a:srgbClr val="14254A"/>
                </a:solidFill>
                <a:latin typeface="Aptos"/>
              </a:rPr>
              <a:t>TEACHER</a:t>
            </a:r>
          </a:p>
        </p:txBody>
      </p:sp>
      <p:sp>
        <p:nvSpPr>
          <p:cNvPr id="21" name="TextBox 20"/>
          <p:cNvSpPr txBox="1"/>
          <p:nvPr/>
        </p:nvSpPr>
        <p:spPr>
          <a:xfrm>
            <a:off x="6336792" y="2468880"/>
            <a:ext cx="2057400" cy="594360"/>
          </a:xfrm>
          <a:prstGeom prst="rect">
            <a:avLst/>
          </a:prstGeom>
          <a:noFill/>
        </p:spPr>
        <p:txBody>
          <a:bodyPr wrap="none" lIns="36576" rIns="36576" tIns="36576" bIns="36576" anchor="t">
            <a:spAutoFit/>
          </a:bodyPr>
          <a:lstStyle/>
          <a:p>
            <a:pPr algn="l"/>
            <a:r>
              <a:rPr sz="1700" b="1">
                <a:solidFill>
                  <a:srgbClr val="14254A"/>
                </a:solidFill>
                <a:latin typeface="Aptos"/>
              </a:rPr>
              <a:t>Giảng viên</a:t>
            </a:r>
          </a:p>
        </p:txBody>
      </p:sp>
      <p:sp>
        <p:nvSpPr>
          <p:cNvPr id="22" name="TextBox 21"/>
          <p:cNvSpPr txBox="1"/>
          <p:nvPr/>
        </p:nvSpPr>
        <p:spPr>
          <a:xfrm>
            <a:off x="6336792" y="3246120"/>
            <a:ext cx="2011680" cy="640080"/>
          </a:xfrm>
          <a:prstGeom prst="rect">
            <a:avLst/>
          </a:prstGeom>
          <a:noFill/>
        </p:spPr>
        <p:txBody>
          <a:bodyPr wrap="none" lIns="36576" rIns="36576" tIns="36576" bIns="36576" anchor="t">
            <a:spAutoFit/>
          </a:bodyPr>
          <a:lstStyle/>
          <a:p>
            <a:pPr algn="l"/>
            <a:r>
              <a:rPr sz="1000" b="0">
                <a:solidFill>
                  <a:srgbClr val="64708A"/>
                </a:solidFill>
                <a:latin typeface="Aptos"/>
              </a:rPr>
              <a:t>Lớp · học liệu · câu hỏi · chấm điểm</a:t>
            </a:r>
          </a:p>
        </p:txBody>
      </p:sp>
      <p:sp>
        <p:nvSpPr>
          <p:cNvPr id="23" name="TextBox 22"/>
          <p:cNvSpPr txBox="1"/>
          <p:nvPr/>
        </p:nvSpPr>
        <p:spPr>
          <a:xfrm>
            <a:off x="6336792" y="4041648"/>
            <a:ext cx="502920" cy="384048"/>
          </a:xfrm>
          <a:prstGeom prst="rect">
            <a:avLst/>
          </a:prstGeom>
          <a:noFill/>
        </p:spPr>
        <p:txBody>
          <a:bodyPr wrap="none" lIns="36576" rIns="36576" tIns="36576" bIns="36576" anchor="t">
            <a:spAutoFit/>
          </a:bodyPr>
          <a:lstStyle/>
          <a:p>
            <a:pPr algn="l"/>
            <a:r>
              <a:rPr sz="2200" b="1">
                <a:solidFill>
                  <a:srgbClr val="F5B942"/>
                </a:solidFill>
                <a:latin typeface="Aptos"/>
              </a:rPr>
              <a:t>✎</a:t>
            </a:r>
          </a:p>
        </p:txBody>
      </p:sp>
      <p:sp>
        <p:nvSpPr>
          <p:cNvPr id="24" name="Rounded Rectangle 23"/>
          <p:cNvSpPr/>
          <p:nvPr/>
        </p:nvSpPr>
        <p:spPr>
          <a:xfrm>
            <a:off x="8878824" y="1664208"/>
            <a:ext cx="2487168" cy="297180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9098280" y="1901952"/>
            <a:ext cx="960120" cy="310896"/>
          </a:xfrm>
          <a:prstGeom prst="roundRect">
            <a:avLst/>
          </a:prstGeom>
          <a:solidFill>
            <a:srgbClr val="1F9D73"/>
          </a:solidFill>
          <a:ln>
            <a:solidFill>
              <a:srgbClr val="1F9D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171432" y="1952244"/>
            <a:ext cx="813816" cy="201168"/>
          </a:xfrm>
          <a:prstGeom prst="rect">
            <a:avLst/>
          </a:prstGeom>
          <a:noFill/>
        </p:spPr>
        <p:txBody>
          <a:bodyPr wrap="none" lIns="36576" rIns="36576" tIns="36576" bIns="36576" anchor="t">
            <a:spAutoFit/>
          </a:bodyPr>
          <a:lstStyle/>
          <a:p>
            <a:pPr algn="ctr"/>
            <a:r>
              <a:rPr sz="900" b="1">
                <a:solidFill>
                  <a:srgbClr val="FFFFFF"/>
                </a:solidFill>
                <a:latin typeface="Aptos"/>
              </a:rPr>
              <a:t>STUDENT</a:t>
            </a:r>
          </a:p>
        </p:txBody>
      </p:sp>
      <p:sp>
        <p:nvSpPr>
          <p:cNvPr id="27" name="TextBox 26"/>
          <p:cNvSpPr txBox="1"/>
          <p:nvPr/>
        </p:nvSpPr>
        <p:spPr>
          <a:xfrm>
            <a:off x="9098280" y="2468880"/>
            <a:ext cx="2057400" cy="594360"/>
          </a:xfrm>
          <a:prstGeom prst="rect">
            <a:avLst/>
          </a:prstGeom>
          <a:noFill/>
        </p:spPr>
        <p:txBody>
          <a:bodyPr wrap="none" lIns="36576" rIns="36576" tIns="36576" bIns="36576" anchor="t">
            <a:spAutoFit/>
          </a:bodyPr>
          <a:lstStyle/>
          <a:p>
            <a:pPr algn="l"/>
            <a:r>
              <a:rPr sz="1700" b="1">
                <a:solidFill>
                  <a:srgbClr val="14254A"/>
                </a:solidFill>
                <a:latin typeface="Aptos"/>
              </a:rPr>
              <a:t>Sinh viên</a:t>
            </a:r>
          </a:p>
        </p:txBody>
      </p:sp>
      <p:sp>
        <p:nvSpPr>
          <p:cNvPr id="28" name="TextBox 27"/>
          <p:cNvSpPr txBox="1"/>
          <p:nvPr/>
        </p:nvSpPr>
        <p:spPr>
          <a:xfrm>
            <a:off x="9098280" y="3246120"/>
            <a:ext cx="2011680" cy="640080"/>
          </a:xfrm>
          <a:prstGeom prst="rect">
            <a:avLst/>
          </a:prstGeom>
          <a:noFill/>
        </p:spPr>
        <p:txBody>
          <a:bodyPr wrap="none" lIns="36576" rIns="36576" tIns="36576" bIns="36576" anchor="t">
            <a:spAutoFit/>
          </a:bodyPr>
          <a:lstStyle/>
          <a:p>
            <a:pPr algn="l"/>
            <a:r>
              <a:rPr sz="1000" b="0">
                <a:solidFill>
                  <a:srgbClr val="64708A"/>
                </a:solidFill>
                <a:latin typeface="Aptos"/>
              </a:rPr>
              <a:t>Học · nộp bài · điểm · hỗ trợ</a:t>
            </a:r>
          </a:p>
        </p:txBody>
      </p:sp>
      <p:sp>
        <p:nvSpPr>
          <p:cNvPr id="29" name="TextBox 28"/>
          <p:cNvSpPr txBox="1"/>
          <p:nvPr/>
        </p:nvSpPr>
        <p:spPr>
          <a:xfrm>
            <a:off x="9098280" y="4041648"/>
            <a:ext cx="502920" cy="384048"/>
          </a:xfrm>
          <a:prstGeom prst="rect">
            <a:avLst/>
          </a:prstGeom>
          <a:noFill/>
        </p:spPr>
        <p:txBody>
          <a:bodyPr wrap="none" lIns="36576" rIns="36576" tIns="36576" bIns="36576" anchor="t">
            <a:spAutoFit/>
          </a:bodyPr>
          <a:lstStyle/>
          <a:p>
            <a:pPr algn="l"/>
            <a:r>
              <a:rPr sz="2200" b="1">
                <a:solidFill>
                  <a:srgbClr val="1F9D73"/>
                </a:solidFill>
                <a:latin typeface="Aptos"/>
              </a:rPr>
              <a:t>✓</a:t>
            </a:r>
          </a:p>
        </p:txBody>
      </p:sp>
      <p:sp>
        <p:nvSpPr>
          <p:cNvPr id="30" name="Rounded Rectangle 29"/>
          <p:cNvSpPr/>
          <p:nvPr/>
        </p:nvSpPr>
        <p:spPr>
          <a:xfrm>
            <a:off x="594360" y="4937760"/>
            <a:ext cx="11018520" cy="1051560"/>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868680" y="5212080"/>
            <a:ext cx="10241280" cy="365760"/>
          </a:xfrm>
          <a:prstGeom prst="rect">
            <a:avLst/>
          </a:prstGeom>
          <a:noFill/>
        </p:spPr>
        <p:txBody>
          <a:bodyPr wrap="none" lIns="36576" rIns="36576">
            <a:spAutoFit/>
          </a:bodyPr>
          <a:lstStyle/>
          <a:p>
            <a:pPr algn="l"/>
            <a:r>
              <a:rPr sz="1700" b="1">
                <a:solidFill>
                  <a:srgbClr val="14254A"/>
                </a:solidFill>
                <a:latin typeface="Aptos"/>
              </a:rPr>
              <a:t>Công thức quyền: </a:t>
            </a:r>
            <a:r>
              <a:rPr sz="1700" b="1">
                <a:solidFill>
                  <a:srgbClr val="2F5BEA"/>
                </a:solidFill>
                <a:latin typeface="Aptos"/>
              </a:rPr>
              <a:t>Role </a:t>
            </a:r>
            <a:r>
              <a:rPr sz="1700" b="1">
                <a:solidFill>
                  <a:srgbClr val="3EC6E0"/>
                </a:solidFill>
                <a:latin typeface="Aptos"/>
              </a:rPr>
              <a:t>+ Permission </a:t>
            </a:r>
            <a:r>
              <a:rPr sz="1700" b="1">
                <a:solidFill>
                  <a:srgbClr val="1F9D73"/>
                </a:solidFill>
                <a:latin typeface="Aptos"/>
              </a:rPr>
              <a:t>+ Ownership / Department / Enrollment</a:t>
            </a:r>
          </a:p>
        </p:txBody>
      </p:sp>
      <p:cxnSp>
        <p:nvCxnSpPr>
          <p:cNvPr id="32" name="Connector 31"/>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clrMapOvr>
    <a:masterClrMapping/>
  </p:clrMapOvr>
  <p:transition spd="med">
    <p:wipe dir="r"/>
  </p:transition>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03 · KIẾN TRÚC</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Kiến trúc triển khai và luồng dữ liệu</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Mọi kiểm tra bảo mật quan trọng được thực hiện ở server.</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04</a:t>
            </a:r>
          </a:p>
        </p:txBody>
      </p:sp>
      <p:sp>
        <p:nvSpPr>
          <p:cNvPr id="6" name="TextBox 5"/>
          <p:cNvSpPr txBox="1"/>
          <p:nvPr/>
        </p:nvSpPr>
        <p:spPr>
          <a:xfrm>
            <a:off x="658368" y="1993392"/>
            <a:ext cx="1097280" cy="256032"/>
          </a:xfrm>
          <a:prstGeom prst="rect">
            <a:avLst/>
          </a:prstGeom>
          <a:noFill/>
        </p:spPr>
        <p:txBody>
          <a:bodyPr wrap="none" lIns="36576" rIns="36576" tIns="36576" bIns="36576" anchor="t">
            <a:spAutoFit/>
          </a:bodyPr>
          <a:lstStyle/>
          <a:p>
            <a:pPr algn="l"/>
            <a:r>
              <a:rPr sz="900" b="1">
                <a:solidFill>
                  <a:srgbClr val="2F5BEA"/>
                </a:solidFill>
                <a:latin typeface="Aptos"/>
              </a:rPr>
              <a:t>CLIENT</a:t>
            </a:r>
          </a:p>
        </p:txBody>
      </p:sp>
      <p:cxnSp>
        <p:nvCxnSpPr>
          <p:cNvPr id="7" name="Connector 6"/>
          <p:cNvCxnSpPr/>
          <p:nvPr/>
        </p:nvCxnSpPr>
        <p:spPr>
          <a:xfrm>
            <a:off x="1755648" y="2121408"/>
            <a:ext cx="9674352" cy="0"/>
          </a:xfrm>
          <a:prstGeom prst="line">
            <a:avLst/>
          </a:prstGeom>
          <a:ln w="12700">
            <a:solidFill>
              <a:srgbClr val="DDE3F0"/>
            </a:solidFill>
          </a:ln>
        </p:spPr>
        <p:style>
          <a:lnRef idx="2">
            <a:schemeClr val="accent1"/>
          </a:lnRef>
          <a:fillRef idx="0">
            <a:schemeClr val="accent1"/>
          </a:fillRef>
          <a:effectRef idx="1">
            <a:schemeClr val="accent1"/>
          </a:effectRef>
          <a:fontRef idx="minor">
            <a:schemeClr val="tx1"/>
          </a:fontRef>
        </p:style>
      </p:cxnSp>
      <p:sp>
        <p:nvSpPr>
          <p:cNvPr id="8" name="TextBox 7"/>
          <p:cNvSpPr txBox="1"/>
          <p:nvPr/>
        </p:nvSpPr>
        <p:spPr>
          <a:xfrm>
            <a:off x="658368" y="3273552"/>
            <a:ext cx="1097280" cy="256032"/>
          </a:xfrm>
          <a:prstGeom prst="rect">
            <a:avLst/>
          </a:prstGeom>
          <a:noFill/>
        </p:spPr>
        <p:txBody>
          <a:bodyPr wrap="none" lIns="36576" rIns="36576" tIns="36576" bIns="36576" anchor="t">
            <a:spAutoFit/>
          </a:bodyPr>
          <a:lstStyle/>
          <a:p>
            <a:pPr algn="l"/>
            <a:r>
              <a:rPr sz="900" b="1">
                <a:solidFill>
                  <a:srgbClr val="3EC6E0"/>
                </a:solidFill>
                <a:latin typeface="Aptos"/>
              </a:rPr>
              <a:t>APPLICATION</a:t>
            </a:r>
          </a:p>
        </p:txBody>
      </p:sp>
      <p:cxnSp>
        <p:nvCxnSpPr>
          <p:cNvPr id="9" name="Connector 8"/>
          <p:cNvCxnSpPr/>
          <p:nvPr/>
        </p:nvCxnSpPr>
        <p:spPr>
          <a:xfrm>
            <a:off x="1755648" y="3401568"/>
            <a:ext cx="9674352" cy="0"/>
          </a:xfrm>
          <a:prstGeom prst="line">
            <a:avLst/>
          </a:prstGeom>
          <a:ln w="12700">
            <a:solidFill>
              <a:srgbClr val="DDE3F0"/>
            </a:solidFill>
          </a:ln>
        </p:spPr>
        <p:style>
          <a:lnRef idx="2">
            <a:schemeClr val="accent1"/>
          </a:lnRef>
          <a:fillRef idx="0">
            <a:schemeClr val="accent1"/>
          </a:fillRef>
          <a:effectRef idx="1">
            <a:schemeClr val="accent1"/>
          </a:effectRef>
          <a:fontRef idx="minor">
            <a:schemeClr val="tx1"/>
          </a:fontRef>
        </p:style>
      </p:cxnSp>
      <p:sp>
        <p:nvSpPr>
          <p:cNvPr id="10" name="TextBox 9"/>
          <p:cNvSpPr txBox="1"/>
          <p:nvPr/>
        </p:nvSpPr>
        <p:spPr>
          <a:xfrm>
            <a:off x="658368" y="4553712"/>
            <a:ext cx="1097280" cy="256032"/>
          </a:xfrm>
          <a:prstGeom prst="rect">
            <a:avLst/>
          </a:prstGeom>
          <a:noFill/>
        </p:spPr>
        <p:txBody>
          <a:bodyPr wrap="none" lIns="36576" rIns="36576" tIns="36576" bIns="36576" anchor="t">
            <a:spAutoFit/>
          </a:bodyPr>
          <a:lstStyle/>
          <a:p>
            <a:pPr algn="l"/>
            <a:r>
              <a:rPr sz="900" b="1">
                <a:solidFill>
                  <a:srgbClr val="F5B942"/>
                </a:solidFill>
                <a:latin typeface="Aptos"/>
              </a:rPr>
              <a:t>DATA &amp; SERVICES</a:t>
            </a:r>
          </a:p>
        </p:txBody>
      </p:sp>
      <p:cxnSp>
        <p:nvCxnSpPr>
          <p:cNvPr id="11" name="Connector 10"/>
          <p:cNvCxnSpPr/>
          <p:nvPr/>
        </p:nvCxnSpPr>
        <p:spPr>
          <a:xfrm>
            <a:off x="1755648" y="4681728"/>
            <a:ext cx="9674352" cy="0"/>
          </a:xfrm>
          <a:prstGeom prst="line">
            <a:avLst/>
          </a:prstGeom>
          <a:ln w="12700">
            <a:solidFill>
              <a:srgbClr val="DDE3F0"/>
            </a:solidFill>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1965960" y="1536192"/>
            <a:ext cx="196596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130552" y="1682495"/>
            <a:ext cx="1636776" cy="274320"/>
          </a:xfrm>
          <a:prstGeom prst="rect">
            <a:avLst/>
          </a:prstGeom>
          <a:noFill/>
        </p:spPr>
        <p:txBody>
          <a:bodyPr wrap="none" lIns="36576" rIns="36576" tIns="36576" bIns="36576" anchor="t">
            <a:spAutoFit/>
          </a:bodyPr>
          <a:lstStyle/>
          <a:p>
            <a:pPr algn="l"/>
            <a:r>
              <a:rPr sz="1300" b="1">
                <a:solidFill>
                  <a:srgbClr val="14254A"/>
                </a:solidFill>
                <a:latin typeface="Aptos"/>
              </a:rPr>
              <a:t>React 19</a:t>
            </a:r>
          </a:p>
        </p:txBody>
      </p:sp>
      <p:sp>
        <p:nvSpPr>
          <p:cNvPr id="14" name="TextBox 13"/>
          <p:cNvSpPr txBox="1"/>
          <p:nvPr/>
        </p:nvSpPr>
        <p:spPr>
          <a:xfrm>
            <a:off x="2130552" y="2011680"/>
            <a:ext cx="1636776" cy="256032"/>
          </a:xfrm>
          <a:prstGeom prst="rect">
            <a:avLst/>
          </a:prstGeom>
          <a:noFill/>
        </p:spPr>
        <p:txBody>
          <a:bodyPr wrap="none" lIns="36576" rIns="36576" tIns="36576" bIns="36576" anchor="t">
            <a:spAutoFit/>
          </a:bodyPr>
          <a:lstStyle/>
          <a:p>
            <a:pPr algn="l"/>
            <a:r>
              <a:rPr sz="800" b="0">
                <a:solidFill>
                  <a:srgbClr val="64708A"/>
                </a:solidFill>
                <a:latin typeface="Aptos"/>
              </a:rPr>
              <a:t>TypeScript · Router · Context</a:t>
            </a:r>
          </a:p>
        </p:txBody>
      </p:sp>
      <p:sp>
        <p:nvSpPr>
          <p:cNvPr id="15" name="Rounded Rectangle 14"/>
          <p:cNvSpPr/>
          <p:nvPr/>
        </p:nvSpPr>
        <p:spPr>
          <a:xfrm>
            <a:off x="4663440" y="1536192"/>
            <a:ext cx="196596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828031" y="1682495"/>
            <a:ext cx="1636776" cy="274320"/>
          </a:xfrm>
          <a:prstGeom prst="rect">
            <a:avLst/>
          </a:prstGeom>
          <a:noFill/>
        </p:spPr>
        <p:txBody>
          <a:bodyPr wrap="none" lIns="36576" rIns="36576" tIns="36576" bIns="36576" anchor="t">
            <a:spAutoFit/>
          </a:bodyPr>
          <a:lstStyle/>
          <a:p>
            <a:pPr algn="l"/>
            <a:r>
              <a:rPr sz="1300" b="1">
                <a:solidFill>
                  <a:srgbClr val="14254A"/>
                </a:solidFill>
                <a:latin typeface="Aptos"/>
              </a:rPr>
              <a:t>Cookie Session</a:t>
            </a:r>
          </a:p>
        </p:txBody>
      </p:sp>
      <p:sp>
        <p:nvSpPr>
          <p:cNvPr id="17" name="TextBox 16"/>
          <p:cNvSpPr txBox="1"/>
          <p:nvPr/>
        </p:nvSpPr>
        <p:spPr>
          <a:xfrm>
            <a:off x="4828031" y="2011680"/>
            <a:ext cx="1636776" cy="256032"/>
          </a:xfrm>
          <a:prstGeom prst="rect">
            <a:avLst/>
          </a:prstGeom>
          <a:noFill/>
        </p:spPr>
        <p:txBody>
          <a:bodyPr wrap="none" lIns="36576" rIns="36576" tIns="36576" bIns="36576" anchor="t">
            <a:spAutoFit/>
          </a:bodyPr>
          <a:lstStyle/>
          <a:p>
            <a:pPr algn="l"/>
            <a:r>
              <a:rPr sz="800" b="0">
                <a:solidFill>
                  <a:srgbClr val="64708A"/>
                </a:solidFill>
                <a:latin typeface="Aptos"/>
              </a:rPr>
              <a:t>CSRF · HttpOnly · SameSite</a:t>
            </a:r>
          </a:p>
        </p:txBody>
      </p:sp>
      <p:sp>
        <p:nvSpPr>
          <p:cNvPr id="18" name="Rounded Rectangle 17"/>
          <p:cNvSpPr/>
          <p:nvPr/>
        </p:nvSpPr>
        <p:spPr>
          <a:xfrm>
            <a:off x="7360920" y="1536192"/>
            <a:ext cx="196596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7525512" y="1682495"/>
            <a:ext cx="1636776" cy="274320"/>
          </a:xfrm>
          <a:prstGeom prst="rect">
            <a:avLst/>
          </a:prstGeom>
          <a:noFill/>
        </p:spPr>
        <p:txBody>
          <a:bodyPr wrap="none" lIns="36576" rIns="36576" tIns="36576" bIns="36576" anchor="t">
            <a:spAutoFit/>
          </a:bodyPr>
          <a:lstStyle/>
          <a:p>
            <a:pPr algn="l"/>
            <a:r>
              <a:rPr sz="1300" b="1">
                <a:solidFill>
                  <a:srgbClr val="14254A"/>
                </a:solidFill>
                <a:latin typeface="Aptos"/>
              </a:rPr>
              <a:t>Role UI</a:t>
            </a:r>
          </a:p>
        </p:txBody>
      </p:sp>
      <p:sp>
        <p:nvSpPr>
          <p:cNvPr id="20" name="TextBox 19"/>
          <p:cNvSpPr txBox="1"/>
          <p:nvPr/>
        </p:nvSpPr>
        <p:spPr>
          <a:xfrm>
            <a:off x="7525512" y="2011680"/>
            <a:ext cx="1636776" cy="256032"/>
          </a:xfrm>
          <a:prstGeom prst="rect">
            <a:avLst/>
          </a:prstGeom>
          <a:noFill/>
        </p:spPr>
        <p:txBody>
          <a:bodyPr wrap="none" lIns="36576" rIns="36576" tIns="36576" bIns="36576" anchor="t">
            <a:spAutoFit/>
          </a:bodyPr>
          <a:lstStyle/>
          <a:p>
            <a:pPr algn="l"/>
            <a:r>
              <a:rPr sz="800" b="0">
                <a:solidFill>
                  <a:srgbClr val="64708A"/>
                </a:solidFill>
                <a:latin typeface="Aptos"/>
              </a:rPr>
              <a:t>Menu và trạng thái theo quyền</a:t>
            </a:r>
          </a:p>
        </p:txBody>
      </p:sp>
      <p:sp>
        <p:nvSpPr>
          <p:cNvPr id="21" name="Rounded Rectangle 20"/>
          <p:cNvSpPr/>
          <p:nvPr/>
        </p:nvSpPr>
        <p:spPr>
          <a:xfrm>
            <a:off x="1965960" y="2816352"/>
            <a:ext cx="196596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2130552" y="2962656"/>
            <a:ext cx="1636776" cy="274320"/>
          </a:xfrm>
          <a:prstGeom prst="rect">
            <a:avLst/>
          </a:prstGeom>
          <a:noFill/>
        </p:spPr>
        <p:txBody>
          <a:bodyPr wrap="none" lIns="36576" rIns="36576" tIns="36576" bIns="36576" anchor="t">
            <a:spAutoFit/>
          </a:bodyPr>
          <a:lstStyle/>
          <a:p>
            <a:pPr algn="l"/>
            <a:r>
              <a:rPr sz="1300" b="1">
                <a:solidFill>
                  <a:srgbClr val="14254A"/>
                </a:solidFill>
                <a:latin typeface="Aptos"/>
              </a:rPr>
              <a:t>ASP.NET Core</a:t>
            </a:r>
          </a:p>
        </p:txBody>
      </p:sp>
      <p:sp>
        <p:nvSpPr>
          <p:cNvPr id="23" name="TextBox 22"/>
          <p:cNvSpPr txBox="1"/>
          <p:nvPr/>
        </p:nvSpPr>
        <p:spPr>
          <a:xfrm>
            <a:off x="2130552" y="3291840"/>
            <a:ext cx="1636776" cy="256032"/>
          </a:xfrm>
          <a:prstGeom prst="rect">
            <a:avLst/>
          </a:prstGeom>
          <a:noFill/>
        </p:spPr>
        <p:txBody>
          <a:bodyPr wrap="none" lIns="36576" rIns="36576" tIns="36576" bIns="36576" anchor="t">
            <a:spAutoFit/>
          </a:bodyPr>
          <a:lstStyle/>
          <a:p>
            <a:pPr algn="l"/>
            <a:r>
              <a:rPr sz="800" b="0">
                <a:solidFill>
                  <a:srgbClr val="64708A"/>
                </a:solidFill>
                <a:latin typeface="Aptos"/>
              </a:rPr>
              <a:t>MVC + REST API .NET 10</a:t>
            </a:r>
          </a:p>
        </p:txBody>
      </p:sp>
      <p:sp>
        <p:nvSpPr>
          <p:cNvPr id="24" name="Rounded Rectangle 23"/>
          <p:cNvSpPr/>
          <p:nvPr/>
        </p:nvSpPr>
        <p:spPr>
          <a:xfrm>
            <a:off x="4663440" y="2816352"/>
            <a:ext cx="196596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828031" y="2962656"/>
            <a:ext cx="1636776" cy="274320"/>
          </a:xfrm>
          <a:prstGeom prst="rect">
            <a:avLst/>
          </a:prstGeom>
          <a:noFill/>
        </p:spPr>
        <p:txBody>
          <a:bodyPr wrap="none" lIns="36576" rIns="36576" tIns="36576" bIns="36576" anchor="t">
            <a:spAutoFit/>
          </a:bodyPr>
          <a:lstStyle/>
          <a:p>
            <a:pPr algn="l"/>
            <a:r>
              <a:rPr sz="1300" b="1">
                <a:solidFill>
                  <a:srgbClr val="14254A"/>
                </a:solidFill>
                <a:latin typeface="Aptos"/>
              </a:rPr>
              <a:t>Authorization</a:t>
            </a:r>
          </a:p>
        </p:txBody>
      </p:sp>
      <p:sp>
        <p:nvSpPr>
          <p:cNvPr id="26" name="TextBox 25"/>
          <p:cNvSpPr txBox="1"/>
          <p:nvPr/>
        </p:nvSpPr>
        <p:spPr>
          <a:xfrm>
            <a:off x="4828031" y="3291840"/>
            <a:ext cx="1636776" cy="256032"/>
          </a:xfrm>
          <a:prstGeom prst="rect">
            <a:avLst/>
          </a:prstGeom>
          <a:noFill/>
        </p:spPr>
        <p:txBody>
          <a:bodyPr wrap="none" lIns="36576" rIns="36576" tIns="36576" bIns="36576" anchor="t">
            <a:spAutoFit/>
          </a:bodyPr>
          <a:lstStyle/>
          <a:p>
            <a:pPr algn="l"/>
            <a:r>
              <a:rPr sz="800" b="0">
                <a:solidFill>
                  <a:srgbClr val="64708A"/>
                </a:solidFill>
                <a:latin typeface="Aptos"/>
              </a:rPr>
              <a:t>Role + Permission + Scope</a:t>
            </a:r>
          </a:p>
        </p:txBody>
      </p:sp>
      <p:sp>
        <p:nvSpPr>
          <p:cNvPr id="27" name="Rounded Rectangle 26"/>
          <p:cNvSpPr/>
          <p:nvPr/>
        </p:nvSpPr>
        <p:spPr>
          <a:xfrm>
            <a:off x="7360920" y="2816352"/>
            <a:ext cx="196596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7525512" y="2962656"/>
            <a:ext cx="1636776" cy="274320"/>
          </a:xfrm>
          <a:prstGeom prst="rect">
            <a:avLst/>
          </a:prstGeom>
          <a:noFill/>
        </p:spPr>
        <p:txBody>
          <a:bodyPr wrap="none" lIns="36576" rIns="36576" tIns="36576" bIns="36576" anchor="t">
            <a:spAutoFit/>
          </a:bodyPr>
          <a:lstStyle/>
          <a:p>
            <a:pPr algn="l"/>
            <a:r>
              <a:rPr sz="1300" b="1">
                <a:solidFill>
                  <a:srgbClr val="14254A"/>
                </a:solidFill>
                <a:latin typeface="Aptos"/>
              </a:rPr>
              <a:t>Services</a:t>
            </a:r>
          </a:p>
        </p:txBody>
      </p:sp>
      <p:sp>
        <p:nvSpPr>
          <p:cNvPr id="29" name="TextBox 28"/>
          <p:cNvSpPr txBox="1"/>
          <p:nvPr/>
        </p:nvSpPr>
        <p:spPr>
          <a:xfrm>
            <a:off x="7525512" y="3291840"/>
            <a:ext cx="1636776" cy="256032"/>
          </a:xfrm>
          <a:prstGeom prst="rect">
            <a:avLst/>
          </a:prstGeom>
          <a:noFill/>
        </p:spPr>
        <p:txBody>
          <a:bodyPr wrap="none" lIns="36576" rIns="36576" tIns="36576" bIns="36576" anchor="t">
            <a:spAutoFit/>
          </a:bodyPr>
          <a:lstStyle/>
          <a:p>
            <a:pPr algn="l"/>
            <a:r>
              <a:rPr sz="800" b="0">
                <a:solidFill>
                  <a:srgbClr val="64708A"/>
                </a:solidFill>
                <a:latin typeface="Aptos"/>
              </a:rPr>
              <a:t>Validation · Business rules</a:t>
            </a:r>
          </a:p>
        </p:txBody>
      </p:sp>
      <p:sp>
        <p:nvSpPr>
          <p:cNvPr id="30" name="Rounded Rectangle 29"/>
          <p:cNvSpPr/>
          <p:nvPr/>
        </p:nvSpPr>
        <p:spPr>
          <a:xfrm>
            <a:off x="1783080" y="4096512"/>
            <a:ext cx="205740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1947672" y="4242816"/>
            <a:ext cx="1728216" cy="274320"/>
          </a:xfrm>
          <a:prstGeom prst="rect">
            <a:avLst/>
          </a:prstGeom>
          <a:noFill/>
        </p:spPr>
        <p:txBody>
          <a:bodyPr wrap="none" lIns="36576" rIns="36576" tIns="36576" bIns="36576" anchor="t">
            <a:spAutoFit/>
          </a:bodyPr>
          <a:lstStyle/>
          <a:p>
            <a:pPr algn="l"/>
            <a:r>
              <a:rPr sz="1300" b="1">
                <a:solidFill>
                  <a:srgbClr val="14254A"/>
                </a:solidFill>
                <a:latin typeface="Aptos"/>
              </a:rPr>
              <a:t>MongoDB Atlas</a:t>
            </a:r>
          </a:p>
        </p:txBody>
      </p:sp>
      <p:sp>
        <p:nvSpPr>
          <p:cNvPr id="32" name="TextBox 31"/>
          <p:cNvSpPr txBox="1"/>
          <p:nvPr/>
        </p:nvSpPr>
        <p:spPr>
          <a:xfrm>
            <a:off x="1947672" y="4572000"/>
            <a:ext cx="1728216" cy="256032"/>
          </a:xfrm>
          <a:prstGeom prst="rect">
            <a:avLst/>
          </a:prstGeom>
          <a:noFill/>
        </p:spPr>
        <p:txBody>
          <a:bodyPr wrap="none" lIns="36576" rIns="36576" tIns="36576" bIns="36576" anchor="t">
            <a:spAutoFit/>
          </a:bodyPr>
          <a:lstStyle/>
          <a:p>
            <a:pPr algn="l"/>
            <a:r>
              <a:rPr sz="800" b="0">
                <a:solidFill>
                  <a:srgbClr val="64708A"/>
                </a:solidFill>
                <a:latin typeface="Aptos"/>
              </a:rPr>
              <a:t>Document · Index · TLS</a:t>
            </a:r>
          </a:p>
        </p:txBody>
      </p:sp>
      <p:sp>
        <p:nvSpPr>
          <p:cNvPr id="33" name="Rounded Rectangle 32"/>
          <p:cNvSpPr/>
          <p:nvPr/>
        </p:nvSpPr>
        <p:spPr>
          <a:xfrm>
            <a:off x="4343400" y="4096512"/>
            <a:ext cx="205740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4507992" y="4242816"/>
            <a:ext cx="1728216" cy="274320"/>
          </a:xfrm>
          <a:prstGeom prst="rect">
            <a:avLst/>
          </a:prstGeom>
          <a:noFill/>
        </p:spPr>
        <p:txBody>
          <a:bodyPr wrap="none" lIns="36576" rIns="36576" tIns="36576" bIns="36576" anchor="t">
            <a:spAutoFit/>
          </a:bodyPr>
          <a:lstStyle/>
          <a:p>
            <a:pPr algn="l"/>
            <a:r>
              <a:rPr sz="1300" b="1">
                <a:solidFill>
                  <a:srgbClr val="14254A"/>
                </a:solidFill>
                <a:latin typeface="Aptos"/>
              </a:rPr>
              <a:t>GridFS</a:t>
            </a:r>
          </a:p>
        </p:txBody>
      </p:sp>
      <p:sp>
        <p:nvSpPr>
          <p:cNvPr id="35" name="TextBox 34"/>
          <p:cNvSpPr txBox="1"/>
          <p:nvPr/>
        </p:nvSpPr>
        <p:spPr>
          <a:xfrm>
            <a:off x="4507992" y="4572000"/>
            <a:ext cx="1728216" cy="256032"/>
          </a:xfrm>
          <a:prstGeom prst="rect">
            <a:avLst/>
          </a:prstGeom>
          <a:noFill/>
        </p:spPr>
        <p:txBody>
          <a:bodyPr wrap="none" lIns="36576" rIns="36576" tIns="36576" bIns="36576" anchor="t">
            <a:spAutoFit/>
          </a:bodyPr>
          <a:lstStyle/>
          <a:p>
            <a:pPr algn="l"/>
            <a:r>
              <a:rPr sz="800" b="0">
                <a:solidFill>
                  <a:srgbClr val="64708A"/>
                </a:solidFill>
                <a:latin typeface="Aptos"/>
              </a:rPr>
              <a:t>File ngoài webroot</a:t>
            </a:r>
          </a:p>
        </p:txBody>
      </p:sp>
      <p:sp>
        <p:nvSpPr>
          <p:cNvPr id="36" name="Rounded Rectangle 35"/>
          <p:cNvSpPr/>
          <p:nvPr/>
        </p:nvSpPr>
        <p:spPr>
          <a:xfrm>
            <a:off x="6903720" y="4096512"/>
            <a:ext cx="205740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068312" y="4242816"/>
            <a:ext cx="1728216" cy="274320"/>
          </a:xfrm>
          <a:prstGeom prst="rect">
            <a:avLst/>
          </a:prstGeom>
          <a:noFill/>
        </p:spPr>
        <p:txBody>
          <a:bodyPr wrap="none" lIns="36576" rIns="36576" tIns="36576" bIns="36576" anchor="t">
            <a:spAutoFit/>
          </a:bodyPr>
          <a:lstStyle/>
          <a:p>
            <a:pPr algn="l"/>
            <a:r>
              <a:rPr sz="1300" b="1">
                <a:solidFill>
                  <a:srgbClr val="14254A"/>
                </a:solidFill>
                <a:latin typeface="Aptos"/>
              </a:rPr>
              <a:t>OpenAI</a:t>
            </a:r>
          </a:p>
        </p:txBody>
      </p:sp>
      <p:sp>
        <p:nvSpPr>
          <p:cNvPr id="38" name="TextBox 37"/>
          <p:cNvSpPr txBox="1"/>
          <p:nvPr/>
        </p:nvSpPr>
        <p:spPr>
          <a:xfrm>
            <a:off x="7068312" y="4572000"/>
            <a:ext cx="1728216" cy="256032"/>
          </a:xfrm>
          <a:prstGeom prst="rect">
            <a:avLst/>
          </a:prstGeom>
          <a:noFill/>
        </p:spPr>
        <p:txBody>
          <a:bodyPr wrap="none" lIns="36576" rIns="36576" tIns="36576" bIns="36576" anchor="t">
            <a:spAutoFit/>
          </a:bodyPr>
          <a:lstStyle/>
          <a:p>
            <a:pPr algn="l"/>
            <a:r>
              <a:rPr sz="800" b="0">
                <a:solidFill>
                  <a:srgbClr val="64708A"/>
                </a:solidFill>
                <a:latin typeface="Aptos"/>
              </a:rPr>
              <a:t>Responses API · Draft</a:t>
            </a:r>
          </a:p>
        </p:txBody>
      </p:sp>
      <p:sp>
        <p:nvSpPr>
          <p:cNvPr id="39" name="Rounded Rectangle 38"/>
          <p:cNvSpPr/>
          <p:nvPr/>
        </p:nvSpPr>
        <p:spPr>
          <a:xfrm>
            <a:off x="9464040" y="4096512"/>
            <a:ext cx="2057400" cy="8686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9628632" y="4242816"/>
            <a:ext cx="1728216" cy="274320"/>
          </a:xfrm>
          <a:prstGeom prst="rect">
            <a:avLst/>
          </a:prstGeom>
          <a:noFill/>
        </p:spPr>
        <p:txBody>
          <a:bodyPr wrap="none" lIns="36576" rIns="36576" tIns="36576" bIns="36576" anchor="t">
            <a:spAutoFit/>
          </a:bodyPr>
          <a:lstStyle/>
          <a:p>
            <a:pPr algn="l"/>
            <a:r>
              <a:rPr sz="1300" b="1">
                <a:solidFill>
                  <a:srgbClr val="14254A"/>
                </a:solidFill>
                <a:latin typeface="Aptos"/>
              </a:rPr>
              <a:t>SMTP / VNPAY</a:t>
            </a:r>
          </a:p>
        </p:txBody>
      </p:sp>
      <p:sp>
        <p:nvSpPr>
          <p:cNvPr id="41" name="TextBox 40"/>
          <p:cNvSpPr txBox="1"/>
          <p:nvPr/>
        </p:nvSpPr>
        <p:spPr>
          <a:xfrm>
            <a:off x="9628632" y="4572000"/>
            <a:ext cx="1728216" cy="256032"/>
          </a:xfrm>
          <a:prstGeom prst="rect">
            <a:avLst/>
          </a:prstGeom>
          <a:noFill/>
        </p:spPr>
        <p:txBody>
          <a:bodyPr wrap="none" lIns="36576" rIns="36576" tIns="36576" bIns="36576" anchor="t">
            <a:spAutoFit/>
          </a:bodyPr>
          <a:lstStyle/>
          <a:p>
            <a:pPr algn="l"/>
            <a:r>
              <a:rPr sz="800" b="0">
                <a:solidFill>
                  <a:srgbClr val="64708A"/>
                </a:solidFill>
                <a:latin typeface="Aptos"/>
              </a:rPr>
              <a:t>OTP · Payment callback</a:t>
            </a:r>
          </a:p>
        </p:txBody>
      </p:sp>
      <p:sp>
        <p:nvSpPr>
          <p:cNvPr id="42" name="Right Arrow 41"/>
          <p:cNvSpPr/>
          <p:nvPr/>
        </p:nvSpPr>
        <p:spPr>
          <a:xfrm>
            <a:off x="2926080" y="2523744"/>
            <a:ext cx="384048"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ight Arrow 42"/>
          <p:cNvSpPr/>
          <p:nvPr/>
        </p:nvSpPr>
        <p:spPr>
          <a:xfrm>
            <a:off x="5623560" y="2523744"/>
            <a:ext cx="384048"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Right Arrow 43"/>
          <p:cNvSpPr/>
          <p:nvPr/>
        </p:nvSpPr>
        <p:spPr>
          <a:xfrm>
            <a:off x="8321040" y="2523744"/>
            <a:ext cx="384048"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Right Arrow 44"/>
          <p:cNvSpPr/>
          <p:nvPr/>
        </p:nvSpPr>
        <p:spPr>
          <a:xfrm>
            <a:off x="2743200" y="3794760"/>
            <a:ext cx="384048"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Right Arrow 45"/>
          <p:cNvSpPr/>
          <p:nvPr/>
        </p:nvSpPr>
        <p:spPr>
          <a:xfrm>
            <a:off x="5303520" y="3794760"/>
            <a:ext cx="384048"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Right Arrow 46"/>
          <p:cNvSpPr/>
          <p:nvPr/>
        </p:nvSpPr>
        <p:spPr>
          <a:xfrm>
            <a:off x="7863840" y="3794760"/>
            <a:ext cx="384048"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Right Arrow 47"/>
          <p:cNvSpPr/>
          <p:nvPr/>
        </p:nvSpPr>
        <p:spPr>
          <a:xfrm>
            <a:off x="10424160" y="3794760"/>
            <a:ext cx="384048"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Rounded Rectangle 48"/>
          <p:cNvSpPr/>
          <p:nvPr/>
        </p:nvSpPr>
        <p:spPr>
          <a:xfrm>
            <a:off x="594360" y="5349240"/>
            <a:ext cx="11018520" cy="621792"/>
          </a:xfrm>
          <a:prstGeom prst="roundRect">
            <a:avLst/>
          </a:prstGeom>
          <a:solidFill>
            <a:srgbClr val="14254A"/>
          </a:solidFill>
          <a:ln>
            <a:solidFill>
              <a:srgbClr val="142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841248" y="5532120"/>
            <a:ext cx="10515600" cy="256032"/>
          </a:xfrm>
          <a:prstGeom prst="rect">
            <a:avLst/>
          </a:prstGeom>
          <a:noFill/>
        </p:spPr>
        <p:txBody>
          <a:bodyPr wrap="none" lIns="36576" rIns="36576" tIns="36576" bIns="36576" anchor="t">
            <a:spAutoFit/>
          </a:bodyPr>
          <a:lstStyle/>
          <a:p>
            <a:pPr algn="ctr"/>
            <a:r>
              <a:rPr sz="1300" b="1">
                <a:solidFill>
                  <a:srgbClr val="FFFFFF"/>
                </a:solidFill>
                <a:latin typeface="Aptos"/>
              </a:rPr>
              <a:t>HTTPS  →  Validation  →  Authorization  →  Typed MongoDB Filter  →  DTO Response</a:t>
            </a:r>
          </a:p>
        </p:txBody>
      </p:sp>
      <p:cxnSp>
        <p:nvCxnSpPr>
          <p:cNvPr id="51" name="Connector 50"/>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52" name="TextBox 51"/>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clrMapOvr>
    <a:masterClrMapping/>
  </p:clrMapOvr>
  <p:transition spd="med">
    <p:fade/>
  </p:transition>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04 · CÔNG NGHỆ</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Lựa chọn phù hợp với dự án cá nhân</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Ít tầng phụ thuộc, vẫn giữ kiểu dữ liệu và khả năng triển khai.</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05</a:t>
            </a:r>
          </a:p>
        </p:txBody>
      </p:sp>
      <p:sp>
        <p:nvSpPr>
          <p:cNvPr id="6" name="Rounded Rectangle 5"/>
          <p:cNvSpPr/>
          <p:nvPr/>
        </p:nvSpPr>
        <p:spPr>
          <a:xfrm>
            <a:off x="594360" y="1600200"/>
            <a:ext cx="3429000" cy="1691640"/>
          </a:xfrm>
          <a:prstGeom prst="roundRect">
            <a:avLst/>
          </a:prstGeom>
          <a:solidFill>
            <a:srgbClr val="FFFFFF"/>
          </a:solidFill>
          <a:ln>
            <a:solidFill>
              <a:srgbClr val="DFE5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795528" y="1810512"/>
            <a:ext cx="512064" cy="512064"/>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795528" y="1911095"/>
            <a:ext cx="512064" cy="228600"/>
          </a:xfrm>
          <a:prstGeom prst="rect">
            <a:avLst/>
          </a:prstGeom>
          <a:noFill/>
        </p:spPr>
        <p:txBody>
          <a:bodyPr wrap="none" lIns="36576" rIns="36576" tIns="36576" bIns="36576" anchor="t">
            <a:spAutoFit/>
          </a:bodyPr>
          <a:lstStyle/>
          <a:p>
            <a:pPr algn="ctr"/>
            <a:r>
              <a:rPr sz="1200" b="1">
                <a:solidFill>
                  <a:srgbClr val="FFFFFF"/>
                </a:solidFill>
                <a:latin typeface="Aptos"/>
              </a:rPr>
              <a:t>1</a:t>
            </a:r>
          </a:p>
        </p:txBody>
      </p:sp>
      <p:sp>
        <p:nvSpPr>
          <p:cNvPr id="9" name="TextBox 8"/>
          <p:cNvSpPr txBox="1"/>
          <p:nvPr/>
        </p:nvSpPr>
        <p:spPr>
          <a:xfrm>
            <a:off x="1463040" y="1819656"/>
            <a:ext cx="2331720" cy="320040"/>
          </a:xfrm>
          <a:prstGeom prst="rect">
            <a:avLst/>
          </a:prstGeom>
          <a:noFill/>
        </p:spPr>
        <p:txBody>
          <a:bodyPr wrap="none" lIns="36576" rIns="36576" tIns="36576" bIns="36576" anchor="t">
            <a:spAutoFit/>
          </a:bodyPr>
          <a:lstStyle/>
          <a:p>
            <a:pPr algn="l"/>
            <a:r>
              <a:rPr sz="1500" b="1">
                <a:solidFill>
                  <a:srgbClr val="14254A"/>
                </a:solidFill>
                <a:latin typeface="Aptos"/>
              </a:rPr>
              <a:t>React + TypeScript</a:t>
            </a:r>
          </a:p>
        </p:txBody>
      </p:sp>
      <p:sp>
        <p:nvSpPr>
          <p:cNvPr id="10" name="TextBox 9"/>
          <p:cNvSpPr txBox="1"/>
          <p:nvPr/>
        </p:nvSpPr>
        <p:spPr>
          <a:xfrm>
            <a:off x="822960" y="2441448"/>
            <a:ext cx="2606040" cy="457200"/>
          </a:xfrm>
          <a:prstGeom prst="rect">
            <a:avLst/>
          </a:prstGeom>
          <a:noFill/>
        </p:spPr>
        <p:txBody>
          <a:bodyPr wrap="none" lIns="36576" rIns="36576" tIns="36576" bIns="36576" anchor="t">
            <a:spAutoFit/>
          </a:bodyPr>
          <a:lstStyle/>
          <a:p>
            <a:pPr algn="l"/>
            <a:r>
              <a:rPr sz="1000" b="0">
                <a:solidFill>
                  <a:srgbClr val="64708A"/>
                </a:solidFill>
                <a:latin typeface="Aptos"/>
              </a:rPr>
              <a:t>UI SPA, kiểm tra kiểu khi build</a:t>
            </a:r>
          </a:p>
        </p:txBody>
      </p:sp>
      <p:sp>
        <p:nvSpPr>
          <p:cNvPr id="11" name="Rounded Rectangle 10"/>
          <p:cNvSpPr/>
          <p:nvPr/>
        </p:nvSpPr>
        <p:spPr>
          <a:xfrm>
            <a:off x="2990088" y="2770632"/>
            <a:ext cx="804672" cy="310896"/>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063240" y="2820924"/>
            <a:ext cx="658368" cy="201168"/>
          </a:xfrm>
          <a:prstGeom prst="rect">
            <a:avLst/>
          </a:prstGeom>
          <a:noFill/>
        </p:spPr>
        <p:txBody>
          <a:bodyPr wrap="none" lIns="36576" rIns="36576" tIns="36576" bIns="36576" anchor="t">
            <a:spAutoFit/>
          </a:bodyPr>
          <a:lstStyle/>
          <a:p>
            <a:pPr algn="ctr"/>
            <a:r>
              <a:rPr sz="900" b="1">
                <a:solidFill>
                  <a:srgbClr val="2F5BEA"/>
                </a:solidFill>
                <a:latin typeface="Aptos"/>
              </a:rPr>
              <a:t>19 / 7</a:t>
            </a:r>
          </a:p>
        </p:txBody>
      </p:sp>
      <p:sp>
        <p:nvSpPr>
          <p:cNvPr id="13" name="Rounded Rectangle 12"/>
          <p:cNvSpPr/>
          <p:nvPr/>
        </p:nvSpPr>
        <p:spPr>
          <a:xfrm>
            <a:off x="4343400" y="1600200"/>
            <a:ext cx="3429000" cy="1691640"/>
          </a:xfrm>
          <a:prstGeom prst="roundRect">
            <a:avLst/>
          </a:prstGeom>
          <a:solidFill>
            <a:srgbClr val="FFFFFF"/>
          </a:solidFill>
          <a:ln>
            <a:solidFill>
              <a:srgbClr val="DFE5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4544568" y="1810512"/>
            <a:ext cx="512064" cy="512064"/>
          </a:xfrm>
          <a:prstGeom prst="roundRect">
            <a:avLst/>
          </a:prstGeom>
          <a:solidFill>
            <a:srgbClr val="3EC6E0"/>
          </a:solidFill>
          <a:ln>
            <a:solidFill>
              <a:srgbClr val="3EC6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44568" y="1911095"/>
            <a:ext cx="512064" cy="228600"/>
          </a:xfrm>
          <a:prstGeom prst="rect">
            <a:avLst/>
          </a:prstGeom>
          <a:noFill/>
        </p:spPr>
        <p:txBody>
          <a:bodyPr wrap="none" lIns="36576" rIns="36576" tIns="36576" bIns="36576" anchor="t">
            <a:spAutoFit/>
          </a:bodyPr>
          <a:lstStyle/>
          <a:p>
            <a:pPr algn="ctr"/>
            <a:r>
              <a:rPr sz="1200" b="1">
                <a:solidFill>
                  <a:srgbClr val="FFFFFF"/>
                </a:solidFill>
                <a:latin typeface="Aptos"/>
              </a:rPr>
              <a:t>2</a:t>
            </a:r>
          </a:p>
        </p:txBody>
      </p:sp>
      <p:sp>
        <p:nvSpPr>
          <p:cNvPr id="16" name="TextBox 15"/>
          <p:cNvSpPr txBox="1"/>
          <p:nvPr/>
        </p:nvSpPr>
        <p:spPr>
          <a:xfrm>
            <a:off x="5212080" y="1819656"/>
            <a:ext cx="2331720" cy="320040"/>
          </a:xfrm>
          <a:prstGeom prst="rect">
            <a:avLst/>
          </a:prstGeom>
          <a:noFill/>
        </p:spPr>
        <p:txBody>
          <a:bodyPr wrap="none" lIns="36576" rIns="36576" tIns="36576" bIns="36576" anchor="t">
            <a:spAutoFit/>
          </a:bodyPr>
          <a:lstStyle/>
          <a:p>
            <a:pPr algn="l"/>
            <a:r>
              <a:rPr sz="1500" b="1">
                <a:solidFill>
                  <a:srgbClr val="14254A"/>
                </a:solidFill>
                <a:latin typeface="Aptos"/>
              </a:rPr>
              <a:t>ASP.NET Core</a:t>
            </a:r>
          </a:p>
        </p:txBody>
      </p:sp>
      <p:sp>
        <p:nvSpPr>
          <p:cNvPr id="17" name="TextBox 16"/>
          <p:cNvSpPr txBox="1"/>
          <p:nvPr/>
        </p:nvSpPr>
        <p:spPr>
          <a:xfrm>
            <a:off x="4572000" y="2441448"/>
            <a:ext cx="2606040" cy="457200"/>
          </a:xfrm>
          <a:prstGeom prst="rect">
            <a:avLst/>
          </a:prstGeom>
          <a:noFill/>
        </p:spPr>
        <p:txBody>
          <a:bodyPr wrap="none" lIns="36576" rIns="36576" tIns="36576" bIns="36576" anchor="t">
            <a:spAutoFit/>
          </a:bodyPr>
          <a:lstStyle/>
          <a:p>
            <a:pPr algn="l"/>
            <a:r>
              <a:rPr sz="1000" b="0">
                <a:solidFill>
                  <a:srgbClr val="64708A"/>
                </a:solidFill>
                <a:latin typeface="Aptos"/>
              </a:rPr>
              <a:t>API, DI, middleware, policy</a:t>
            </a:r>
          </a:p>
        </p:txBody>
      </p:sp>
      <p:sp>
        <p:nvSpPr>
          <p:cNvPr id="18" name="Rounded Rectangle 17"/>
          <p:cNvSpPr/>
          <p:nvPr/>
        </p:nvSpPr>
        <p:spPr>
          <a:xfrm>
            <a:off x="6739128" y="2770632"/>
            <a:ext cx="804672" cy="310896"/>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812280" y="2820924"/>
            <a:ext cx="658368" cy="201168"/>
          </a:xfrm>
          <a:prstGeom prst="rect">
            <a:avLst/>
          </a:prstGeom>
          <a:noFill/>
        </p:spPr>
        <p:txBody>
          <a:bodyPr wrap="none" lIns="36576" rIns="36576" tIns="36576" bIns="36576" anchor="t">
            <a:spAutoFit/>
          </a:bodyPr>
          <a:lstStyle/>
          <a:p>
            <a:pPr algn="ctr"/>
            <a:r>
              <a:rPr sz="900" b="1">
                <a:solidFill>
                  <a:srgbClr val="2F5BEA"/>
                </a:solidFill>
                <a:latin typeface="Aptos"/>
              </a:rPr>
              <a:t>.NET 10</a:t>
            </a:r>
          </a:p>
        </p:txBody>
      </p:sp>
      <p:sp>
        <p:nvSpPr>
          <p:cNvPr id="20" name="Rounded Rectangle 19"/>
          <p:cNvSpPr/>
          <p:nvPr/>
        </p:nvSpPr>
        <p:spPr>
          <a:xfrm>
            <a:off x="8092440" y="1600200"/>
            <a:ext cx="3429000" cy="1691640"/>
          </a:xfrm>
          <a:prstGeom prst="roundRect">
            <a:avLst/>
          </a:prstGeom>
          <a:solidFill>
            <a:srgbClr val="FFFFFF"/>
          </a:solidFill>
          <a:ln>
            <a:solidFill>
              <a:srgbClr val="DFE5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8293608" y="1810512"/>
            <a:ext cx="512064" cy="512064"/>
          </a:xfrm>
          <a:prstGeom prst="roundRect">
            <a:avLst/>
          </a:prstGeom>
          <a:solidFill>
            <a:srgbClr val="1F9D73"/>
          </a:solidFill>
          <a:ln>
            <a:solidFill>
              <a:srgbClr val="1F9D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293608" y="1911095"/>
            <a:ext cx="512064" cy="228600"/>
          </a:xfrm>
          <a:prstGeom prst="rect">
            <a:avLst/>
          </a:prstGeom>
          <a:noFill/>
        </p:spPr>
        <p:txBody>
          <a:bodyPr wrap="none" lIns="36576" rIns="36576" tIns="36576" bIns="36576" anchor="t">
            <a:spAutoFit/>
          </a:bodyPr>
          <a:lstStyle/>
          <a:p>
            <a:pPr algn="ctr"/>
            <a:r>
              <a:rPr sz="1200" b="1">
                <a:solidFill>
                  <a:srgbClr val="FFFFFF"/>
                </a:solidFill>
                <a:latin typeface="Aptos"/>
              </a:rPr>
              <a:t>3</a:t>
            </a:r>
          </a:p>
        </p:txBody>
      </p:sp>
      <p:sp>
        <p:nvSpPr>
          <p:cNvPr id="23" name="TextBox 22"/>
          <p:cNvSpPr txBox="1"/>
          <p:nvPr/>
        </p:nvSpPr>
        <p:spPr>
          <a:xfrm>
            <a:off x="8961119" y="1819656"/>
            <a:ext cx="2331720" cy="320040"/>
          </a:xfrm>
          <a:prstGeom prst="rect">
            <a:avLst/>
          </a:prstGeom>
          <a:noFill/>
        </p:spPr>
        <p:txBody>
          <a:bodyPr wrap="none" lIns="36576" rIns="36576" tIns="36576" bIns="36576" anchor="t">
            <a:spAutoFit/>
          </a:bodyPr>
          <a:lstStyle/>
          <a:p>
            <a:pPr algn="l"/>
            <a:r>
              <a:rPr sz="1500" b="1">
                <a:solidFill>
                  <a:srgbClr val="14254A"/>
                </a:solidFill>
                <a:latin typeface="Aptos"/>
              </a:rPr>
              <a:t>MongoDB + GridFS</a:t>
            </a:r>
          </a:p>
        </p:txBody>
      </p:sp>
      <p:sp>
        <p:nvSpPr>
          <p:cNvPr id="24" name="TextBox 23"/>
          <p:cNvSpPr txBox="1"/>
          <p:nvPr/>
        </p:nvSpPr>
        <p:spPr>
          <a:xfrm>
            <a:off x="8321040" y="2441448"/>
            <a:ext cx="2606040" cy="457200"/>
          </a:xfrm>
          <a:prstGeom prst="rect">
            <a:avLst/>
          </a:prstGeom>
          <a:noFill/>
        </p:spPr>
        <p:txBody>
          <a:bodyPr wrap="none" lIns="36576" rIns="36576" tIns="36576" bIns="36576" anchor="t">
            <a:spAutoFit/>
          </a:bodyPr>
          <a:lstStyle/>
          <a:p>
            <a:pPr algn="l"/>
            <a:r>
              <a:rPr sz="1000" b="0">
                <a:solidFill>
                  <a:srgbClr val="64708A"/>
                </a:solidFill>
                <a:latin typeface="Aptos"/>
              </a:rPr>
              <a:t>Dữ liệu nghiệp vụ và file</a:t>
            </a:r>
          </a:p>
        </p:txBody>
      </p:sp>
      <p:sp>
        <p:nvSpPr>
          <p:cNvPr id="25" name="Rounded Rectangle 24"/>
          <p:cNvSpPr/>
          <p:nvPr/>
        </p:nvSpPr>
        <p:spPr>
          <a:xfrm>
            <a:off x="10488167" y="2770632"/>
            <a:ext cx="804672" cy="310896"/>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0561319" y="2820924"/>
            <a:ext cx="658368" cy="201168"/>
          </a:xfrm>
          <a:prstGeom prst="rect">
            <a:avLst/>
          </a:prstGeom>
          <a:noFill/>
        </p:spPr>
        <p:txBody>
          <a:bodyPr wrap="none" lIns="36576" rIns="36576" tIns="36576" bIns="36576" anchor="t">
            <a:spAutoFit/>
          </a:bodyPr>
          <a:lstStyle/>
          <a:p>
            <a:pPr algn="ctr"/>
            <a:r>
              <a:rPr sz="900" b="1">
                <a:solidFill>
                  <a:srgbClr val="2F5BEA"/>
                </a:solidFill>
                <a:latin typeface="Aptos"/>
              </a:rPr>
              <a:t>Driver 3.12</a:t>
            </a:r>
          </a:p>
        </p:txBody>
      </p:sp>
      <p:sp>
        <p:nvSpPr>
          <p:cNvPr id="27" name="Rounded Rectangle 26"/>
          <p:cNvSpPr/>
          <p:nvPr/>
        </p:nvSpPr>
        <p:spPr>
          <a:xfrm>
            <a:off x="594360" y="3630168"/>
            <a:ext cx="3429000" cy="1691640"/>
          </a:xfrm>
          <a:prstGeom prst="roundRect">
            <a:avLst/>
          </a:prstGeom>
          <a:solidFill>
            <a:srgbClr val="FFFFFF"/>
          </a:solidFill>
          <a:ln>
            <a:solidFill>
              <a:srgbClr val="DFE5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Rounded Rectangle 27"/>
          <p:cNvSpPr/>
          <p:nvPr/>
        </p:nvSpPr>
        <p:spPr>
          <a:xfrm>
            <a:off x="795528" y="3840480"/>
            <a:ext cx="512064" cy="512064"/>
          </a:xfrm>
          <a:prstGeom prst="round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95528" y="3941064"/>
            <a:ext cx="512064" cy="228600"/>
          </a:xfrm>
          <a:prstGeom prst="rect">
            <a:avLst/>
          </a:prstGeom>
          <a:noFill/>
        </p:spPr>
        <p:txBody>
          <a:bodyPr wrap="none" lIns="36576" rIns="36576" tIns="36576" bIns="36576" anchor="t">
            <a:spAutoFit/>
          </a:bodyPr>
          <a:lstStyle/>
          <a:p>
            <a:pPr algn="ctr"/>
            <a:r>
              <a:rPr sz="1200" b="1">
                <a:solidFill>
                  <a:srgbClr val="FFFFFF"/>
                </a:solidFill>
                <a:latin typeface="Aptos"/>
              </a:rPr>
              <a:t>4</a:t>
            </a:r>
          </a:p>
        </p:txBody>
      </p:sp>
      <p:sp>
        <p:nvSpPr>
          <p:cNvPr id="30" name="TextBox 29"/>
          <p:cNvSpPr txBox="1"/>
          <p:nvPr/>
        </p:nvSpPr>
        <p:spPr>
          <a:xfrm>
            <a:off x="1463040" y="3849624"/>
            <a:ext cx="2331720" cy="320040"/>
          </a:xfrm>
          <a:prstGeom prst="rect">
            <a:avLst/>
          </a:prstGeom>
          <a:noFill/>
        </p:spPr>
        <p:txBody>
          <a:bodyPr wrap="none" lIns="36576" rIns="36576" tIns="36576" bIns="36576" anchor="t">
            <a:spAutoFit/>
          </a:bodyPr>
          <a:lstStyle/>
          <a:p>
            <a:pPr algn="l"/>
            <a:r>
              <a:rPr sz="1500" b="1">
                <a:solidFill>
                  <a:srgbClr val="14254A"/>
                </a:solidFill>
                <a:latin typeface="Aptos"/>
              </a:rPr>
              <a:t>OpenAI Responses</a:t>
            </a:r>
          </a:p>
        </p:txBody>
      </p:sp>
      <p:sp>
        <p:nvSpPr>
          <p:cNvPr id="31" name="TextBox 30"/>
          <p:cNvSpPr txBox="1"/>
          <p:nvPr/>
        </p:nvSpPr>
        <p:spPr>
          <a:xfrm>
            <a:off x="822960" y="4471416"/>
            <a:ext cx="2606040" cy="457200"/>
          </a:xfrm>
          <a:prstGeom prst="rect">
            <a:avLst/>
          </a:prstGeom>
          <a:noFill/>
        </p:spPr>
        <p:txBody>
          <a:bodyPr wrap="none" lIns="36576" rIns="36576" tIns="36576" bIns="36576" anchor="t">
            <a:spAutoFit/>
          </a:bodyPr>
          <a:lstStyle/>
          <a:p>
            <a:pPr algn="l"/>
            <a:r>
              <a:rPr sz="1000" b="0">
                <a:solidFill>
                  <a:srgbClr val="64708A"/>
                </a:solidFill>
                <a:latin typeface="Aptos"/>
              </a:rPr>
              <a:t>Structured Outputs cho AI nháp</a:t>
            </a:r>
          </a:p>
        </p:txBody>
      </p:sp>
      <p:sp>
        <p:nvSpPr>
          <p:cNvPr id="32" name="Rounded Rectangle 31"/>
          <p:cNvSpPr/>
          <p:nvPr/>
        </p:nvSpPr>
        <p:spPr>
          <a:xfrm>
            <a:off x="2990088" y="4800600"/>
            <a:ext cx="804672" cy="310896"/>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3063240" y="4850892"/>
            <a:ext cx="658368" cy="201168"/>
          </a:xfrm>
          <a:prstGeom prst="rect">
            <a:avLst/>
          </a:prstGeom>
          <a:noFill/>
        </p:spPr>
        <p:txBody>
          <a:bodyPr wrap="none" lIns="36576" rIns="36576" tIns="36576" bIns="36576" anchor="t">
            <a:spAutoFit/>
          </a:bodyPr>
          <a:lstStyle/>
          <a:p>
            <a:pPr algn="ctr"/>
            <a:r>
              <a:rPr sz="900" b="1">
                <a:solidFill>
                  <a:srgbClr val="2F5BEA"/>
                </a:solidFill>
                <a:latin typeface="Aptos"/>
              </a:rPr>
              <a:t>gpt-4.1-mini</a:t>
            </a:r>
          </a:p>
        </p:txBody>
      </p:sp>
      <p:sp>
        <p:nvSpPr>
          <p:cNvPr id="34" name="Rounded Rectangle 33"/>
          <p:cNvSpPr/>
          <p:nvPr/>
        </p:nvSpPr>
        <p:spPr>
          <a:xfrm>
            <a:off x="4343400" y="3630168"/>
            <a:ext cx="3429000" cy="1691640"/>
          </a:xfrm>
          <a:prstGeom prst="roundRect">
            <a:avLst/>
          </a:prstGeom>
          <a:solidFill>
            <a:srgbClr val="FFFFFF"/>
          </a:solidFill>
          <a:ln>
            <a:solidFill>
              <a:srgbClr val="DFE5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Rounded Rectangle 34"/>
          <p:cNvSpPr/>
          <p:nvPr/>
        </p:nvSpPr>
        <p:spPr>
          <a:xfrm>
            <a:off x="4544568" y="3840480"/>
            <a:ext cx="512064" cy="512064"/>
          </a:xfrm>
          <a:prstGeom prst="roundRect">
            <a:avLst/>
          </a:prstGeom>
          <a:solidFill>
            <a:srgbClr val="D84A5B"/>
          </a:solidFill>
          <a:ln>
            <a:solidFill>
              <a:srgbClr val="D84A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544568" y="3941064"/>
            <a:ext cx="512064" cy="228600"/>
          </a:xfrm>
          <a:prstGeom prst="rect">
            <a:avLst/>
          </a:prstGeom>
          <a:noFill/>
        </p:spPr>
        <p:txBody>
          <a:bodyPr wrap="none" lIns="36576" rIns="36576" tIns="36576" bIns="36576" anchor="t">
            <a:spAutoFit/>
          </a:bodyPr>
          <a:lstStyle/>
          <a:p>
            <a:pPr algn="ctr"/>
            <a:r>
              <a:rPr sz="1200" b="1">
                <a:solidFill>
                  <a:srgbClr val="FFFFFF"/>
                </a:solidFill>
                <a:latin typeface="Aptos"/>
              </a:rPr>
              <a:t>5</a:t>
            </a:r>
          </a:p>
        </p:txBody>
      </p:sp>
      <p:sp>
        <p:nvSpPr>
          <p:cNvPr id="37" name="TextBox 36"/>
          <p:cNvSpPr txBox="1"/>
          <p:nvPr/>
        </p:nvSpPr>
        <p:spPr>
          <a:xfrm>
            <a:off x="5212080" y="3849624"/>
            <a:ext cx="2331720" cy="320040"/>
          </a:xfrm>
          <a:prstGeom prst="rect">
            <a:avLst/>
          </a:prstGeom>
          <a:noFill/>
        </p:spPr>
        <p:txBody>
          <a:bodyPr wrap="none" lIns="36576" rIns="36576" tIns="36576" bIns="36576" anchor="t">
            <a:spAutoFit/>
          </a:bodyPr>
          <a:lstStyle/>
          <a:p>
            <a:pPr algn="l"/>
            <a:r>
              <a:rPr sz="1500" b="1">
                <a:solidFill>
                  <a:srgbClr val="14254A"/>
                </a:solidFill>
                <a:latin typeface="Aptos"/>
              </a:rPr>
              <a:t>Playwright + Python</a:t>
            </a:r>
          </a:p>
        </p:txBody>
      </p:sp>
      <p:sp>
        <p:nvSpPr>
          <p:cNvPr id="38" name="TextBox 37"/>
          <p:cNvSpPr txBox="1"/>
          <p:nvPr/>
        </p:nvSpPr>
        <p:spPr>
          <a:xfrm>
            <a:off x="4572000" y="4471416"/>
            <a:ext cx="2606040" cy="457200"/>
          </a:xfrm>
          <a:prstGeom prst="rect">
            <a:avLst/>
          </a:prstGeom>
          <a:noFill/>
        </p:spPr>
        <p:txBody>
          <a:bodyPr wrap="none" lIns="36576" rIns="36576" tIns="36576" bIns="36576" anchor="t">
            <a:spAutoFit/>
          </a:bodyPr>
          <a:lstStyle/>
          <a:p>
            <a:pPr algn="l"/>
            <a:r>
              <a:rPr sz="1000" b="0">
                <a:solidFill>
                  <a:srgbClr val="64708A"/>
                </a:solidFill>
                <a:latin typeface="Aptos"/>
              </a:rPr>
              <a:t>E2E và integration thực</a:t>
            </a:r>
          </a:p>
        </p:txBody>
      </p:sp>
      <p:sp>
        <p:nvSpPr>
          <p:cNvPr id="39" name="Rounded Rectangle 38"/>
          <p:cNvSpPr/>
          <p:nvPr/>
        </p:nvSpPr>
        <p:spPr>
          <a:xfrm>
            <a:off x="6739128" y="4800600"/>
            <a:ext cx="804672" cy="310896"/>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812280" y="4850892"/>
            <a:ext cx="658368" cy="201168"/>
          </a:xfrm>
          <a:prstGeom prst="rect">
            <a:avLst/>
          </a:prstGeom>
          <a:noFill/>
        </p:spPr>
        <p:txBody>
          <a:bodyPr wrap="none" lIns="36576" rIns="36576" tIns="36576" bIns="36576" anchor="t">
            <a:spAutoFit/>
          </a:bodyPr>
          <a:lstStyle/>
          <a:p>
            <a:pPr algn="ctr"/>
            <a:r>
              <a:rPr sz="900" b="1">
                <a:solidFill>
                  <a:srgbClr val="2F5BEA"/>
                </a:solidFill>
                <a:latin typeface="Aptos"/>
              </a:rPr>
              <a:t>20 + 61 nhóm</a:t>
            </a:r>
          </a:p>
        </p:txBody>
      </p:sp>
      <p:sp>
        <p:nvSpPr>
          <p:cNvPr id="41" name="Rounded Rectangle 40"/>
          <p:cNvSpPr/>
          <p:nvPr/>
        </p:nvSpPr>
        <p:spPr>
          <a:xfrm>
            <a:off x="8092440" y="3630168"/>
            <a:ext cx="3429000" cy="1691640"/>
          </a:xfrm>
          <a:prstGeom prst="roundRect">
            <a:avLst/>
          </a:prstGeom>
          <a:solidFill>
            <a:srgbClr val="FFFFFF"/>
          </a:solidFill>
          <a:ln>
            <a:solidFill>
              <a:srgbClr val="DFE5F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8293608" y="3840480"/>
            <a:ext cx="512064" cy="512064"/>
          </a:xfrm>
          <a:prstGeom prst="roundRect">
            <a:avLst/>
          </a:prstGeom>
          <a:solidFill>
            <a:srgbClr val="14254A"/>
          </a:solidFill>
          <a:ln>
            <a:solidFill>
              <a:srgbClr val="142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93608" y="3941064"/>
            <a:ext cx="512064" cy="228600"/>
          </a:xfrm>
          <a:prstGeom prst="rect">
            <a:avLst/>
          </a:prstGeom>
          <a:noFill/>
        </p:spPr>
        <p:txBody>
          <a:bodyPr wrap="none" lIns="36576" rIns="36576" tIns="36576" bIns="36576" anchor="t">
            <a:spAutoFit/>
          </a:bodyPr>
          <a:lstStyle/>
          <a:p>
            <a:pPr algn="ctr"/>
            <a:r>
              <a:rPr sz="1200" b="1">
                <a:solidFill>
                  <a:srgbClr val="FFFFFF"/>
                </a:solidFill>
                <a:latin typeface="Aptos"/>
              </a:rPr>
              <a:t>6</a:t>
            </a:r>
          </a:p>
        </p:txBody>
      </p:sp>
      <p:sp>
        <p:nvSpPr>
          <p:cNvPr id="44" name="TextBox 43"/>
          <p:cNvSpPr txBox="1"/>
          <p:nvPr/>
        </p:nvSpPr>
        <p:spPr>
          <a:xfrm>
            <a:off x="8961119" y="3849624"/>
            <a:ext cx="2331720" cy="320040"/>
          </a:xfrm>
          <a:prstGeom prst="rect">
            <a:avLst/>
          </a:prstGeom>
          <a:noFill/>
        </p:spPr>
        <p:txBody>
          <a:bodyPr wrap="none" lIns="36576" rIns="36576" tIns="36576" bIns="36576" anchor="t">
            <a:spAutoFit/>
          </a:bodyPr>
          <a:lstStyle/>
          <a:p>
            <a:pPr algn="l"/>
            <a:r>
              <a:rPr sz="1500" b="1">
                <a:solidFill>
                  <a:srgbClr val="14254A"/>
                </a:solidFill>
                <a:latin typeface="Aptos"/>
              </a:rPr>
              <a:t>Docker + Render</a:t>
            </a:r>
          </a:p>
        </p:txBody>
      </p:sp>
      <p:sp>
        <p:nvSpPr>
          <p:cNvPr id="45" name="TextBox 44"/>
          <p:cNvSpPr txBox="1"/>
          <p:nvPr/>
        </p:nvSpPr>
        <p:spPr>
          <a:xfrm>
            <a:off x="8321040" y="4471416"/>
            <a:ext cx="2606040" cy="457200"/>
          </a:xfrm>
          <a:prstGeom prst="rect">
            <a:avLst/>
          </a:prstGeom>
          <a:noFill/>
        </p:spPr>
        <p:txBody>
          <a:bodyPr wrap="none" lIns="36576" rIns="36576" tIns="36576" bIns="36576" anchor="t">
            <a:spAutoFit/>
          </a:bodyPr>
          <a:lstStyle/>
          <a:p>
            <a:pPr algn="l"/>
            <a:r>
              <a:rPr sz="1000" b="0">
                <a:solidFill>
                  <a:srgbClr val="64708A"/>
                </a:solidFill>
                <a:latin typeface="Aptos"/>
              </a:rPr>
              <a:t>Đóng gói và triển khai HTTPS</a:t>
            </a:r>
          </a:p>
        </p:txBody>
      </p:sp>
      <p:sp>
        <p:nvSpPr>
          <p:cNvPr id="46" name="Rounded Rectangle 45"/>
          <p:cNvSpPr/>
          <p:nvPr/>
        </p:nvSpPr>
        <p:spPr>
          <a:xfrm>
            <a:off x="10488167" y="4800600"/>
            <a:ext cx="804672" cy="310896"/>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10561319" y="4850892"/>
            <a:ext cx="658368" cy="201168"/>
          </a:xfrm>
          <a:prstGeom prst="rect">
            <a:avLst/>
          </a:prstGeom>
          <a:noFill/>
        </p:spPr>
        <p:txBody>
          <a:bodyPr wrap="none" lIns="36576" rIns="36576" tIns="36576" bIns="36576" anchor="t">
            <a:spAutoFit/>
          </a:bodyPr>
          <a:lstStyle/>
          <a:p>
            <a:pPr algn="ctr"/>
            <a:r>
              <a:rPr sz="900" b="1">
                <a:solidFill>
                  <a:srgbClr val="2F5BEA"/>
                </a:solidFill>
                <a:latin typeface="Aptos"/>
              </a:rPr>
              <a:t>1 lệnh run</a:t>
            </a:r>
          </a:p>
        </p:txBody>
      </p:sp>
      <p:cxnSp>
        <p:nvCxnSpPr>
          <p:cNvPr id="48" name="Connector 47"/>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49" name="TextBox 48"/>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clrMapOvr>
    <a:masterClrMapping/>
  </p:clrMapOvr>
  <p:transition spd="med">
    <p:push dir="l"/>
  </p:transition>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05 · NGHIỆP VỤ</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Các phân hệ đã triển khai</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Từ học vụ nền tảng đến học liệu, đánh giá và hỗ trợ.</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06</a:t>
            </a:r>
          </a:p>
        </p:txBody>
      </p:sp>
      <p:sp>
        <p:nvSpPr>
          <p:cNvPr id="6" name="Rounded Rectangle 5"/>
          <p:cNvSpPr/>
          <p:nvPr/>
        </p:nvSpPr>
        <p:spPr>
          <a:xfrm>
            <a:off x="640080" y="1581912"/>
            <a:ext cx="5230368" cy="1078992"/>
          </a:xfrm>
          <a:prstGeom prst="roundRect">
            <a:avLst/>
          </a:prstGeom>
          <a:solidFill>
            <a:srgbClr val="FFFFFF"/>
          </a:solidFill>
          <a:ln>
            <a:solidFill>
              <a:srgbClr val="E0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41247" y="1801368"/>
            <a:ext cx="621792" cy="621792"/>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947672"/>
            <a:ext cx="621792" cy="201168"/>
          </a:xfrm>
          <a:prstGeom prst="rect">
            <a:avLst/>
          </a:prstGeom>
          <a:noFill/>
        </p:spPr>
        <p:txBody>
          <a:bodyPr wrap="none" lIns="36576" rIns="36576" tIns="36576" bIns="36576" anchor="t">
            <a:spAutoFit/>
          </a:bodyPr>
          <a:lstStyle/>
          <a:p>
            <a:pPr algn="ctr"/>
            <a:r>
              <a:rPr sz="1000" b="1">
                <a:solidFill>
                  <a:srgbClr val="FFFFFF"/>
                </a:solidFill>
                <a:latin typeface="Aptos"/>
              </a:rPr>
              <a:t>01</a:t>
            </a:r>
          </a:p>
        </p:txBody>
      </p:sp>
      <p:sp>
        <p:nvSpPr>
          <p:cNvPr id="9" name="TextBox 8"/>
          <p:cNvSpPr txBox="1"/>
          <p:nvPr/>
        </p:nvSpPr>
        <p:spPr>
          <a:xfrm>
            <a:off x="1627632" y="1764792"/>
            <a:ext cx="3886200" cy="274320"/>
          </a:xfrm>
          <a:prstGeom prst="rect">
            <a:avLst/>
          </a:prstGeom>
          <a:noFill/>
        </p:spPr>
        <p:txBody>
          <a:bodyPr wrap="none" lIns="36576" rIns="36576" tIns="36576" bIns="36576" anchor="t">
            <a:spAutoFit/>
          </a:bodyPr>
          <a:lstStyle/>
          <a:p>
            <a:pPr algn="l"/>
            <a:r>
              <a:rPr sz="1200" b="1">
                <a:solidFill>
                  <a:srgbClr val="2F5BEA"/>
                </a:solidFill>
                <a:latin typeface="Aptos"/>
              </a:rPr>
              <a:t>HỌC VỤ</a:t>
            </a:r>
          </a:p>
        </p:txBody>
      </p:sp>
      <p:sp>
        <p:nvSpPr>
          <p:cNvPr id="10" name="TextBox 9"/>
          <p:cNvSpPr txBox="1"/>
          <p:nvPr/>
        </p:nvSpPr>
        <p:spPr>
          <a:xfrm>
            <a:off x="1627632" y="2148840"/>
            <a:ext cx="3913632" cy="274320"/>
          </a:xfrm>
          <a:prstGeom prst="rect">
            <a:avLst/>
          </a:prstGeom>
          <a:noFill/>
        </p:spPr>
        <p:txBody>
          <a:bodyPr wrap="none" lIns="36576" rIns="36576" tIns="36576" bIns="36576" anchor="t">
            <a:spAutoFit/>
          </a:bodyPr>
          <a:lstStyle/>
          <a:p>
            <a:pPr algn="l"/>
            <a:r>
              <a:rPr sz="1000" b="0">
                <a:solidFill>
                  <a:srgbClr val="64708A"/>
                </a:solidFill>
                <a:latin typeface="Aptos"/>
              </a:rPr>
              <a:t>Khoa · ngành · học kỳ · môn · lớp</a:t>
            </a:r>
          </a:p>
        </p:txBody>
      </p:sp>
      <p:sp>
        <p:nvSpPr>
          <p:cNvPr id="11" name="Rounded Rectangle 10"/>
          <p:cNvSpPr/>
          <p:nvPr/>
        </p:nvSpPr>
        <p:spPr>
          <a:xfrm>
            <a:off x="6217920" y="1581912"/>
            <a:ext cx="5230368" cy="1078992"/>
          </a:xfrm>
          <a:prstGeom prst="roundRect">
            <a:avLst/>
          </a:prstGeom>
          <a:solidFill>
            <a:srgbClr val="FFFFFF"/>
          </a:solidFill>
          <a:ln>
            <a:solidFill>
              <a:srgbClr val="E0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6419088" y="1801368"/>
            <a:ext cx="621792" cy="621792"/>
          </a:xfrm>
          <a:prstGeom prst="roundRect">
            <a:avLst/>
          </a:prstGeom>
          <a:solidFill>
            <a:srgbClr val="3EC6E0"/>
          </a:solidFill>
          <a:ln>
            <a:solidFill>
              <a:srgbClr val="3EC6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19088" y="1947672"/>
            <a:ext cx="621792" cy="201168"/>
          </a:xfrm>
          <a:prstGeom prst="rect">
            <a:avLst/>
          </a:prstGeom>
          <a:noFill/>
        </p:spPr>
        <p:txBody>
          <a:bodyPr wrap="none" lIns="36576" rIns="36576" tIns="36576" bIns="36576" anchor="t">
            <a:spAutoFit/>
          </a:bodyPr>
          <a:lstStyle/>
          <a:p>
            <a:pPr algn="ctr"/>
            <a:r>
              <a:rPr sz="1000" b="1">
                <a:solidFill>
                  <a:srgbClr val="FFFFFF"/>
                </a:solidFill>
                <a:latin typeface="Aptos"/>
              </a:rPr>
              <a:t>02</a:t>
            </a:r>
          </a:p>
        </p:txBody>
      </p:sp>
      <p:sp>
        <p:nvSpPr>
          <p:cNvPr id="14" name="TextBox 13"/>
          <p:cNvSpPr txBox="1"/>
          <p:nvPr/>
        </p:nvSpPr>
        <p:spPr>
          <a:xfrm>
            <a:off x="7205472" y="1764792"/>
            <a:ext cx="3886200" cy="274320"/>
          </a:xfrm>
          <a:prstGeom prst="rect">
            <a:avLst/>
          </a:prstGeom>
          <a:noFill/>
        </p:spPr>
        <p:txBody>
          <a:bodyPr wrap="none" lIns="36576" rIns="36576" tIns="36576" bIns="36576" anchor="t">
            <a:spAutoFit/>
          </a:bodyPr>
          <a:lstStyle/>
          <a:p>
            <a:pPr algn="l"/>
            <a:r>
              <a:rPr sz="1200" b="1">
                <a:solidFill>
                  <a:srgbClr val="3EC6E0"/>
                </a:solidFill>
                <a:latin typeface="Aptos"/>
              </a:rPr>
              <a:t>DẠY &amp; HỌC</a:t>
            </a:r>
          </a:p>
        </p:txBody>
      </p:sp>
      <p:sp>
        <p:nvSpPr>
          <p:cNvPr id="15" name="TextBox 14"/>
          <p:cNvSpPr txBox="1"/>
          <p:nvPr/>
        </p:nvSpPr>
        <p:spPr>
          <a:xfrm>
            <a:off x="7205472" y="2148840"/>
            <a:ext cx="3913632" cy="274320"/>
          </a:xfrm>
          <a:prstGeom prst="rect">
            <a:avLst/>
          </a:prstGeom>
          <a:noFill/>
        </p:spPr>
        <p:txBody>
          <a:bodyPr wrap="none" lIns="36576" rIns="36576" tIns="36576" bIns="36576" anchor="t">
            <a:spAutoFit/>
          </a:bodyPr>
          <a:lstStyle/>
          <a:p>
            <a:pPr algn="l"/>
            <a:r>
              <a:rPr sz="1000" b="0">
                <a:solidFill>
                  <a:srgbClr val="64708A"/>
                </a:solidFill>
                <a:latin typeface="Aptos"/>
              </a:rPr>
              <a:t>Bài học · bài tập · nộp/chấm</a:t>
            </a:r>
          </a:p>
        </p:txBody>
      </p:sp>
      <p:sp>
        <p:nvSpPr>
          <p:cNvPr id="16" name="Rounded Rectangle 15"/>
          <p:cNvSpPr/>
          <p:nvPr/>
        </p:nvSpPr>
        <p:spPr>
          <a:xfrm>
            <a:off x="640080" y="2999232"/>
            <a:ext cx="5230368" cy="1078992"/>
          </a:xfrm>
          <a:prstGeom prst="roundRect">
            <a:avLst/>
          </a:prstGeom>
          <a:solidFill>
            <a:srgbClr val="FFFFFF"/>
          </a:solidFill>
          <a:ln>
            <a:solidFill>
              <a:srgbClr val="E0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Rounded Rectangle 16"/>
          <p:cNvSpPr/>
          <p:nvPr/>
        </p:nvSpPr>
        <p:spPr>
          <a:xfrm>
            <a:off x="841247" y="3218688"/>
            <a:ext cx="621792" cy="621792"/>
          </a:xfrm>
          <a:prstGeom prst="roundRect">
            <a:avLst/>
          </a:prstGeom>
          <a:solidFill>
            <a:srgbClr val="1F9D73"/>
          </a:solidFill>
          <a:ln>
            <a:solidFill>
              <a:srgbClr val="1F9D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41247" y="3364992"/>
            <a:ext cx="621792" cy="201168"/>
          </a:xfrm>
          <a:prstGeom prst="rect">
            <a:avLst/>
          </a:prstGeom>
          <a:noFill/>
        </p:spPr>
        <p:txBody>
          <a:bodyPr wrap="none" lIns="36576" rIns="36576" tIns="36576" bIns="36576" anchor="t">
            <a:spAutoFit/>
          </a:bodyPr>
          <a:lstStyle/>
          <a:p>
            <a:pPr algn="ctr"/>
            <a:r>
              <a:rPr sz="1000" b="1">
                <a:solidFill>
                  <a:srgbClr val="FFFFFF"/>
                </a:solidFill>
                <a:latin typeface="Aptos"/>
              </a:rPr>
              <a:t>03</a:t>
            </a:r>
          </a:p>
        </p:txBody>
      </p:sp>
      <p:sp>
        <p:nvSpPr>
          <p:cNvPr id="19" name="TextBox 18"/>
          <p:cNvSpPr txBox="1"/>
          <p:nvPr/>
        </p:nvSpPr>
        <p:spPr>
          <a:xfrm>
            <a:off x="1627632" y="3182112"/>
            <a:ext cx="3886200" cy="274320"/>
          </a:xfrm>
          <a:prstGeom prst="rect">
            <a:avLst/>
          </a:prstGeom>
          <a:noFill/>
        </p:spPr>
        <p:txBody>
          <a:bodyPr wrap="none" lIns="36576" rIns="36576" tIns="36576" bIns="36576" anchor="t">
            <a:spAutoFit/>
          </a:bodyPr>
          <a:lstStyle/>
          <a:p>
            <a:pPr algn="l"/>
            <a:r>
              <a:rPr sz="1200" b="1">
                <a:solidFill>
                  <a:srgbClr val="1F9D73"/>
                </a:solidFill>
                <a:latin typeface="Aptos"/>
              </a:rPr>
              <a:t>LỊCH &amp; ĐĂNG KÝ</a:t>
            </a:r>
          </a:p>
        </p:txBody>
      </p:sp>
      <p:sp>
        <p:nvSpPr>
          <p:cNvPr id="20" name="TextBox 19"/>
          <p:cNvSpPr txBox="1"/>
          <p:nvPr/>
        </p:nvSpPr>
        <p:spPr>
          <a:xfrm>
            <a:off x="1627632" y="3566160"/>
            <a:ext cx="3913632" cy="274320"/>
          </a:xfrm>
          <a:prstGeom prst="rect">
            <a:avLst/>
          </a:prstGeom>
          <a:noFill/>
        </p:spPr>
        <p:txBody>
          <a:bodyPr wrap="none" lIns="36576" rIns="36576" tIns="36576" bIns="36576" anchor="t">
            <a:spAutoFit/>
          </a:bodyPr>
          <a:lstStyle/>
          <a:p>
            <a:pPr algn="l"/>
            <a:r>
              <a:rPr sz="1000" b="0">
                <a:solidFill>
                  <a:srgbClr val="64708A"/>
                </a:solidFill>
                <a:latin typeface="Aptos"/>
              </a:rPr>
              <a:t>Giờ dạy · buổi học · duyệt lớp</a:t>
            </a:r>
          </a:p>
        </p:txBody>
      </p:sp>
      <p:sp>
        <p:nvSpPr>
          <p:cNvPr id="21" name="Rounded Rectangle 20"/>
          <p:cNvSpPr/>
          <p:nvPr/>
        </p:nvSpPr>
        <p:spPr>
          <a:xfrm>
            <a:off x="6217920" y="2999232"/>
            <a:ext cx="5230368" cy="1078992"/>
          </a:xfrm>
          <a:prstGeom prst="roundRect">
            <a:avLst/>
          </a:prstGeom>
          <a:solidFill>
            <a:srgbClr val="FFFFFF"/>
          </a:solidFill>
          <a:ln>
            <a:solidFill>
              <a:srgbClr val="E0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Rounded Rectangle 21"/>
          <p:cNvSpPr/>
          <p:nvPr/>
        </p:nvSpPr>
        <p:spPr>
          <a:xfrm>
            <a:off x="6419088" y="3218688"/>
            <a:ext cx="621792" cy="621792"/>
          </a:xfrm>
          <a:prstGeom prst="round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419088" y="3364992"/>
            <a:ext cx="621792" cy="201168"/>
          </a:xfrm>
          <a:prstGeom prst="rect">
            <a:avLst/>
          </a:prstGeom>
          <a:noFill/>
        </p:spPr>
        <p:txBody>
          <a:bodyPr wrap="none" lIns="36576" rIns="36576" tIns="36576" bIns="36576" anchor="t">
            <a:spAutoFit/>
          </a:bodyPr>
          <a:lstStyle/>
          <a:p>
            <a:pPr algn="ctr"/>
            <a:r>
              <a:rPr sz="1000" b="1">
                <a:solidFill>
                  <a:srgbClr val="FFFFFF"/>
                </a:solidFill>
                <a:latin typeface="Aptos"/>
              </a:rPr>
              <a:t>04</a:t>
            </a:r>
          </a:p>
        </p:txBody>
      </p:sp>
      <p:sp>
        <p:nvSpPr>
          <p:cNvPr id="24" name="TextBox 23"/>
          <p:cNvSpPr txBox="1"/>
          <p:nvPr/>
        </p:nvSpPr>
        <p:spPr>
          <a:xfrm>
            <a:off x="7205472" y="3182112"/>
            <a:ext cx="3886200" cy="274320"/>
          </a:xfrm>
          <a:prstGeom prst="rect">
            <a:avLst/>
          </a:prstGeom>
          <a:noFill/>
        </p:spPr>
        <p:txBody>
          <a:bodyPr wrap="none" lIns="36576" rIns="36576" tIns="36576" bIns="36576" anchor="t">
            <a:spAutoFit/>
          </a:bodyPr>
          <a:lstStyle/>
          <a:p>
            <a:pPr algn="l"/>
            <a:r>
              <a:rPr sz="1200" b="1">
                <a:solidFill>
                  <a:srgbClr val="F5B942"/>
                </a:solidFill>
                <a:latin typeface="Aptos"/>
              </a:rPr>
              <a:t>KHO HỌC LIỆU</a:t>
            </a:r>
          </a:p>
        </p:txBody>
      </p:sp>
      <p:sp>
        <p:nvSpPr>
          <p:cNvPr id="25" name="TextBox 24"/>
          <p:cNvSpPr txBox="1"/>
          <p:nvPr/>
        </p:nvSpPr>
        <p:spPr>
          <a:xfrm>
            <a:off x="7205472" y="3566160"/>
            <a:ext cx="3913632" cy="274320"/>
          </a:xfrm>
          <a:prstGeom prst="rect">
            <a:avLst/>
          </a:prstGeom>
          <a:noFill/>
        </p:spPr>
        <p:txBody>
          <a:bodyPr wrap="none" lIns="36576" rIns="36576" tIns="36576" bIns="36576" anchor="t">
            <a:spAutoFit/>
          </a:bodyPr>
          <a:lstStyle/>
          <a:p>
            <a:pPr algn="l"/>
            <a:r>
              <a:rPr sz="1000" b="0">
                <a:solidFill>
                  <a:srgbClr val="64708A"/>
                </a:solidFill>
                <a:latin typeface="Aptos"/>
              </a:rPr>
              <a:t>Nhiều môn · version · license · review</a:t>
            </a:r>
          </a:p>
        </p:txBody>
      </p:sp>
      <p:sp>
        <p:nvSpPr>
          <p:cNvPr id="26" name="Rounded Rectangle 25"/>
          <p:cNvSpPr/>
          <p:nvPr/>
        </p:nvSpPr>
        <p:spPr>
          <a:xfrm>
            <a:off x="640080" y="4416552"/>
            <a:ext cx="5230368" cy="1078992"/>
          </a:xfrm>
          <a:prstGeom prst="roundRect">
            <a:avLst/>
          </a:prstGeom>
          <a:solidFill>
            <a:srgbClr val="FFFFFF"/>
          </a:solidFill>
          <a:ln>
            <a:solidFill>
              <a:srgbClr val="E0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841247" y="4636008"/>
            <a:ext cx="621792" cy="621792"/>
          </a:xfrm>
          <a:prstGeom prst="roundRect">
            <a:avLst/>
          </a:prstGeom>
          <a:solidFill>
            <a:srgbClr val="D84A5B"/>
          </a:solidFill>
          <a:ln>
            <a:solidFill>
              <a:srgbClr val="D84A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41247" y="4782312"/>
            <a:ext cx="621792" cy="201168"/>
          </a:xfrm>
          <a:prstGeom prst="rect">
            <a:avLst/>
          </a:prstGeom>
          <a:noFill/>
        </p:spPr>
        <p:txBody>
          <a:bodyPr wrap="none" lIns="36576" rIns="36576" tIns="36576" bIns="36576" anchor="t">
            <a:spAutoFit/>
          </a:bodyPr>
          <a:lstStyle/>
          <a:p>
            <a:pPr algn="ctr"/>
            <a:r>
              <a:rPr sz="1000" b="1">
                <a:solidFill>
                  <a:srgbClr val="FFFFFF"/>
                </a:solidFill>
                <a:latin typeface="Aptos"/>
              </a:rPr>
              <a:t>05</a:t>
            </a:r>
          </a:p>
        </p:txBody>
      </p:sp>
      <p:sp>
        <p:nvSpPr>
          <p:cNvPr id="29" name="TextBox 28"/>
          <p:cNvSpPr txBox="1"/>
          <p:nvPr/>
        </p:nvSpPr>
        <p:spPr>
          <a:xfrm>
            <a:off x="1627632" y="4599432"/>
            <a:ext cx="3886200" cy="274320"/>
          </a:xfrm>
          <a:prstGeom prst="rect">
            <a:avLst/>
          </a:prstGeom>
          <a:noFill/>
        </p:spPr>
        <p:txBody>
          <a:bodyPr wrap="none" lIns="36576" rIns="36576" tIns="36576" bIns="36576" anchor="t">
            <a:spAutoFit/>
          </a:bodyPr>
          <a:lstStyle/>
          <a:p>
            <a:pPr algn="l"/>
            <a:r>
              <a:rPr sz="1200" b="1">
                <a:solidFill>
                  <a:srgbClr val="D84A5B"/>
                </a:solidFill>
                <a:latin typeface="Aptos"/>
              </a:rPr>
              <a:t>CÂU HỎI &amp; QUIZ</a:t>
            </a:r>
          </a:p>
        </p:txBody>
      </p:sp>
      <p:sp>
        <p:nvSpPr>
          <p:cNvPr id="30" name="TextBox 29"/>
          <p:cNvSpPr txBox="1"/>
          <p:nvPr/>
        </p:nvSpPr>
        <p:spPr>
          <a:xfrm>
            <a:off x="1627632" y="4983480"/>
            <a:ext cx="3913632" cy="274320"/>
          </a:xfrm>
          <a:prstGeom prst="rect">
            <a:avLst/>
          </a:prstGeom>
          <a:noFill/>
        </p:spPr>
        <p:txBody>
          <a:bodyPr wrap="none" lIns="36576" rIns="36576" tIns="36576" bIns="36576" anchor="t">
            <a:spAutoFit/>
          </a:bodyPr>
          <a:lstStyle/>
          <a:p>
            <a:pPr algn="l"/>
            <a:r>
              <a:rPr sz="1000" b="0">
                <a:solidFill>
                  <a:srgbClr val="64708A"/>
                </a:solidFill>
                <a:latin typeface="Aptos"/>
              </a:rPr>
              <a:t>Ngân hàng · AI nháp · kiểm duyệt</a:t>
            </a:r>
          </a:p>
        </p:txBody>
      </p:sp>
      <p:sp>
        <p:nvSpPr>
          <p:cNvPr id="31" name="Rounded Rectangle 30"/>
          <p:cNvSpPr/>
          <p:nvPr/>
        </p:nvSpPr>
        <p:spPr>
          <a:xfrm>
            <a:off x="6217920" y="4416552"/>
            <a:ext cx="5230368" cy="1078992"/>
          </a:xfrm>
          <a:prstGeom prst="roundRect">
            <a:avLst/>
          </a:prstGeom>
          <a:solidFill>
            <a:srgbClr val="FFFFFF"/>
          </a:solidFill>
          <a:ln>
            <a:solidFill>
              <a:srgbClr val="E0E5E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Rounded Rectangle 31"/>
          <p:cNvSpPr/>
          <p:nvPr/>
        </p:nvSpPr>
        <p:spPr>
          <a:xfrm>
            <a:off x="6419088" y="4636008"/>
            <a:ext cx="621792" cy="621792"/>
          </a:xfrm>
          <a:prstGeom prst="roundRect">
            <a:avLst/>
          </a:prstGeom>
          <a:solidFill>
            <a:srgbClr val="14254A"/>
          </a:solidFill>
          <a:ln>
            <a:solidFill>
              <a:srgbClr val="142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419088" y="4782312"/>
            <a:ext cx="621792" cy="201168"/>
          </a:xfrm>
          <a:prstGeom prst="rect">
            <a:avLst/>
          </a:prstGeom>
          <a:noFill/>
        </p:spPr>
        <p:txBody>
          <a:bodyPr wrap="none" lIns="36576" rIns="36576" tIns="36576" bIns="36576" anchor="t">
            <a:spAutoFit/>
          </a:bodyPr>
          <a:lstStyle/>
          <a:p>
            <a:pPr algn="ctr"/>
            <a:r>
              <a:rPr sz="1000" b="1">
                <a:solidFill>
                  <a:srgbClr val="FFFFFF"/>
                </a:solidFill>
                <a:latin typeface="Aptos"/>
              </a:rPr>
              <a:t>06</a:t>
            </a:r>
          </a:p>
        </p:txBody>
      </p:sp>
      <p:sp>
        <p:nvSpPr>
          <p:cNvPr id="34" name="TextBox 33"/>
          <p:cNvSpPr txBox="1"/>
          <p:nvPr/>
        </p:nvSpPr>
        <p:spPr>
          <a:xfrm>
            <a:off x="7205472" y="4599432"/>
            <a:ext cx="3886200" cy="274320"/>
          </a:xfrm>
          <a:prstGeom prst="rect">
            <a:avLst/>
          </a:prstGeom>
          <a:noFill/>
        </p:spPr>
        <p:txBody>
          <a:bodyPr wrap="none" lIns="36576" rIns="36576" tIns="36576" bIns="36576" anchor="t">
            <a:spAutoFit/>
          </a:bodyPr>
          <a:lstStyle/>
          <a:p>
            <a:pPr algn="l"/>
            <a:r>
              <a:rPr sz="1200" b="1">
                <a:solidFill>
                  <a:srgbClr val="14254A"/>
                </a:solidFill>
                <a:latin typeface="Aptos"/>
              </a:rPr>
              <a:t>HỖ TRỢ &amp; BÁO CÁO</a:t>
            </a:r>
          </a:p>
        </p:txBody>
      </p:sp>
      <p:sp>
        <p:nvSpPr>
          <p:cNvPr id="35" name="TextBox 34"/>
          <p:cNvSpPr txBox="1"/>
          <p:nvPr/>
        </p:nvSpPr>
        <p:spPr>
          <a:xfrm>
            <a:off x="7205472" y="4983480"/>
            <a:ext cx="3913632" cy="274320"/>
          </a:xfrm>
          <a:prstGeom prst="rect">
            <a:avLst/>
          </a:prstGeom>
          <a:noFill/>
        </p:spPr>
        <p:txBody>
          <a:bodyPr wrap="none" lIns="36576" rIns="36576" tIns="36576" bIns="36576" anchor="t">
            <a:spAutoFit/>
          </a:bodyPr>
          <a:lstStyle/>
          <a:p>
            <a:pPr algn="l"/>
            <a:r>
              <a:rPr sz="1000" b="0">
                <a:solidFill>
                  <a:srgbClr val="64708A"/>
                </a:solidFill>
                <a:latin typeface="Aptos"/>
              </a:rPr>
              <a:t>Ticket · progress · CSV · notification</a:t>
            </a:r>
          </a:p>
        </p:txBody>
      </p:sp>
      <p:sp>
        <p:nvSpPr>
          <p:cNvPr id="36" name="Rounded Rectangle 35"/>
          <p:cNvSpPr/>
          <p:nvPr/>
        </p:nvSpPr>
        <p:spPr>
          <a:xfrm>
            <a:off x="640080" y="5961888"/>
            <a:ext cx="10927080" cy="338328"/>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777240" y="6025896"/>
            <a:ext cx="10652760" cy="182880"/>
          </a:xfrm>
          <a:prstGeom prst="rect">
            <a:avLst/>
          </a:prstGeom>
          <a:noFill/>
        </p:spPr>
        <p:txBody>
          <a:bodyPr wrap="none" lIns="36576" rIns="36576" tIns="36576" bIns="36576" anchor="t">
            <a:spAutoFit/>
          </a:bodyPr>
          <a:lstStyle/>
          <a:p>
            <a:pPr algn="ctr"/>
            <a:r>
              <a:rPr sz="1000" b="1">
                <a:solidFill>
                  <a:srgbClr val="14254A"/>
                </a:solidFill>
                <a:latin typeface="Aptos"/>
              </a:rPr>
              <a:t>Tất cả phân hệ dùng chung một mô hình phân quyền và nhật ký sự kiện.</a:t>
            </a:r>
          </a:p>
        </p:txBody>
      </p:sp>
      <p:cxnSp>
        <p:nvCxnSpPr>
          <p:cNvPr id="38" name="Connector 37"/>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clrMapOvr>
    <a:masterClrMapping/>
  </p:clrMapOvr>
  <p:transition spd="med">
    <p:wipe dir="r"/>
  </p:transition>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06 · GIAO DIỆN</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Một UI React, trải nghiệm thay đổi theo vai trò</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Ảnh chụp trực tiếp từ source React hiện tại · dữ liệu minh họa.</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07</a:t>
            </a:r>
          </a:p>
        </p:txBody>
      </p:sp>
      <p:sp>
        <p:nvSpPr>
          <p:cNvPr id="7" name="Rounded Rectangle 6"/>
          <p:cNvSpPr/>
          <p:nvPr/>
        </p:nvSpPr>
        <p:spPr>
          <a:xfrm>
            <a:off x="576072" y="1581912"/>
            <a:ext cx="5477256" cy="3438144"/>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2-admin-dashboard.png"/>
          <p:cNvPicPr>
            <a:picLocks noChangeAspect="1"/>
          </p:cNvPicPr>
          <p:nvPr/>
        </p:nvPicPr>
        <p:blipFill>
          <a:blip r:embed="rId2"/>
          <a:srcRect t="6083" b="6083"/>
          <a:stretch>
            <a:fillRect/>
          </a:stretch>
        </p:blipFill>
        <p:spPr>
          <a:xfrm>
            <a:off x="594360" y="1600200"/>
            <a:ext cx="5440680" cy="3401568"/>
          </a:xfrm>
          <a:prstGeom prst="rect">
            <a:avLst/>
          </a:prstGeom>
        </p:spPr>
      </p:pic>
      <p:sp>
        <p:nvSpPr>
          <p:cNvPr id="9" name="Rounded Rectangle 8"/>
          <p:cNvSpPr/>
          <p:nvPr/>
        </p:nvSpPr>
        <p:spPr>
          <a:xfrm>
            <a:off x="6181344" y="1581912"/>
            <a:ext cx="5431536" cy="3438144"/>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7-student-dashboard.png"/>
          <p:cNvPicPr>
            <a:picLocks noChangeAspect="1"/>
          </p:cNvPicPr>
          <p:nvPr/>
        </p:nvPicPr>
        <p:blipFill>
          <a:blip r:embed="rId3"/>
          <a:srcRect t="5711" b="5711"/>
          <a:stretch>
            <a:fillRect/>
          </a:stretch>
        </p:blipFill>
        <p:spPr>
          <a:xfrm>
            <a:off x="6199632" y="1600200"/>
            <a:ext cx="5394960" cy="3401568"/>
          </a:xfrm>
          <a:prstGeom prst="rect">
            <a:avLst/>
          </a:prstGeom>
        </p:spPr>
      </p:pic>
      <p:sp>
        <p:nvSpPr>
          <p:cNvPr id="10" name="Rounded Rectangle 9"/>
          <p:cNvSpPr/>
          <p:nvPr/>
        </p:nvSpPr>
        <p:spPr>
          <a:xfrm>
            <a:off x="804672" y="1783080"/>
            <a:ext cx="822960" cy="310896"/>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833372"/>
            <a:ext cx="676656" cy="201168"/>
          </a:xfrm>
          <a:prstGeom prst="rect">
            <a:avLst/>
          </a:prstGeom>
          <a:noFill/>
        </p:spPr>
        <p:txBody>
          <a:bodyPr wrap="none" lIns="36576" rIns="36576" tIns="36576" bIns="36576" anchor="t">
            <a:spAutoFit/>
          </a:bodyPr>
          <a:lstStyle/>
          <a:p>
            <a:pPr algn="ctr"/>
            <a:r>
              <a:rPr sz="900" b="1">
                <a:solidFill>
                  <a:srgbClr val="FFFFFF"/>
                </a:solidFill>
                <a:latin typeface="Aptos"/>
              </a:rPr>
              <a:t>ADMIN</a:t>
            </a:r>
          </a:p>
        </p:txBody>
      </p:sp>
      <p:sp>
        <p:nvSpPr>
          <p:cNvPr id="12" name="Rounded Rectangle 11"/>
          <p:cNvSpPr/>
          <p:nvPr/>
        </p:nvSpPr>
        <p:spPr>
          <a:xfrm>
            <a:off x="6419088" y="1783080"/>
            <a:ext cx="932688" cy="310896"/>
          </a:xfrm>
          <a:prstGeom prst="roundRect">
            <a:avLst/>
          </a:prstGeom>
          <a:solidFill>
            <a:srgbClr val="1F9D73"/>
          </a:solidFill>
          <a:ln>
            <a:solidFill>
              <a:srgbClr val="1F9D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492240" y="1833372"/>
            <a:ext cx="786384" cy="201168"/>
          </a:xfrm>
          <a:prstGeom prst="rect">
            <a:avLst/>
          </a:prstGeom>
          <a:noFill/>
        </p:spPr>
        <p:txBody>
          <a:bodyPr wrap="none" lIns="36576" rIns="36576" tIns="36576" bIns="36576" anchor="t">
            <a:spAutoFit/>
          </a:bodyPr>
          <a:lstStyle/>
          <a:p>
            <a:pPr algn="ctr"/>
            <a:r>
              <a:rPr sz="900" b="1">
                <a:solidFill>
                  <a:srgbClr val="FFFFFF"/>
                </a:solidFill>
                <a:latin typeface="Aptos"/>
              </a:rPr>
              <a:t>STUDENT</a:t>
            </a:r>
          </a:p>
        </p:txBody>
      </p:sp>
      <p:sp>
        <p:nvSpPr>
          <p:cNvPr id="14" name="TextBox 13"/>
          <p:cNvSpPr txBox="1"/>
          <p:nvPr/>
        </p:nvSpPr>
        <p:spPr>
          <a:xfrm>
            <a:off x="749808" y="5230368"/>
            <a:ext cx="2834640" cy="274320"/>
          </a:xfrm>
          <a:prstGeom prst="rect">
            <a:avLst/>
          </a:prstGeom>
          <a:noFill/>
        </p:spPr>
        <p:txBody>
          <a:bodyPr wrap="none" lIns="36576" rIns="36576" tIns="36576" bIns="36576" anchor="t">
            <a:spAutoFit/>
          </a:bodyPr>
          <a:lstStyle/>
          <a:p>
            <a:pPr algn="l"/>
            <a:r>
              <a:rPr sz="1400" b="1">
                <a:solidFill>
                  <a:srgbClr val="14254A"/>
                </a:solidFill>
                <a:latin typeface="Aptos"/>
              </a:rPr>
              <a:t>Quản trị toàn hệ thống</a:t>
            </a:r>
          </a:p>
        </p:txBody>
      </p:sp>
      <p:sp>
        <p:nvSpPr>
          <p:cNvPr id="15" name="TextBox 14"/>
          <p:cNvSpPr txBox="1"/>
          <p:nvPr/>
        </p:nvSpPr>
        <p:spPr>
          <a:xfrm>
            <a:off x="749808" y="5596128"/>
            <a:ext cx="3931920" cy="256032"/>
          </a:xfrm>
          <a:prstGeom prst="rect">
            <a:avLst/>
          </a:prstGeom>
          <a:noFill/>
        </p:spPr>
        <p:txBody>
          <a:bodyPr wrap="none" lIns="36576" rIns="36576" tIns="36576" bIns="36576" anchor="t">
            <a:spAutoFit/>
          </a:bodyPr>
          <a:lstStyle/>
          <a:p>
            <a:pPr algn="l"/>
            <a:r>
              <a:rPr sz="1000" b="0">
                <a:solidFill>
                  <a:srgbClr val="64708A"/>
                </a:solidFill>
                <a:latin typeface="Aptos"/>
              </a:rPr>
              <a:t>Tài khoản · học vụ · phân quyền · audit</a:t>
            </a:r>
          </a:p>
        </p:txBody>
      </p:sp>
      <p:sp>
        <p:nvSpPr>
          <p:cNvPr id="16" name="TextBox 15"/>
          <p:cNvSpPr txBox="1"/>
          <p:nvPr/>
        </p:nvSpPr>
        <p:spPr>
          <a:xfrm>
            <a:off x="6355080" y="5230368"/>
            <a:ext cx="3108960" cy="274320"/>
          </a:xfrm>
          <a:prstGeom prst="rect">
            <a:avLst/>
          </a:prstGeom>
          <a:noFill/>
        </p:spPr>
        <p:txBody>
          <a:bodyPr wrap="none" lIns="36576" rIns="36576" tIns="36576" bIns="36576" anchor="t">
            <a:spAutoFit/>
          </a:bodyPr>
          <a:lstStyle/>
          <a:p>
            <a:pPr algn="l"/>
            <a:r>
              <a:rPr sz="1400" b="1">
                <a:solidFill>
                  <a:srgbClr val="14254A"/>
                </a:solidFill>
                <a:latin typeface="Aptos"/>
              </a:rPr>
              <a:t>Không gian học tập cá nhân</a:t>
            </a:r>
          </a:p>
        </p:txBody>
      </p:sp>
      <p:sp>
        <p:nvSpPr>
          <p:cNvPr id="17" name="TextBox 16"/>
          <p:cNvSpPr txBox="1"/>
          <p:nvPr/>
        </p:nvSpPr>
        <p:spPr>
          <a:xfrm>
            <a:off x="6355080" y="5596128"/>
            <a:ext cx="3931920" cy="256032"/>
          </a:xfrm>
          <a:prstGeom prst="rect">
            <a:avLst/>
          </a:prstGeom>
          <a:noFill/>
        </p:spPr>
        <p:txBody>
          <a:bodyPr wrap="none" lIns="36576" rIns="36576" tIns="36576" bIns="36576" anchor="t">
            <a:spAutoFit/>
          </a:bodyPr>
          <a:lstStyle/>
          <a:p>
            <a:pPr algn="l"/>
            <a:r>
              <a:rPr sz="1000" b="0">
                <a:solidFill>
                  <a:srgbClr val="64708A"/>
                </a:solidFill>
                <a:latin typeface="Aptos"/>
              </a:rPr>
              <a:t>Lớp · bài học · lịch · điểm · học phí</a:t>
            </a:r>
          </a:p>
        </p:txBody>
      </p:sp>
      <p:cxnSp>
        <p:nvCxnSpPr>
          <p:cNvPr id="18" name="Connector 17"/>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19" name="TextBox 18"/>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clrMapOvr>
    <a:masterClrMapping/>
  </p:clrMapOvr>
  <p:transition spd="med">
    <p:fade/>
  </p:transition>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07 · QUY TRÌNH</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Luồng học tập xuyên suốt</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Các bước có trạng thái và người chịu trách nhiệm rõ ràng.</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08</a:t>
            </a:r>
          </a:p>
        </p:txBody>
      </p:sp>
      <p:sp>
        <p:nvSpPr>
          <p:cNvPr id="6" name="Rounded Rectangle 5"/>
          <p:cNvSpPr/>
          <p:nvPr/>
        </p:nvSpPr>
        <p:spPr>
          <a:xfrm>
            <a:off x="411480" y="1874519"/>
            <a:ext cx="1389888" cy="1874519"/>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ounded Rectangle 6"/>
          <p:cNvSpPr/>
          <p:nvPr/>
        </p:nvSpPr>
        <p:spPr>
          <a:xfrm>
            <a:off x="841247" y="1591056"/>
            <a:ext cx="530352" cy="530352"/>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841247" y="1719072"/>
            <a:ext cx="530352" cy="201168"/>
          </a:xfrm>
          <a:prstGeom prst="rect">
            <a:avLst/>
          </a:prstGeom>
          <a:noFill/>
        </p:spPr>
        <p:txBody>
          <a:bodyPr wrap="none" lIns="36576" rIns="36576" tIns="36576" bIns="36576" anchor="t">
            <a:spAutoFit/>
          </a:bodyPr>
          <a:lstStyle/>
          <a:p>
            <a:pPr algn="ctr"/>
            <a:r>
              <a:rPr sz="1200" b="1">
                <a:solidFill>
                  <a:srgbClr val="FFFFFF"/>
                </a:solidFill>
                <a:latin typeface="Aptos"/>
              </a:rPr>
              <a:t>1</a:t>
            </a:r>
          </a:p>
        </p:txBody>
      </p:sp>
      <p:sp>
        <p:nvSpPr>
          <p:cNvPr id="9" name="TextBox 8"/>
          <p:cNvSpPr txBox="1"/>
          <p:nvPr/>
        </p:nvSpPr>
        <p:spPr>
          <a:xfrm>
            <a:off x="557784" y="2176272"/>
            <a:ext cx="1097280" cy="228600"/>
          </a:xfrm>
          <a:prstGeom prst="rect">
            <a:avLst/>
          </a:prstGeom>
          <a:noFill/>
        </p:spPr>
        <p:txBody>
          <a:bodyPr wrap="none" lIns="36576" rIns="36576" tIns="36576" bIns="36576" anchor="t">
            <a:spAutoFit/>
          </a:bodyPr>
          <a:lstStyle/>
          <a:p>
            <a:pPr algn="ctr"/>
            <a:r>
              <a:rPr sz="900" b="1">
                <a:solidFill>
                  <a:srgbClr val="2F5BEA"/>
                </a:solidFill>
                <a:latin typeface="Aptos"/>
              </a:rPr>
              <a:t>ADMIN</a:t>
            </a:r>
          </a:p>
        </p:txBody>
      </p:sp>
      <p:sp>
        <p:nvSpPr>
          <p:cNvPr id="10" name="TextBox 9"/>
          <p:cNvSpPr txBox="1"/>
          <p:nvPr/>
        </p:nvSpPr>
        <p:spPr>
          <a:xfrm>
            <a:off x="557784" y="2633472"/>
            <a:ext cx="1097280" cy="566928"/>
          </a:xfrm>
          <a:prstGeom prst="rect">
            <a:avLst/>
          </a:prstGeom>
          <a:noFill/>
        </p:spPr>
        <p:txBody>
          <a:bodyPr wrap="none" lIns="36576" rIns="36576" tIns="36576" bIns="36576" anchor="t">
            <a:spAutoFit/>
          </a:bodyPr>
          <a:lstStyle/>
          <a:p>
            <a:pPr algn="ctr"/>
            <a:r>
              <a:rPr sz="1100" b="1">
                <a:solidFill>
                  <a:srgbClr val="14254A"/>
                </a:solidFill>
                <a:latin typeface="Aptos"/>
              </a:rPr>
              <a:t>Mở lớp &amp; phân công</a:t>
            </a:r>
          </a:p>
        </p:txBody>
      </p:sp>
      <p:sp>
        <p:nvSpPr>
          <p:cNvPr id="11" name="Right Arrow 10"/>
          <p:cNvSpPr/>
          <p:nvPr/>
        </p:nvSpPr>
        <p:spPr>
          <a:xfrm>
            <a:off x="1828800" y="2633472"/>
            <a:ext cx="228600" cy="320040"/>
          </a:xfrm>
          <a:prstGeom prst="rightArrow">
            <a:avLst/>
          </a:prstGeom>
          <a:solidFill>
            <a:srgbClr val="C5C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2075688" y="1874519"/>
            <a:ext cx="1389888" cy="1874519"/>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ounded Rectangle 12"/>
          <p:cNvSpPr/>
          <p:nvPr/>
        </p:nvSpPr>
        <p:spPr>
          <a:xfrm>
            <a:off x="2505456" y="1591056"/>
            <a:ext cx="530352" cy="530352"/>
          </a:xfrm>
          <a:prstGeom prst="roundRect">
            <a:avLst/>
          </a:prstGeom>
          <a:solidFill>
            <a:srgbClr val="1F9D73"/>
          </a:solidFill>
          <a:ln>
            <a:solidFill>
              <a:srgbClr val="1F9D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2505456" y="1719072"/>
            <a:ext cx="530352" cy="201168"/>
          </a:xfrm>
          <a:prstGeom prst="rect">
            <a:avLst/>
          </a:prstGeom>
          <a:noFill/>
        </p:spPr>
        <p:txBody>
          <a:bodyPr wrap="none" lIns="36576" rIns="36576" tIns="36576" bIns="36576" anchor="t">
            <a:spAutoFit/>
          </a:bodyPr>
          <a:lstStyle/>
          <a:p>
            <a:pPr algn="ctr"/>
            <a:r>
              <a:rPr sz="1200" b="1">
                <a:solidFill>
                  <a:srgbClr val="FFFFFF"/>
                </a:solidFill>
                <a:latin typeface="Aptos"/>
              </a:rPr>
              <a:t>2</a:t>
            </a:r>
          </a:p>
        </p:txBody>
      </p:sp>
      <p:sp>
        <p:nvSpPr>
          <p:cNvPr id="15" name="TextBox 14"/>
          <p:cNvSpPr txBox="1"/>
          <p:nvPr/>
        </p:nvSpPr>
        <p:spPr>
          <a:xfrm>
            <a:off x="2221992" y="2176272"/>
            <a:ext cx="1097280" cy="228600"/>
          </a:xfrm>
          <a:prstGeom prst="rect">
            <a:avLst/>
          </a:prstGeom>
          <a:noFill/>
        </p:spPr>
        <p:txBody>
          <a:bodyPr wrap="none" lIns="36576" rIns="36576" tIns="36576" bIns="36576" anchor="t">
            <a:spAutoFit/>
          </a:bodyPr>
          <a:lstStyle/>
          <a:p>
            <a:pPr algn="ctr"/>
            <a:r>
              <a:rPr sz="900" b="1">
                <a:solidFill>
                  <a:srgbClr val="1F9D73"/>
                </a:solidFill>
                <a:latin typeface="Aptos"/>
              </a:rPr>
              <a:t>STUDENT</a:t>
            </a:r>
          </a:p>
        </p:txBody>
      </p:sp>
      <p:sp>
        <p:nvSpPr>
          <p:cNvPr id="16" name="TextBox 15"/>
          <p:cNvSpPr txBox="1"/>
          <p:nvPr/>
        </p:nvSpPr>
        <p:spPr>
          <a:xfrm>
            <a:off x="2221992" y="2633472"/>
            <a:ext cx="1097280" cy="566928"/>
          </a:xfrm>
          <a:prstGeom prst="rect">
            <a:avLst/>
          </a:prstGeom>
          <a:noFill/>
        </p:spPr>
        <p:txBody>
          <a:bodyPr wrap="none" lIns="36576" rIns="36576" tIns="36576" bIns="36576" anchor="t">
            <a:spAutoFit/>
          </a:bodyPr>
          <a:lstStyle/>
          <a:p>
            <a:pPr algn="ctr"/>
            <a:r>
              <a:rPr sz="1100" b="1">
                <a:solidFill>
                  <a:srgbClr val="14254A"/>
                </a:solidFill>
                <a:latin typeface="Aptos"/>
              </a:rPr>
              <a:t>Gửi đăng ký</a:t>
            </a:r>
          </a:p>
        </p:txBody>
      </p:sp>
      <p:sp>
        <p:nvSpPr>
          <p:cNvPr id="17" name="Right Arrow 16"/>
          <p:cNvSpPr/>
          <p:nvPr/>
        </p:nvSpPr>
        <p:spPr>
          <a:xfrm>
            <a:off x="3493008" y="2633472"/>
            <a:ext cx="228600" cy="320040"/>
          </a:xfrm>
          <a:prstGeom prst="rightArrow">
            <a:avLst/>
          </a:prstGeom>
          <a:solidFill>
            <a:srgbClr val="C5C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3739896" y="1874519"/>
            <a:ext cx="1389888" cy="1874519"/>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Rounded Rectangle 18"/>
          <p:cNvSpPr/>
          <p:nvPr/>
        </p:nvSpPr>
        <p:spPr>
          <a:xfrm>
            <a:off x="4169663" y="1591056"/>
            <a:ext cx="530352" cy="530352"/>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169663" y="1719072"/>
            <a:ext cx="530352" cy="201168"/>
          </a:xfrm>
          <a:prstGeom prst="rect">
            <a:avLst/>
          </a:prstGeom>
          <a:noFill/>
        </p:spPr>
        <p:txBody>
          <a:bodyPr wrap="none" lIns="36576" rIns="36576" tIns="36576" bIns="36576" anchor="t">
            <a:spAutoFit/>
          </a:bodyPr>
          <a:lstStyle/>
          <a:p>
            <a:pPr algn="ctr"/>
            <a:r>
              <a:rPr sz="1200" b="1">
                <a:solidFill>
                  <a:srgbClr val="FFFFFF"/>
                </a:solidFill>
                <a:latin typeface="Aptos"/>
              </a:rPr>
              <a:t>3</a:t>
            </a:r>
          </a:p>
        </p:txBody>
      </p:sp>
      <p:sp>
        <p:nvSpPr>
          <p:cNvPr id="21" name="TextBox 20"/>
          <p:cNvSpPr txBox="1"/>
          <p:nvPr/>
        </p:nvSpPr>
        <p:spPr>
          <a:xfrm>
            <a:off x="3886200" y="2176272"/>
            <a:ext cx="1097280" cy="228600"/>
          </a:xfrm>
          <a:prstGeom prst="rect">
            <a:avLst/>
          </a:prstGeom>
          <a:noFill/>
        </p:spPr>
        <p:txBody>
          <a:bodyPr wrap="none" lIns="36576" rIns="36576" tIns="36576" bIns="36576" anchor="t">
            <a:spAutoFit/>
          </a:bodyPr>
          <a:lstStyle/>
          <a:p>
            <a:pPr algn="ctr"/>
            <a:r>
              <a:rPr sz="900" b="1">
                <a:solidFill>
                  <a:srgbClr val="2F5BEA"/>
                </a:solidFill>
                <a:latin typeface="Aptos"/>
              </a:rPr>
              <a:t>ADMIN</a:t>
            </a:r>
          </a:p>
        </p:txBody>
      </p:sp>
      <p:sp>
        <p:nvSpPr>
          <p:cNvPr id="22" name="TextBox 21"/>
          <p:cNvSpPr txBox="1"/>
          <p:nvPr/>
        </p:nvSpPr>
        <p:spPr>
          <a:xfrm>
            <a:off x="3886200" y="2633472"/>
            <a:ext cx="1097280" cy="566928"/>
          </a:xfrm>
          <a:prstGeom prst="rect">
            <a:avLst/>
          </a:prstGeom>
          <a:noFill/>
        </p:spPr>
        <p:txBody>
          <a:bodyPr wrap="none" lIns="36576" rIns="36576" tIns="36576" bIns="36576" anchor="t">
            <a:spAutoFit/>
          </a:bodyPr>
          <a:lstStyle/>
          <a:p>
            <a:pPr algn="ctr"/>
            <a:r>
              <a:rPr sz="1100" b="1">
                <a:solidFill>
                  <a:srgbClr val="14254A"/>
                </a:solidFill>
                <a:latin typeface="Aptos"/>
              </a:rPr>
              <a:t>Duyệt · kiểm tra lịch/sĩ số</a:t>
            </a:r>
          </a:p>
        </p:txBody>
      </p:sp>
      <p:sp>
        <p:nvSpPr>
          <p:cNvPr id="23" name="Right Arrow 22"/>
          <p:cNvSpPr/>
          <p:nvPr/>
        </p:nvSpPr>
        <p:spPr>
          <a:xfrm>
            <a:off x="5157216" y="2633472"/>
            <a:ext cx="228600" cy="320040"/>
          </a:xfrm>
          <a:prstGeom prst="rightArrow">
            <a:avLst/>
          </a:prstGeom>
          <a:solidFill>
            <a:srgbClr val="C5C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Rounded Rectangle 23"/>
          <p:cNvSpPr/>
          <p:nvPr/>
        </p:nvSpPr>
        <p:spPr>
          <a:xfrm>
            <a:off x="5404104" y="1874519"/>
            <a:ext cx="1389888" cy="1874519"/>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Rounded Rectangle 24"/>
          <p:cNvSpPr/>
          <p:nvPr/>
        </p:nvSpPr>
        <p:spPr>
          <a:xfrm>
            <a:off x="5833872" y="1591056"/>
            <a:ext cx="530352" cy="530352"/>
          </a:xfrm>
          <a:prstGeom prst="round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833872" y="1719072"/>
            <a:ext cx="530352" cy="201168"/>
          </a:xfrm>
          <a:prstGeom prst="rect">
            <a:avLst/>
          </a:prstGeom>
          <a:noFill/>
        </p:spPr>
        <p:txBody>
          <a:bodyPr wrap="none" lIns="36576" rIns="36576" tIns="36576" bIns="36576" anchor="t">
            <a:spAutoFit/>
          </a:bodyPr>
          <a:lstStyle/>
          <a:p>
            <a:pPr algn="ctr"/>
            <a:r>
              <a:rPr sz="1200" b="1">
                <a:solidFill>
                  <a:srgbClr val="FFFFFF"/>
                </a:solidFill>
                <a:latin typeface="Aptos"/>
              </a:rPr>
              <a:t>4</a:t>
            </a:r>
          </a:p>
        </p:txBody>
      </p:sp>
      <p:sp>
        <p:nvSpPr>
          <p:cNvPr id="27" name="TextBox 26"/>
          <p:cNvSpPr txBox="1"/>
          <p:nvPr/>
        </p:nvSpPr>
        <p:spPr>
          <a:xfrm>
            <a:off x="5550408" y="2176272"/>
            <a:ext cx="1097280" cy="228600"/>
          </a:xfrm>
          <a:prstGeom prst="rect">
            <a:avLst/>
          </a:prstGeom>
          <a:noFill/>
        </p:spPr>
        <p:txBody>
          <a:bodyPr wrap="none" lIns="36576" rIns="36576" tIns="36576" bIns="36576" anchor="t">
            <a:spAutoFit/>
          </a:bodyPr>
          <a:lstStyle/>
          <a:p>
            <a:pPr algn="ctr"/>
            <a:r>
              <a:rPr sz="900" b="1">
                <a:solidFill>
                  <a:srgbClr val="F5B942"/>
                </a:solidFill>
                <a:latin typeface="Aptos"/>
              </a:rPr>
              <a:t>TEACHER</a:t>
            </a:r>
          </a:p>
        </p:txBody>
      </p:sp>
      <p:sp>
        <p:nvSpPr>
          <p:cNvPr id="28" name="TextBox 27"/>
          <p:cNvSpPr txBox="1"/>
          <p:nvPr/>
        </p:nvSpPr>
        <p:spPr>
          <a:xfrm>
            <a:off x="5550408" y="2633472"/>
            <a:ext cx="1097280" cy="566928"/>
          </a:xfrm>
          <a:prstGeom prst="rect">
            <a:avLst/>
          </a:prstGeom>
          <a:noFill/>
        </p:spPr>
        <p:txBody>
          <a:bodyPr wrap="none" lIns="36576" rIns="36576" tIns="36576" bIns="36576" anchor="t">
            <a:spAutoFit/>
          </a:bodyPr>
          <a:lstStyle/>
          <a:p>
            <a:pPr algn="ctr"/>
            <a:r>
              <a:rPr sz="1100" b="1">
                <a:solidFill>
                  <a:srgbClr val="14254A"/>
                </a:solidFill>
                <a:latin typeface="Aptos"/>
              </a:rPr>
              <a:t>Bài học · bài tập · quiz</a:t>
            </a:r>
          </a:p>
        </p:txBody>
      </p:sp>
      <p:sp>
        <p:nvSpPr>
          <p:cNvPr id="29" name="Right Arrow 28"/>
          <p:cNvSpPr/>
          <p:nvPr/>
        </p:nvSpPr>
        <p:spPr>
          <a:xfrm>
            <a:off x="6821424" y="2633472"/>
            <a:ext cx="228600" cy="320040"/>
          </a:xfrm>
          <a:prstGeom prst="rightArrow">
            <a:avLst/>
          </a:prstGeom>
          <a:solidFill>
            <a:srgbClr val="C5C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Rounded Rectangle 29"/>
          <p:cNvSpPr/>
          <p:nvPr/>
        </p:nvSpPr>
        <p:spPr>
          <a:xfrm>
            <a:off x="7068312" y="1874519"/>
            <a:ext cx="1389888" cy="1874519"/>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Rounded Rectangle 30"/>
          <p:cNvSpPr/>
          <p:nvPr/>
        </p:nvSpPr>
        <p:spPr>
          <a:xfrm>
            <a:off x="7498080" y="1591056"/>
            <a:ext cx="530352" cy="530352"/>
          </a:xfrm>
          <a:prstGeom prst="roundRect">
            <a:avLst/>
          </a:prstGeom>
          <a:solidFill>
            <a:srgbClr val="1F9D73"/>
          </a:solidFill>
          <a:ln>
            <a:solidFill>
              <a:srgbClr val="1F9D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7498080" y="1719072"/>
            <a:ext cx="530352" cy="201168"/>
          </a:xfrm>
          <a:prstGeom prst="rect">
            <a:avLst/>
          </a:prstGeom>
          <a:noFill/>
        </p:spPr>
        <p:txBody>
          <a:bodyPr wrap="none" lIns="36576" rIns="36576" tIns="36576" bIns="36576" anchor="t">
            <a:spAutoFit/>
          </a:bodyPr>
          <a:lstStyle/>
          <a:p>
            <a:pPr algn="ctr"/>
            <a:r>
              <a:rPr sz="1200" b="1">
                <a:solidFill>
                  <a:srgbClr val="FFFFFF"/>
                </a:solidFill>
                <a:latin typeface="Aptos"/>
              </a:rPr>
              <a:t>5</a:t>
            </a:r>
          </a:p>
        </p:txBody>
      </p:sp>
      <p:sp>
        <p:nvSpPr>
          <p:cNvPr id="33" name="TextBox 32"/>
          <p:cNvSpPr txBox="1"/>
          <p:nvPr/>
        </p:nvSpPr>
        <p:spPr>
          <a:xfrm>
            <a:off x="7214616" y="2176272"/>
            <a:ext cx="1097280" cy="228600"/>
          </a:xfrm>
          <a:prstGeom prst="rect">
            <a:avLst/>
          </a:prstGeom>
          <a:noFill/>
        </p:spPr>
        <p:txBody>
          <a:bodyPr wrap="none" lIns="36576" rIns="36576" tIns="36576" bIns="36576" anchor="t">
            <a:spAutoFit/>
          </a:bodyPr>
          <a:lstStyle/>
          <a:p>
            <a:pPr algn="ctr"/>
            <a:r>
              <a:rPr sz="900" b="1">
                <a:solidFill>
                  <a:srgbClr val="1F9D73"/>
                </a:solidFill>
                <a:latin typeface="Aptos"/>
              </a:rPr>
              <a:t>STUDENT</a:t>
            </a:r>
          </a:p>
        </p:txBody>
      </p:sp>
      <p:sp>
        <p:nvSpPr>
          <p:cNvPr id="34" name="TextBox 33"/>
          <p:cNvSpPr txBox="1"/>
          <p:nvPr/>
        </p:nvSpPr>
        <p:spPr>
          <a:xfrm>
            <a:off x="7214616" y="2633472"/>
            <a:ext cx="1097280" cy="566928"/>
          </a:xfrm>
          <a:prstGeom prst="rect">
            <a:avLst/>
          </a:prstGeom>
          <a:noFill/>
        </p:spPr>
        <p:txBody>
          <a:bodyPr wrap="none" lIns="36576" rIns="36576" tIns="36576" bIns="36576" anchor="t">
            <a:spAutoFit/>
          </a:bodyPr>
          <a:lstStyle/>
          <a:p>
            <a:pPr algn="ctr"/>
            <a:r>
              <a:rPr sz="1100" b="1">
                <a:solidFill>
                  <a:srgbClr val="14254A"/>
                </a:solidFill>
                <a:latin typeface="Aptos"/>
              </a:rPr>
              <a:t>Học · nộp · hoàn thành</a:t>
            </a:r>
          </a:p>
        </p:txBody>
      </p:sp>
      <p:sp>
        <p:nvSpPr>
          <p:cNvPr id="35" name="Right Arrow 34"/>
          <p:cNvSpPr/>
          <p:nvPr/>
        </p:nvSpPr>
        <p:spPr>
          <a:xfrm>
            <a:off x="8485632" y="2633472"/>
            <a:ext cx="228600" cy="320040"/>
          </a:xfrm>
          <a:prstGeom prst="rightArrow">
            <a:avLst/>
          </a:prstGeom>
          <a:solidFill>
            <a:srgbClr val="C5C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Rounded Rectangle 35"/>
          <p:cNvSpPr/>
          <p:nvPr/>
        </p:nvSpPr>
        <p:spPr>
          <a:xfrm>
            <a:off x="8732519" y="1874519"/>
            <a:ext cx="1389888" cy="1874519"/>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Rounded Rectangle 36"/>
          <p:cNvSpPr/>
          <p:nvPr/>
        </p:nvSpPr>
        <p:spPr>
          <a:xfrm>
            <a:off x="9162288" y="1591056"/>
            <a:ext cx="530352" cy="530352"/>
          </a:xfrm>
          <a:prstGeom prst="round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62288" y="1719072"/>
            <a:ext cx="530352" cy="201168"/>
          </a:xfrm>
          <a:prstGeom prst="rect">
            <a:avLst/>
          </a:prstGeom>
          <a:noFill/>
        </p:spPr>
        <p:txBody>
          <a:bodyPr wrap="none" lIns="36576" rIns="36576" tIns="36576" bIns="36576" anchor="t">
            <a:spAutoFit/>
          </a:bodyPr>
          <a:lstStyle/>
          <a:p>
            <a:pPr algn="ctr"/>
            <a:r>
              <a:rPr sz="1200" b="1">
                <a:solidFill>
                  <a:srgbClr val="FFFFFF"/>
                </a:solidFill>
                <a:latin typeface="Aptos"/>
              </a:rPr>
              <a:t>6</a:t>
            </a:r>
          </a:p>
        </p:txBody>
      </p:sp>
      <p:sp>
        <p:nvSpPr>
          <p:cNvPr id="39" name="TextBox 38"/>
          <p:cNvSpPr txBox="1"/>
          <p:nvPr/>
        </p:nvSpPr>
        <p:spPr>
          <a:xfrm>
            <a:off x="8878824" y="2176272"/>
            <a:ext cx="1097280" cy="228600"/>
          </a:xfrm>
          <a:prstGeom prst="rect">
            <a:avLst/>
          </a:prstGeom>
          <a:noFill/>
        </p:spPr>
        <p:txBody>
          <a:bodyPr wrap="none" lIns="36576" rIns="36576" tIns="36576" bIns="36576" anchor="t">
            <a:spAutoFit/>
          </a:bodyPr>
          <a:lstStyle/>
          <a:p>
            <a:pPr algn="ctr"/>
            <a:r>
              <a:rPr sz="900" b="1">
                <a:solidFill>
                  <a:srgbClr val="F5B942"/>
                </a:solidFill>
                <a:latin typeface="Aptos"/>
              </a:rPr>
              <a:t>TEACHER</a:t>
            </a:r>
          </a:p>
        </p:txBody>
      </p:sp>
      <p:sp>
        <p:nvSpPr>
          <p:cNvPr id="40" name="TextBox 39"/>
          <p:cNvSpPr txBox="1"/>
          <p:nvPr/>
        </p:nvSpPr>
        <p:spPr>
          <a:xfrm>
            <a:off x="8878824" y="2633472"/>
            <a:ext cx="1097280" cy="566928"/>
          </a:xfrm>
          <a:prstGeom prst="rect">
            <a:avLst/>
          </a:prstGeom>
          <a:noFill/>
        </p:spPr>
        <p:txBody>
          <a:bodyPr wrap="none" lIns="36576" rIns="36576" tIns="36576" bIns="36576" anchor="t">
            <a:spAutoFit/>
          </a:bodyPr>
          <a:lstStyle/>
          <a:p>
            <a:pPr algn="ctr"/>
            <a:r>
              <a:rPr sz="1100" b="1">
                <a:solidFill>
                  <a:srgbClr val="14254A"/>
                </a:solidFill>
                <a:latin typeface="Aptos"/>
              </a:rPr>
              <a:t>Chấm &amp; phản hồi</a:t>
            </a:r>
          </a:p>
        </p:txBody>
      </p:sp>
      <p:sp>
        <p:nvSpPr>
          <p:cNvPr id="41" name="Right Arrow 40"/>
          <p:cNvSpPr/>
          <p:nvPr/>
        </p:nvSpPr>
        <p:spPr>
          <a:xfrm>
            <a:off x="10149840" y="2633472"/>
            <a:ext cx="228600" cy="320040"/>
          </a:xfrm>
          <a:prstGeom prst="rightArrow">
            <a:avLst/>
          </a:prstGeom>
          <a:solidFill>
            <a:srgbClr val="C5CFE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Rounded Rectangle 41"/>
          <p:cNvSpPr/>
          <p:nvPr/>
        </p:nvSpPr>
        <p:spPr>
          <a:xfrm>
            <a:off x="10396728" y="1874519"/>
            <a:ext cx="1389888" cy="1874519"/>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Rounded Rectangle 42"/>
          <p:cNvSpPr/>
          <p:nvPr/>
        </p:nvSpPr>
        <p:spPr>
          <a:xfrm>
            <a:off x="10826496" y="1591056"/>
            <a:ext cx="530352" cy="530352"/>
          </a:xfrm>
          <a:prstGeom prst="roundRect">
            <a:avLst/>
          </a:prstGeom>
          <a:solidFill>
            <a:srgbClr val="3EC6E0"/>
          </a:solidFill>
          <a:ln>
            <a:solidFill>
              <a:srgbClr val="3EC6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10826496" y="1719072"/>
            <a:ext cx="530352" cy="201168"/>
          </a:xfrm>
          <a:prstGeom prst="rect">
            <a:avLst/>
          </a:prstGeom>
          <a:noFill/>
        </p:spPr>
        <p:txBody>
          <a:bodyPr wrap="none" lIns="36576" rIns="36576" tIns="36576" bIns="36576" anchor="t">
            <a:spAutoFit/>
          </a:bodyPr>
          <a:lstStyle/>
          <a:p>
            <a:pPr algn="ctr"/>
            <a:r>
              <a:rPr sz="1200" b="1">
                <a:solidFill>
                  <a:srgbClr val="FFFFFF"/>
                </a:solidFill>
                <a:latin typeface="Aptos"/>
              </a:rPr>
              <a:t>7</a:t>
            </a:r>
          </a:p>
        </p:txBody>
      </p:sp>
      <p:sp>
        <p:nvSpPr>
          <p:cNvPr id="45" name="TextBox 44"/>
          <p:cNvSpPr txBox="1"/>
          <p:nvPr/>
        </p:nvSpPr>
        <p:spPr>
          <a:xfrm>
            <a:off x="10543032" y="2176272"/>
            <a:ext cx="1097280" cy="228600"/>
          </a:xfrm>
          <a:prstGeom prst="rect">
            <a:avLst/>
          </a:prstGeom>
          <a:noFill/>
        </p:spPr>
        <p:txBody>
          <a:bodyPr wrap="none" lIns="36576" rIns="36576" tIns="36576" bIns="36576" anchor="t">
            <a:spAutoFit/>
          </a:bodyPr>
          <a:lstStyle/>
          <a:p>
            <a:pPr algn="ctr"/>
            <a:r>
              <a:rPr sz="900" b="1">
                <a:solidFill>
                  <a:srgbClr val="3EC6E0"/>
                </a:solidFill>
                <a:latin typeface="Aptos"/>
              </a:rPr>
              <a:t>STAFF</a:t>
            </a:r>
          </a:p>
        </p:txBody>
      </p:sp>
      <p:sp>
        <p:nvSpPr>
          <p:cNvPr id="46" name="TextBox 45"/>
          <p:cNvSpPr txBox="1"/>
          <p:nvPr/>
        </p:nvSpPr>
        <p:spPr>
          <a:xfrm>
            <a:off x="10543032" y="2633472"/>
            <a:ext cx="1097280" cy="566928"/>
          </a:xfrm>
          <a:prstGeom prst="rect">
            <a:avLst/>
          </a:prstGeom>
          <a:noFill/>
        </p:spPr>
        <p:txBody>
          <a:bodyPr wrap="none" lIns="36576" rIns="36576" tIns="36576" bIns="36576" anchor="t">
            <a:spAutoFit/>
          </a:bodyPr>
          <a:lstStyle/>
          <a:p>
            <a:pPr algn="ctr"/>
            <a:r>
              <a:rPr sz="1100" b="1">
                <a:solidFill>
                  <a:srgbClr val="14254A"/>
                </a:solidFill>
                <a:latin typeface="Aptos"/>
              </a:rPr>
              <a:t>Theo dõi báo cáo</a:t>
            </a:r>
          </a:p>
        </p:txBody>
      </p:sp>
      <p:sp>
        <p:nvSpPr>
          <p:cNvPr id="47" name="Rounded Rectangle 46"/>
          <p:cNvSpPr/>
          <p:nvPr/>
        </p:nvSpPr>
        <p:spPr>
          <a:xfrm>
            <a:off x="594360" y="4325112"/>
            <a:ext cx="11018520" cy="1325880"/>
          </a:xfrm>
          <a:prstGeom prst="roundRect">
            <a:avLst/>
          </a:prstGeom>
          <a:solidFill>
            <a:srgbClr val="14254A"/>
          </a:solidFill>
          <a:ln>
            <a:solidFill>
              <a:srgbClr val="142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8" name="TextBox 47"/>
          <p:cNvSpPr txBox="1"/>
          <p:nvPr/>
        </p:nvSpPr>
        <p:spPr>
          <a:xfrm>
            <a:off x="868680" y="4562856"/>
            <a:ext cx="1920240" cy="274320"/>
          </a:xfrm>
          <a:prstGeom prst="rect">
            <a:avLst/>
          </a:prstGeom>
          <a:noFill/>
        </p:spPr>
        <p:txBody>
          <a:bodyPr wrap="none" lIns="36576" rIns="36576" tIns="36576" bIns="36576" anchor="t">
            <a:spAutoFit/>
          </a:bodyPr>
          <a:lstStyle/>
          <a:p>
            <a:pPr algn="l"/>
            <a:r>
              <a:rPr sz="1000" b="1">
                <a:solidFill>
                  <a:srgbClr val="3EC6E0"/>
                </a:solidFill>
                <a:latin typeface="Aptos"/>
              </a:rPr>
              <a:t>RÀNG BUỘC TỰ ĐỘNG</a:t>
            </a:r>
          </a:p>
        </p:txBody>
      </p:sp>
      <p:sp>
        <p:nvSpPr>
          <p:cNvPr id="49" name="TextBox 48"/>
          <p:cNvSpPr txBox="1"/>
          <p:nvPr/>
        </p:nvSpPr>
        <p:spPr>
          <a:xfrm>
            <a:off x="868680" y="4965192"/>
            <a:ext cx="10195560" cy="329184"/>
          </a:xfrm>
          <a:prstGeom prst="rect">
            <a:avLst/>
          </a:prstGeom>
          <a:noFill/>
        </p:spPr>
        <p:txBody>
          <a:bodyPr wrap="none" lIns="36576" rIns="36576" tIns="36576" bIns="36576" anchor="t">
            <a:spAutoFit/>
          </a:bodyPr>
          <a:lstStyle/>
          <a:p>
            <a:pPr algn="ctr"/>
            <a:r>
              <a:rPr sz="1500" b="1">
                <a:solidFill>
                  <a:srgbClr val="FFFFFF"/>
                </a:solidFill>
                <a:latin typeface="Aptos"/>
              </a:rPr>
              <a:t>Đúng đề cương  ·  Không trùng lịch  ·  Không vượt sĩ số  ·  Đúng phạm vi dữ liệu  ·  Giữ lịch sử</a:t>
            </a:r>
          </a:p>
        </p:txBody>
      </p:sp>
      <p:cxnSp>
        <p:nvCxnSpPr>
          <p:cNvPr id="50" name="Connector 49"/>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clrMapOvr>
    <a:masterClrMapping/>
  </p:clrMapOvr>
  <p:transition spd="med">
    <p:push dir="l"/>
  </p:transition>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08 · LMS / LCMS</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Học liệu và ngân hàng câu hỏi có vòng đời</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Tài nguyên được tái sử dụng, có nguồn và phải qua kiểm duyệt.</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09</a:t>
            </a:r>
          </a:p>
        </p:txBody>
      </p:sp>
      <p:sp>
        <p:nvSpPr>
          <p:cNvPr id="7" name="Rounded Rectangle 6"/>
          <p:cNvSpPr/>
          <p:nvPr/>
        </p:nvSpPr>
        <p:spPr>
          <a:xfrm>
            <a:off x="576072" y="1554480"/>
            <a:ext cx="5477256" cy="3465576"/>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3-teacher-resources.png"/>
          <p:cNvPicPr>
            <a:picLocks noChangeAspect="1"/>
          </p:cNvPicPr>
          <p:nvPr/>
        </p:nvPicPr>
        <p:blipFill>
          <a:blip r:embed="rId2"/>
          <a:srcRect l="417" r="417"/>
          <a:stretch>
            <a:fillRect/>
          </a:stretch>
        </p:blipFill>
        <p:spPr>
          <a:xfrm>
            <a:off x="594360" y="1572768"/>
            <a:ext cx="5440680" cy="3429000"/>
          </a:xfrm>
          <a:prstGeom prst="rect">
            <a:avLst/>
          </a:prstGeom>
        </p:spPr>
      </p:pic>
      <p:sp>
        <p:nvSpPr>
          <p:cNvPr id="9" name="Rounded Rectangle 8"/>
          <p:cNvSpPr/>
          <p:nvPr/>
        </p:nvSpPr>
        <p:spPr>
          <a:xfrm>
            <a:off x="6181344" y="1554480"/>
            <a:ext cx="5431536" cy="3465576"/>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04-ai-question-bank.png"/>
          <p:cNvPicPr>
            <a:picLocks noChangeAspect="1"/>
          </p:cNvPicPr>
          <p:nvPr/>
        </p:nvPicPr>
        <p:blipFill>
          <a:blip r:embed="rId3"/>
          <a:srcRect l="833" r="833"/>
          <a:stretch>
            <a:fillRect/>
          </a:stretch>
        </p:blipFill>
        <p:spPr>
          <a:xfrm>
            <a:off x="6199632" y="1572768"/>
            <a:ext cx="5394960" cy="3429000"/>
          </a:xfrm>
          <a:prstGeom prst="rect">
            <a:avLst/>
          </a:prstGeom>
        </p:spPr>
      </p:pic>
      <p:sp>
        <p:nvSpPr>
          <p:cNvPr id="10" name="TextBox 9"/>
          <p:cNvSpPr txBox="1"/>
          <p:nvPr/>
        </p:nvSpPr>
        <p:spPr>
          <a:xfrm>
            <a:off x="749808" y="5239512"/>
            <a:ext cx="2743200" cy="256032"/>
          </a:xfrm>
          <a:prstGeom prst="rect">
            <a:avLst/>
          </a:prstGeom>
          <a:noFill/>
        </p:spPr>
        <p:txBody>
          <a:bodyPr wrap="none" lIns="36576" rIns="36576" tIns="36576" bIns="36576" anchor="t">
            <a:spAutoFit/>
          </a:bodyPr>
          <a:lstStyle/>
          <a:p>
            <a:pPr algn="l"/>
            <a:r>
              <a:rPr sz="1100" b="1">
                <a:solidFill>
                  <a:srgbClr val="2F5BEA"/>
                </a:solidFill>
                <a:latin typeface="Aptos"/>
              </a:rPr>
              <a:t>KHO HỌC LIỆU</a:t>
            </a:r>
          </a:p>
        </p:txBody>
      </p:sp>
      <p:sp>
        <p:nvSpPr>
          <p:cNvPr id="11" name="TextBox 10"/>
          <p:cNvSpPr txBox="1"/>
          <p:nvPr/>
        </p:nvSpPr>
        <p:spPr>
          <a:xfrm>
            <a:off x="749808" y="5596128"/>
            <a:ext cx="4800600" cy="274320"/>
          </a:xfrm>
          <a:prstGeom prst="rect">
            <a:avLst/>
          </a:prstGeom>
          <a:noFill/>
        </p:spPr>
        <p:txBody>
          <a:bodyPr wrap="none" lIns="36576" rIns="36576" tIns="36576" bIns="36576" anchor="t">
            <a:spAutoFit/>
          </a:bodyPr>
          <a:lstStyle/>
          <a:p>
            <a:pPr algn="l"/>
            <a:r>
              <a:rPr sz="1000" b="0">
                <a:solidFill>
                  <a:srgbClr val="64708A"/>
                </a:solidFill>
                <a:latin typeface="Aptos"/>
              </a:rPr>
              <a:t>Nhiều môn · SHA-256 chống trùng · version · license</a:t>
            </a:r>
          </a:p>
        </p:txBody>
      </p:sp>
      <p:sp>
        <p:nvSpPr>
          <p:cNvPr id="12" name="TextBox 11"/>
          <p:cNvSpPr txBox="1"/>
          <p:nvPr/>
        </p:nvSpPr>
        <p:spPr>
          <a:xfrm>
            <a:off x="6355080" y="5239512"/>
            <a:ext cx="2743200" cy="256032"/>
          </a:xfrm>
          <a:prstGeom prst="rect">
            <a:avLst/>
          </a:prstGeom>
          <a:noFill/>
        </p:spPr>
        <p:txBody>
          <a:bodyPr wrap="none" lIns="36576" rIns="36576" tIns="36576" bIns="36576" anchor="t">
            <a:spAutoFit/>
          </a:bodyPr>
          <a:lstStyle/>
          <a:p>
            <a:pPr algn="l"/>
            <a:r>
              <a:rPr sz="1100" b="1">
                <a:solidFill>
                  <a:srgbClr val="2F5BEA"/>
                </a:solidFill>
                <a:latin typeface="Aptos"/>
              </a:rPr>
              <a:t>NGÂN HÀNG CÂU HỎI</a:t>
            </a:r>
          </a:p>
        </p:txBody>
      </p:sp>
      <p:sp>
        <p:nvSpPr>
          <p:cNvPr id="13" name="TextBox 12"/>
          <p:cNvSpPr txBox="1"/>
          <p:nvPr/>
        </p:nvSpPr>
        <p:spPr>
          <a:xfrm>
            <a:off x="6355080" y="5596128"/>
            <a:ext cx="4800600" cy="274320"/>
          </a:xfrm>
          <a:prstGeom prst="rect">
            <a:avLst/>
          </a:prstGeom>
          <a:noFill/>
        </p:spPr>
        <p:txBody>
          <a:bodyPr wrap="none" lIns="36576" rIns="36576" tIns="36576" bIns="36576" anchor="t">
            <a:spAutoFit/>
          </a:bodyPr>
          <a:lstStyle/>
          <a:p>
            <a:pPr algn="l"/>
            <a:r>
              <a:rPr sz="1000" b="0">
                <a:solidFill>
                  <a:srgbClr val="64708A"/>
                </a:solidFill>
                <a:latin typeface="Aptos"/>
              </a:rPr>
              <a:t>Draft → Pending → Approved → Published</a:t>
            </a:r>
          </a:p>
        </p:txBody>
      </p:sp>
      <p:cxnSp>
        <p:nvCxnSpPr>
          <p:cNvPr id="14" name="Connector 13"/>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clrMapOvr>
    <a:masterClrMapping/>
  </p:clrMapOvr>
  <p:transition spd="med">
    <p:wipe dir="r"/>
  </p:transition>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09 · OPENAI</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AI tạo nháp — con người quyết định</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Responses API + Structured Outputs + review bắt buộc.</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10</a:t>
            </a:r>
          </a:p>
        </p:txBody>
      </p:sp>
      <p:sp>
        <p:nvSpPr>
          <p:cNvPr id="7" name="Rounded Rectangle 6"/>
          <p:cNvSpPr/>
          <p:nvPr/>
        </p:nvSpPr>
        <p:spPr>
          <a:xfrm>
            <a:off x="576072" y="1536192"/>
            <a:ext cx="4791456" cy="4306824"/>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05-ai-draft-form.png"/>
          <p:cNvPicPr>
            <a:picLocks noChangeAspect="1"/>
          </p:cNvPicPr>
          <p:nvPr/>
        </p:nvPicPr>
        <p:blipFill>
          <a:blip r:embed="rId2"/>
          <a:srcRect t="8066" b="8066"/>
          <a:stretch>
            <a:fillRect/>
          </a:stretch>
        </p:blipFill>
        <p:spPr>
          <a:xfrm>
            <a:off x="594360" y="1554480"/>
            <a:ext cx="4754880" cy="4270248"/>
          </a:xfrm>
          <a:prstGeom prst="rect">
            <a:avLst/>
          </a:prstGeom>
        </p:spPr>
      </p:pic>
      <p:sp>
        <p:nvSpPr>
          <p:cNvPr id="8" name="Rounded Rectangle 7"/>
          <p:cNvSpPr/>
          <p:nvPr/>
        </p:nvSpPr>
        <p:spPr>
          <a:xfrm>
            <a:off x="5715000" y="1554480"/>
            <a:ext cx="5577840" cy="841248"/>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5925312" y="1810512"/>
            <a:ext cx="530352" cy="310896"/>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5998464" y="1860804"/>
            <a:ext cx="384047" cy="201168"/>
          </a:xfrm>
          <a:prstGeom prst="rect">
            <a:avLst/>
          </a:prstGeom>
          <a:noFill/>
        </p:spPr>
        <p:txBody>
          <a:bodyPr wrap="none" lIns="36576" rIns="36576" tIns="36576" bIns="36576" anchor="t">
            <a:spAutoFit/>
          </a:bodyPr>
          <a:lstStyle/>
          <a:p>
            <a:pPr algn="ctr"/>
            <a:r>
              <a:rPr sz="900" b="1">
                <a:solidFill>
                  <a:srgbClr val="FFFFFF"/>
                </a:solidFill>
                <a:latin typeface="Aptos"/>
              </a:rPr>
              <a:t>01</a:t>
            </a:r>
          </a:p>
        </p:txBody>
      </p:sp>
      <p:sp>
        <p:nvSpPr>
          <p:cNvPr id="11" name="TextBox 10"/>
          <p:cNvSpPr txBox="1"/>
          <p:nvPr/>
        </p:nvSpPr>
        <p:spPr>
          <a:xfrm>
            <a:off x="6656832" y="1719072"/>
            <a:ext cx="2103120" cy="256032"/>
          </a:xfrm>
          <a:prstGeom prst="rect">
            <a:avLst/>
          </a:prstGeom>
          <a:noFill/>
        </p:spPr>
        <p:txBody>
          <a:bodyPr wrap="none" lIns="36576" rIns="36576" tIns="36576" bIns="36576" anchor="t">
            <a:spAutoFit/>
          </a:bodyPr>
          <a:lstStyle/>
          <a:p>
            <a:pPr algn="l"/>
            <a:r>
              <a:rPr sz="1300" b="1">
                <a:solidFill>
                  <a:srgbClr val="14254A"/>
                </a:solidFill>
                <a:latin typeface="Aptos"/>
              </a:rPr>
              <a:t>Giảng viên nhập</a:t>
            </a:r>
          </a:p>
        </p:txBody>
      </p:sp>
      <p:sp>
        <p:nvSpPr>
          <p:cNvPr id="12" name="TextBox 11"/>
          <p:cNvSpPr txBox="1"/>
          <p:nvPr/>
        </p:nvSpPr>
        <p:spPr>
          <a:xfrm>
            <a:off x="8641080" y="1737360"/>
            <a:ext cx="2331720" cy="347472"/>
          </a:xfrm>
          <a:prstGeom prst="rect">
            <a:avLst/>
          </a:prstGeom>
          <a:noFill/>
        </p:spPr>
        <p:txBody>
          <a:bodyPr wrap="none" lIns="36576" rIns="36576" tIns="36576" bIns="36576" anchor="t">
            <a:spAutoFit/>
          </a:bodyPr>
          <a:lstStyle/>
          <a:p>
            <a:pPr algn="l"/>
            <a:r>
              <a:rPr sz="900" b="0">
                <a:solidFill>
                  <a:srgbClr val="64708A"/>
                </a:solidFill>
                <a:latin typeface="Aptos"/>
              </a:rPr>
              <a:t>Môn · chủ đề · mục tiêu</a:t>
            </a:r>
          </a:p>
        </p:txBody>
      </p:sp>
      <p:cxnSp>
        <p:nvCxnSpPr>
          <p:cNvPr id="13" name="Connector 12"/>
          <p:cNvCxnSpPr/>
          <p:nvPr/>
        </p:nvCxnSpPr>
        <p:spPr>
          <a:xfrm>
            <a:off x="6190488" y="2395728"/>
            <a:ext cx="0" cy="219456"/>
          </a:xfrm>
          <a:prstGeom prst="line">
            <a:avLst/>
          </a:prstGeom>
          <a:ln w="25400">
            <a:solidFill>
              <a:srgbClr val="B8C5E6"/>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5715000" y="2615184"/>
            <a:ext cx="5577840" cy="841248"/>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5925312" y="2871215"/>
            <a:ext cx="530352" cy="310896"/>
          </a:xfrm>
          <a:prstGeom prst="roundRect">
            <a:avLst/>
          </a:prstGeom>
          <a:solidFill>
            <a:srgbClr val="3EC6E0"/>
          </a:solidFill>
          <a:ln>
            <a:solidFill>
              <a:srgbClr val="3EC6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998464" y="2921508"/>
            <a:ext cx="384047" cy="201168"/>
          </a:xfrm>
          <a:prstGeom prst="rect">
            <a:avLst/>
          </a:prstGeom>
          <a:noFill/>
        </p:spPr>
        <p:txBody>
          <a:bodyPr wrap="none" lIns="36576" rIns="36576" tIns="36576" bIns="36576" anchor="t">
            <a:spAutoFit/>
          </a:bodyPr>
          <a:lstStyle/>
          <a:p>
            <a:pPr algn="ctr"/>
            <a:r>
              <a:rPr sz="900" b="1">
                <a:solidFill>
                  <a:srgbClr val="FFFFFF"/>
                </a:solidFill>
                <a:latin typeface="Aptos"/>
              </a:rPr>
              <a:t>02</a:t>
            </a:r>
          </a:p>
        </p:txBody>
      </p:sp>
      <p:sp>
        <p:nvSpPr>
          <p:cNvPr id="17" name="TextBox 16"/>
          <p:cNvSpPr txBox="1"/>
          <p:nvPr/>
        </p:nvSpPr>
        <p:spPr>
          <a:xfrm>
            <a:off x="6656832" y="2779776"/>
            <a:ext cx="2103120" cy="256032"/>
          </a:xfrm>
          <a:prstGeom prst="rect">
            <a:avLst/>
          </a:prstGeom>
          <a:noFill/>
        </p:spPr>
        <p:txBody>
          <a:bodyPr wrap="none" lIns="36576" rIns="36576" tIns="36576" bIns="36576" anchor="t">
            <a:spAutoFit/>
          </a:bodyPr>
          <a:lstStyle/>
          <a:p>
            <a:pPr algn="l"/>
            <a:r>
              <a:rPr sz="1300" b="1">
                <a:solidFill>
                  <a:srgbClr val="14254A"/>
                </a:solidFill>
                <a:latin typeface="Aptos"/>
              </a:rPr>
              <a:t>OpenAI trả JSON</a:t>
            </a:r>
          </a:p>
        </p:txBody>
      </p:sp>
      <p:sp>
        <p:nvSpPr>
          <p:cNvPr id="18" name="TextBox 17"/>
          <p:cNvSpPr txBox="1"/>
          <p:nvPr/>
        </p:nvSpPr>
        <p:spPr>
          <a:xfrm>
            <a:off x="8641080" y="2798064"/>
            <a:ext cx="2331720" cy="347472"/>
          </a:xfrm>
          <a:prstGeom prst="rect">
            <a:avLst/>
          </a:prstGeom>
          <a:noFill/>
        </p:spPr>
        <p:txBody>
          <a:bodyPr wrap="none" lIns="36576" rIns="36576" tIns="36576" bIns="36576" anchor="t">
            <a:spAutoFit/>
          </a:bodyPr>
          <a:lstStyle/>
          <a:p>
            <a:pPr algn="l"/>
            <a:r>
              <a:rPr sz="900" b="0">
                <a:solidFill>
                  <a:srgbClr val="64708A"/>
                </a:solidFill>
                <a:latin typeface="Aptos"/>
              </a:rPr>
              <a:t>Đúng schema 4 lựa chọn</a:t>
            </a:r>
          </a:p>
        </p:txBody>
      </p:sp>
      <p:cxnSp>
        <p:nvCxnSpPr>
          <p:cNvPr id="19" name="Connector 18"/>
          <p:cNvCxnSpPr/>
          <p:nvPr/>
        </p:nvCxnSpPr>
        <p:spPr>
          <a:xfrm>
            <a:off x="6190488" y="3456432"/>
            <a:ext cx="0" cy="219455"/>
          </a:xfrm>
          <a:prstGeom prst="line">
            <a:avLst/>
          </a:prstGeom>
          <a:ln w="25400">
            <a:solidFill>
              <a:srgbClr val="B8C5E6"/>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5715000" y="3675887"/>
            <a:ext cx="5577840" cy="841248"/>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ounded Rectangle 20"/>
          <p:cNvSpPr/>
          <p:nvPr/>
        </p:nvSpPr>
        <p:spPr>
          <a:xfrm>
            <a:off x="5925312" y="3931920"/>
            <a:ext cx="530352" cy="310896"/>
          </a:xfrm>
          <a:prstGeom prst="round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998464" y="3982211"/>
            <a:ext cx="384047" cy="201168"/>
          </a:xfrm>
          <a:prstGeom prst="rect">
            <a:avLst/>
          </a:prstGeom>
          <a:noFill/>
        </p:spPr>
        <p:txBody>
          <a:bodyPr wrap="none" lIns="36576" rIns="36576" tIns="36576" bIns="36576" anchor="t">
            <a:spAutoFit/>
          </a:bodyPr>
          <a:lstStyle/>
          <a:p>
            <a:pPr algn="ctr"/>
            <a:r>
              <a:rPr sz="900" b="1">
                <a:solidFill>
                  <a:srgbClr val="FFFFFF"/>
                </a:solidFill>
                <a:latin typeface="Aptos"/>
              </a:rPr>
              <a:t>03</a:t>
            </a:r>
          </a:p>
        </p:txBody>
      </p:sp>
      <p:sp>
        <p:nvSpPr>
          <p:cNvPr id="23" name="TextBox 22"/>
          <p:cNvSpPr txBox="1"/>
          <p:nvPr/>
        </p:nvSpPr>
        <p:spPr>
          <a:xfrm>
            <a:off x="6656832" y="3840479"/>
            <a:ext cx="2103120" cy="256032"/>
          </a:xfrm>
          <a:prstGeom prst="rect">
            <a:avLst/>
          </a:prstGeom>
          <a:noFill/>
        </p:spPr>
        <p:txBody>
          <a:bodyPr wrap="none" lIns="36576" rIns="36576" tIns="36576" bIns="36576" anchor="t">
            <a:spAutoFit/>
          </a:bodyPr>
          <a:lstStyle/>
          <a:p>
            <a:pPr algn="l"/>
            <a:r>
              <a:rPr sz="1300" b="1">
                <a:solidFill>
                  <a:srgbClr val="14254A"/>
                </a:solidFill>
                <a:latin typeface="Aptos"/>
              </a:rPr>
              <a:t>Lưu Draft + audit</a:t>
            </a:r>
          </a:p>
        </p:txBody>
      </p:sp>
      <p:sp>
        <p:nvSpPr>
          <p:cNvPr id="24" name="TextBox 23"/>
          <p:cNvSpPr txBox="1"/>
          <p:nvPr/>
        </p:nvSpPr>
        <p:spPr>
          <a:xfrm>
            <a:off x="8641080" y="3858768"/>
            <a:ext cx="2331720" cy="347472"/>
          </a:xfrm>
          <a:prstGeom prst="rect">
            <a:avLst/>
          </a:prstGeom>
          <a:noFill/>
        </p:spPr>
        <p:txBody>
          <a:bodyPr wrap="none" lIns="36576" rIns="36576" tIns="36576" bIns="36576" anchor="t">
            <a:spAutoFit/>
          </a:bodyPr>
          <a:lstStyle/>
          <a:p>
            <a:pPr algn="l"/>
            <a:r>
              <a:rPr sz="900" b="0">
                <a:solidFill>
                  <a:srgbClr val="64708A"/>
                </a:solidFill>
                <a:latin typeface="Aptos"/>
              </a:rPr>
              <a:t>Không tự công bố</a:t>
            </a:r>
          </a:p>
        </p:txBody>
      </p:sp>
      <p:cxnSp>
        <p:nvCxnSpPr>
          <p:cNvPr id="25" name="Connector 24"/>
          <p:cNvCxnSpPr/>
          <p:nvPr/>
        </p:nvCxnSpPr>
        <p:spPr>
          <a:xfrm>
            <a:off x="6190488" y="4517136"/>
            <a:ext cx="0" cy="219456"/>
          </a:xfrm>
          <a:prstGeom prst="line">
            <a:avLst/>
          </a:prstGeom>
          <a:ln w="25400">
            <a:solidFill>
              <a:srgbClr val="B8C5E6"/>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5715000" y="4736592"/>
            <a:ext cx="5577840" cy="841248"/>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ounded Rectangle 26"/>
          <p:cNvSpPr/>
          <p:nvPr/>
        </p:nvSpPr>
        <p:spPr>
          <a:xfrm>
            <a:off x="5925312" y="4992624"/>
            <a:ext cx="530352" cy="310896"/>
          </a:xfrm>
          <a:prstGeom prst="roundRect">
            <a:avLst/>
          </a:prstGeom>
          <a:solidFill>
            <a:srgbClr val="1F9D73"/>
          </a:solidFill>
          <a:ln>
            <a:solidFill>
              <a:srgbClr val="1F9D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998464" y="5042916"/>
            <a:ext cx="384047" cy="201168"/>
          </a:xfrm>
          <a:prstGeom prst="rect">
            <a:avLst/>
          </a:prstGeom>
          <a:noFill/>
        </p:spPr>
        <p:txBody>
          <a:bodyPr wrap="none" lIns="36576" rIns="36576" tIns="36576" bIns="36576" anchor="t">
            <a:spAutoFit/>
          </a:bodyPr>
          <a:lstStyle/>
          <a:p>
            <a:pPr algn="ctr"/>
            <a:r>
              <a:rPr sz="900" b="1">
                <a:solidFill>
                  <a:srgbClr val="FFFFFF"/>
                </a:solidFill>
                <a:latin typeface="Aptos"/>
              </a:rPr>
              <a:t>04</a:t>
            </a:r>
          </a:p>
        </p:txBody>
      </p:sp>
      <p:sp>
        <p:nvSpPr>
          <p:cNvPr id="29" name="TextBox 28"/>
          <p:cNvSpPr txBox="1"/>
          <p:nvPr/>
        </p:nvSpPr>
        <p:spPr>
          <a:xfrm>
            <a:off x="6656832" y="4901183"/>
            <a:ext cx="2103120" cy="256032"/>
          </a:xfrm>
          <a:prstGeom prst="rect">
            <a:avLst/>
          </a:prstGeom>
          <a:noFill/>
        </p:spPr>
        <p:txBody>
          <a:bodyPr wrap="none" lIns="36576" rIns="36576" tIns="36576" bIns="36576" anchor="t">
            <a:spAutoFit/>
          </a:bodyPr>
          <a:lstStyle/>
          <a:p>
            <a:pPr algn="l"/>
            <a:r>
              <a:rPr sz="1300" b="1">
                <a:solidFill>
                  <a:srgbClr val="14254A"/>
                </a:solidFill>
                <a:latin typeface="Aptos"/>
              </a:rPr>
              <a:t>Người khác duyệt</a:t>
            </a:r>
          </a:p>
        </p:txBody>
      </p:sp>
      <p:sp>
        <p:nvSpPr>
          <p:cNvPr id="30" name="TextBox 29"/>
          <p:cNvSpPr txBox="1"/>
          <p:nvPr/>
        </p:nvSpPr>
        <p:spPr>
          <a:xfrm>
            <a:off x="8641080" y="4919472"/>
            <a:ext cx="2331720" cy="347472"/>
          </a:xfrm>
          <a:prstGeom prst="rect">
            <a:avLst/>
          </a:prstGeom>
          <a:noFill/>
        </p:spPr>
        <p:txBody>
          <a:bodyPr wrap="none" lIns="36576" rIns="36576" tIns="36576" bIns="36576" anchor="t">
            <a:spAutoFit/>
          </a:bodyPr>
          <a:lstStyle/>
          <a:p>
            <a:pPr algn="l"/>
            <a:r>
              <a:rPr sz="900" b="0">
                <a:solidFill>
                  <a:srgbClr val="64708A"/>
                </a:solidFill>
                <a:latin typeface="Aptos"/>
              </a:rPr>
              <a:t>Tác giả chỉnh sửa/công bố</a:t>
            </a:r>
          </a:p>
        </p:txBody>
      </p:sp>
      <p:sp>
        <p:nvSpPr>
          <p:cNvPr id="31" name="Rounded Rectangle 30"/>
          <p:cNvSpPr/>
          <p:nvPr/>
        </p:nvSpPr>
        <p:spPr>
          <a:xfrm>
            <a:off x="5715000" y="5504688"/>
            <a:ext cx="5577840" cy="502920"/>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5907024" y="5669280"/>
            <a:ext cx="5166360" cy="201168"/>
          </a:xfrm>
          <a:prstGeom prst="rect">
            <a:avLst/>
          </a:prstGeom>
          <a:noFill/>
        </p:spPr>
        <p:txBody>
          <a:bodyPr wrap="none" lIns="36576" rIns="36576" tIns="36576" bIns="36576" anchor="t">
            <a:spAutoFit/>
          </a:bodyPr>
          <a:lstStyle/>
          <a:p>
            <a:pPr algn="ctr"/>
            <a:r>
              <a:rPr sz="1000" b="1">
                <a:solidFill>
                  <a:srgbClr val="14254A"/>
                </a:solidFill>
                <a:latin typeface="Aptos"/>
              </a:rPr>
              <a:t>Không gửi email, hồ sơ hoặc bài làm sinh viên sang OpenAI.</a:t>
            </a:r>
          </a:p>
        </p:txBody>
      </p:sp>
      <p:cxnSp>
        <p:nvCxnSpPr>
          <p:cNvPr id="33" name="Connector 32"/>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clrMapOvr>
    <a:masterClrMapping/>
  </p:clrMapOvr>
  <p:transition spd="med">
    <p:fade/>
  </p:transition>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14254A"/>
        </a:solidFill>
        <a:effectLst/>
      </p:bgPr>
    </p:bg>
    <p:spTree>
      <p:nvGrpSpPr>
        <p:cNvPr id="1" name=""/>
        <p:cNvGrpSpPr/>
        <p:nvPr/>
      </p:nvGrpSpPr>
      <p:grpSpPr/>
      <p:sp>
        <p:nvSpPr>
          <p:cNvPr id="2" name="TextBox 1"/>
          <p:cNvSpPr txBox="1"/>
          <p:nvPr/>
        </p:nvSpPr>
        <p:spPr>
          <a:xfrm>
            <a:off x="594360" y="365760"/>
            <a:ext cx="2743200" cy="256032"/>
          </a:xfrm>
          <a:prstGeom prst="rect">
            <a:avLst/>
          </a:prstGeom>
          <a:noFill/>
        </p:spPr>
        <p:txBody>
          <a:bodyPr wrap="none" lIns="36576" rIns="36576" tIns="36576" bIns="36576" anchor="t">
            <a:spAutoFit/>
          </a:bodyPr>
          <a:lstStyle/>
          <a:p>
            <a:pPr algn="l"/>
            <a:r>
              <a:rPr sz="900" b="1">
                <a:solidFill>
                  <a:srgbClr val="3EC6E0"/>
                </a:solidFill>
                <a:latin typeface="Aptos"/>
              </a:rPr>
              <a:t>CODE WALKTHROUGH</a:t>
            </a:r>
          </a:p>
        </p:txBody>
      </p:sp>
      <p:sp>
        <p:nvSpPr>
          <p:cNvPr id="3" name="TextBox 2"/>
          <p:cNvSpPr txBox="1"/>
          <p:nvPr/>
        </p:nvSpPr>
        <p:spPr>
          <a:xfrm>
            <a:off x="594360" y="749808"/>
            <a:ext cx="7955279" cy="502920"/>
          </a:xfrm>
          <a:prstGeom prst="rect">
            <a:avLst/>
          </a:prstGeom>
          <a:noFill/>
        </p:spPr>
        <p:txBody>
          <a:bodyPr wrap="none" lIns="36576" rIns="36576" tIns="36576" bIns="36576" anchor="t">
            <a:spAutoFit/>
          </a:bodyPr>
          <a:lstStyle/>
          <a:p>
            <a:pPr algn="l"/>
            <a:r>
              <a:rPr sz="2600" b="1">
                <a:solidFill>
                  <a:srgbClr val="FFFFFF"/>
                </a:solidFill>
                <a:latin typeface="Aptos"/>
              </a:rPr>
              <a:t>Structured Outputs thay cho “tin” văn bản AI</a:t>
            </a:r>
          </a:p>
        </p:txBody>
      </p:sp>
      <p:sp>
        <p:nvSpPr>
          <p:cNvPr id="4" name="TextBox 3"/>
          <p:cNvSpPr txBox="1"/>
          <p:nvPr/>
        </p:nvSpPr>
        <p:spPr>
          <a:xfrm>
            <a:off x="612648" y="1298448"/>
            <a:ext cx="6400800" cy="274320"/>
          </a:xfrm>
          <a:prstGeom prst="rect">
            <a:avLst/>
          </a:prstGeom>
          <a:noFill/>
        </p:spPr>
        <p:txBody>
          <a:bodyPr wrap="none" lIns="36576" rIns="36576" tIns="36576" bIns="36576" anchor="t">
            <a:spAutoFit/>
          </a:bodyPr>
          <a:lstStyle/>
          <a:p>
            <a:pPr algn="l"/>
            <a:r>
              <a:rPr sz="1000" b="0">
                <a:solidFill>
                  <a:srgbClr val="B7C5E8"/>
                </a:solidFill>
                <a:latin typeface="Aptos"/>
              </a:rPr>
              <a:t>Đoạn code thật · Services/AiQuestionDraftService.cs</a:t>
            </a:r>
          </a:p>
        </p:txBody>
      </p:sp>
      <p:sp>
        <p:nvSpPr>
          <p:cNvPr id="6" name="Rounded Rectangle 5"/>
          <p:cNvSpPr/>
          <p:nvPr/>
        </p:nvSpPr>
        <p:spPr>
          <a:xfrm>
            <a:off x="576072" y="1746504"/>
            <a:ext cx="7580375" cy="4443984"/>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5" name="Picture 4" descr="code-ai.png"/>
          <p:cNvPicPr>
            <a:picLocks noChangeAspect="1"/>
          </p:cNvPicPr>
          <p:nvPr/>
        </p:nvPicPr>
        <p:blipFill>
          <a:blip r:embed="rId2"/>
          <a:srcRect l="8201" r="8201"/>
          <a:stretch>
            <a:fillRect/>
          </a:stretch>
        </p:blipFill>
        <p:spPr>
          <a:xfrm>
            <a:off x="594360" y="1764792"/>
            <a:ext cx="7543800" cy="4407408"/>
          </a:xfrm>
          <a:prstGeom prst="rect">
            <a:avLst/>
          </a:prstGeom>
        </p:spPr>
      </p:pic>
      <p:sp>
        <p:nvSpPr>
          <p:cNvPr id="7" name="Rounded Rectangle 6"/>
          <p:cNvSpPr/>
          <p:nvPr/>
        </p:nvSpPr>
        <p:spPr>
          <a:xfrm>
            <a:off x="8458200" y="1847088"/>
            <a:ext cx="3127248" cy="1024128"/>
          </a:xfrm>
          <a:prstGeom prst="roundRect">
            <a:avLst/>
          </a:prstGeom>
          <a:solidFill>
            <a:srgbClr val="FFFFFF"/>
          </a:solidFill>
          <a:ln>
            <a:solidFill>
              <a:srgbClr val="E1E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ectangle 7"/>
          <p:cNvSpPr/>
          <p:nvPr/>
        </p:nvSpPr>
        <p:spPr>
          <a:xfrm>
            <a:off x="8458200" y="1847088"/>
            <a:ext cx="73152" cy="1024128"/>
          </a:xfrm>
          <a:prstGeom prst="rect">
            <a:avLst/>
          </a:prstGeom>
          <a:solidFill>
            <a:srgbClr val="3EC6E0"/>
          </a:solidFill>
          <a:ln>
            <a:solidFill>
              <a:srgbClr val="3EC6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677656" y="2029968"/>
            <a:ext cx="2743199" cy="310896"/>
          </a:xfrm>
          <a:prstGeom prst="rect">
            <a:avLst/>
          </a:prstGeom>
          <a:noFill/>
        </p:spPr>
        <p:txBody>
          <a:bodyPr wrap="none" lIns="36576" rIns="36576" tIns="36576" bIns="36576" anchor="t">
            <a:spAutoFit/>
          </a:bodyPr>
          <a:lstStyle/>
          <a:p>
            <a:pPr algn="l"/>
            <a:r>
              <a:rPr sz="1300" b="1">
                <a:solidFill>
                  <a:srgbClr val="14254A"/>
                </a:solidFill>
                <a:latin typeface="Aptos"/>
              </a:rPr>
              <a:t>Schema cố định</a:t>
            </a:r>
          </a:p>
        </p:txBody>
      </p:sp>
      <p:sp>
        <p:nvSpPr>
          <p:cNvPr id="10" name="TextBox 9"/>
          <p:cNvSpPr txBox="1"/>
          <p:nvPr/>
        </p:nvSpPr>
        <p:spPr>
          <a:xfrm>
            <a:off x="8677656" y="2487168"/>
            <a:ext cx="2688336" cy="274320"/>
          </a:xfrm>
          <a:prstGeom prst="rect">
            <a:avLst/>
          </a:prstGeom>
          <a:noFill/>
        </p:spPr>
        <p:txBody>
          <a:bodyPr wrap="none" lIns="36576" rIns="36576" tIns="36576" bIns="36576" anchor="t">
            <a:spAutoFit/>
          </a:bodyPr>
          <a:lstStyle/>
          <a:p>
            <a:pPr algn="l"/>
            <a:r>
              <a:rPr sz="1000" b="0">
                <a:solidFill>
                  <a:srgbClr val="64708A"/>
                </a:solidFill>
                <a:latin typeface="Aptos"/>
              </a:rPr>
              <a:t>content · 4 options · correctOption · explanation</a:t>
            </a:r>
          </a:p>
        </p:txBody>
      </p:sp>
      <p:sp>
        <p:nvSpPr>
          <p:cNvPr id="11" name="Rounded Rectangle 10"/>
          <p:cNvSpPr/>
          <p:nvPr/>
        </p:nvSpPr>
        <p:spPr>
          <a:xfrm>
            <a:off x="8458200" y="3090672"/>
            <a:ext cx="3127248" cy="1024128"/>
          </a:xfrm>
          <a:prstGeom prst="roundRect">
            <a:avLst/>
          </a:prstGeom>
          <a:solidFill>
            <a:srgbClr val="FFFFFF"/>
          </a:solidFill>
          <a:ln>
            <a:solidFill>
              <a:srgbClr val="E1E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ectangle 11"/>
          <p:cNvSpPr/>
          <p:nvPr/>
        </p:nvSpPr>
        <p:spPr>
          <a:xfrm>
            <a:off x="8458200" y="3090672"/>
            <a:ext cx="73152" cy="1024128"/>
          </a:xfrm>
          <a:prstGeom prst="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677656" y="3273552"/>
            <a:ext cx="2743199" cy="310896"/>
          </a:xfrm>
          <a:prstGeom prst="rect">
            <a:avLst/>
          </a:prstGeom>
          <a:noFill/>
        </p:spPr>
        <p:txBody>
          <a:bodyPr wrap="none" lIns="36576" rIns="36576" tIns="36576" bIns="36576" anchor="t">
            <a:spAutoFit/>
          </a:bodyPr>
          <a:lstStyle/>
          <a:p>
            <a:pPr algn="l"/>
            <a:r>
              <a:rPr sz="1300" b="1">
                <a:solidFill>
                  <a:srgbClr val="14254A"/>
                </a:solidFill>
                <a:latin typeface="Aptos"/>
              </a:rPr>
              <a:t>Phòng prompt injection</a:t>
            </a:r>
          </a:p>
        </p:txBody>
      </p:sp>
      <p:sp>
        <p:nvSpPr>
          <p:cNvPr id="14" name="TextBox 13"/>
          <p:cNvSpPr txBox="1"/>
          <p:nvPr/>
        </p:nvSpPr>
        <p:spPr>
          <a:xfrm>
            <a:off x="8677656" y="3730752"/>
            <a:ext cx="2688336" cy="274320"/>
          </a:xfrm>
          <a:prstGeom prst="rect">
            <a:avLst/>
          </a:prstGeom>
          <a:noFill/>
        </p:spPr>
        <p:txBody>
          <a:bodyPr wrap="none" lIns="36576" rIns="36576" tIns="36576" bIns="36576" anchor="t">
            <a:spAutoFit/>
          </a:bodyPr>
          <a:lstStyle/>
          <a:p>
            <a:pPr algn="l"/>
            <a:r>
              <a:rPr sz="1000" b="0">
                <a:solidFill>
                  <a:srgbClr val="64708A"/>
                </a:solidFill>
                <a:latin typeface="Aptos"/>
              </a:rPr>
              <a:t>System instruction coi input người dùng là dữ liệu.</a:t>
            </a:r>
          </a:p>
        </p:txBody>
      </p:sp>
      <p:sp>
        <p:nvSpPr>
          <p:cNvPr id="15" name="Rounded Rectangle 14"/>
          <p:cNvSpPr/>
          <p:nvPr/>
        </p:nvSpPr>
        <p:spPr>
          <a:xfrm>
            <a:off x="8458200" y="4334256"/>
            <a:ext cx="3127248" cy="1024128"/>
          </a:xfrm>
          <a:prstGeom prst="roundRect">
            <a:avLst/>
          </a:prstGeom>
          <a:solidFill>
            <a:srgbClr val="FFFFFF"/>
          </a:solidFill>
          <a:ln>
            <a:solidFill>
              <a:srgbClr val="E1E6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Rectangle 15"/>
          <p:cNvSpPr/>
          <p:nvPr/>
        </p:nvSpPr>
        <p:spPr>
          <a:xfrm>
            <a:off x="8458200" y="4334256"/>
            <a:ext cx="73152" cy="1024128"/>
          </a:xfrm>
          <a:prstGeom prst="rect">
            <a:avLst/>
          </a:prstGeom>
          <a:solidFill>
            <a:srgbClr val="D84A5B"/>
          </a:solidFill>
          <a:ln>
            <a:solidFill>
              <a:srgbClr val="D84A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677656" y="4517136"/>
            <a:ext cx="2743199" cy="310896"/>
          </a:xfrm>
          <a:prstGeom prst="rect">
            <a:avLst/>
          </a:prstGeom>
          <a:noFill/>
        </p:spPr>
        <p:txBody>
          <a:bodyPr wrap="none" lIns="36576" rIns="36576" tIns="36576" bIns="36576" anchor="t">
            <a:spAutoFit/>
          </a:bodyPr>
          <a:lstStyle/>
          <a:p>
            <a:pPr algn="l"/>
            <a:r>
              <a:rPr sz="1300" b="1">
                <a:solidFill>
                  <a:srgbClr val="14254A"/>
                </a:solidFill>
                <a:latin typeface="Aptos"/>
              </a:rPr>
              <a:t>Fail closed</a:t>
            </a:r>
          </a:p>
        </p:txBody>
      </p:sp>
      <p:sp>
        <p:nvSpPr>
          <p:cNvPr id="18" name="TextBox 17"/>
          <p:cNvSpPr txBox="1"/>
          <p:nvPr/>
        </p:nvSpPr>
        <p:spPr>
          <a:xfrm>
            <a:off x="8677656" y="4974336"/>
            <a:ext cx="2688336" cy="274320"/>
          </a:xfrm>
          <a:prstGeom prst="rect">
            <a:avLst/>
          </a:prstGeom>
          <a:noFill/>
        </p:spPr>
        <p:txBody>
          <a:bodyPr wrap="none" lIns="36576" rIns="36576" tIns="36576" bIns="36576" anchor="t">
            <a:spAutoFit/>
          </a:bodyPr>
          <a:lstStyle/>
          <a:p>
            <a:pPr algn="l"/>
            <a:r>
              <a:rPr sz="1000" b="0">
                <a:solidFill>
                  <a:srgbClr val="64708A"/>
                </a:solidFill>
                <a:latin typeface="Aptos"/>
              </a:rPr>
              <a:t>Sai cấu trúc, timeout hoặc lỗi provider → không tạo bản ghi.</a:t>
            </a:r>
          </a:p>
        </p:txBody>
      </p:sp>
      <p:sp>
        <p:nvSpPr>
          <p:cNvPr id="19" name="TextBox 18"/>
          <p:cNvSpPr txBox="1"/>
          <p:nvPr/>
        </p:nvSpPr>
        <p:spPr>
          <a:xfrm>
            <a:off x="8622792" y="5650992"/>
            <a:ext cx="2788920" cy="274320"/>
          </a:xfrm>
          <a:prstGeom prst="rect">
            <a:avLst/>
          </a:prstGeom>
          <a:noFill/>
        </p:spPr>
        <p:txBody>
          <a:bodyPr wrap="none" lIns="36576" rIns="36576" tIns="36576" bIns="36576" anchor="t">
            <a:spAutoFit/>
          </a:bodyPr>
          <a:lstStyle/>
          <a:p>
            <a:pPr algn="ctr"/>
            <a:r>
              <a:rPr sz="1600" b="1">
                <a:solidFill>
                  <a:srgbClr val="FFFFFF"/>
                </a:solidFill>
                <a:latin typeface="Aptos"/>
              </a:rPr>
              <a:t>AI chỉ tạo Draft</a:t>
            </a:r>
          </a:p>
        </p:txBody>
      </p:sp>
    </p:spTree>
  </p:cSld>
  <p:clrMapOvr>
    <a:masterClrMapping/>
  </p:clrMapOvr>
  <p:transition spd="med">
    <p:push dir="l"/>
  </p:transition>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10 · BẢO MẬT</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Defense in depth — không phụ thuộc một lớp</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Mỗi request đi qua nhiều kiểm soát độc lập.</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12</a:t>
            </a:r>
          </a:p>
        </p:txBody>
      </p:sp>
      <p:sp>
        <p:nvSpPr>
          <p:cNvPr id="6" name="Rounded Rectangle 5"/>
          <p:cNvSpPr/>
          <p:nvPr/>
        </p:nvSpPr>
        <p:spPr>
          <a:xfrm>
            <a:off x="722376" y="1572768"/>
            <a:ext cx="10744200" cy="658368"/>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905256" y="1755648"/>
            <a:ext cx="365760" cy="201168"/>
          </a:xfrm>
          <a:prstGeom prst="rect">
            <a:avLst/>
          </a:prstGeom>
          <a:noFill/>
        </p:spPr>
        <p:txBody>
          <a:bodyPr wrap="none" lIns="36576" rIns="36576" tIns="36576" bIns="36576" anchor="t">
            <a:spAutoFit/>
          </a:bodyPr>
          <a:lstStyle/>
          <a:p>
            <a:pPr algn="l"/>
            <a:r>
              <a:rPr sz="1100" b="1">
                <a:solidFill>
                  <a:srgbClr val="FFFFFF"/>
                </a:solidFill>
                <a:latin typeface="Aptos"/>
              </a:rPr>
              <a:t>1</a:t>
            </a:r>
          </a:p>
        </p:txBody>
      </p:sp>
      <p:sp>
        <p:nvSpPr>
          <p:cNvPr id="8" name="TextBox 7"/>
          <p:cNvSpPr txBox="1"/>
          <p:nvPr/>
        </p:nvSpPr>
        <p:spPr>
          <a:xfrm>
            <a:off x="1380744" y="1728216"/>
            <a:ext cx="1874519" cy="228600"/>
          </a:xfrm>
          <a:prstGeom prst="rect">
            <a:avLst/>
          </a:prstGeom>
          <a:noFill/>
        </p:spPr>
        <p:txBody>
          <a:bodyPr wrap="none" lIns="36576" rIns="36576" tIns="36576" bIns="36576" anchor="t">
            <a:spAutoFit/>
          </a:bodyPr>
          <a:lstStyle/>
          <a:p>
            <a:pPr algn="l"/>
            <a:r>
              <a:rPr sz="1100" b="1">
                <a:solidFill>
                  <a:srgbClr val="FFFFFF"/>
                </a:solidFill>
                <a:latin typeface="Aptos"/>
              </a:rPr>
              <a:t>SESSION</a:t>
            </a:r>
          </a:p>
        </p:txBody>
      </p:sp>
      <p:sp>
        <p:nvSpPr>
          <p:cNvPr id="9" name="TextBox 8"/>
          <p:cNvSpPr txBox="1"/>
          <p:nvPr/>
        </p:nvSpPr>
        <p:spPr>
          <a:xfrm>
            <a:off x="3511296" y="1737360"/>
            <a:ext cx="7744968" cy="228600"/>
          </a:xfrm>
          <a:prstGeom prst="rect">
            <a:avLst/>
          </a:prstGeom>
          <a:noFill/>
        </p:spPr>
        <p:txBody>
          <a:bodyPr wrap="none" lIns="36576" rIns="36576" tIns="36576" bIns="36576" anchor="t">
            <a:spAutoFit/>
          </a:bodyPr>
          <a:lstStyle/>
          <a:p>
            <a:pPr algn="l"/>
            <a:r>
              <a:rPr sz="1000" b="0">
                <a:solidFill>
                  <a:srgbClr val="FFFFFF"/>
                </a:solidFill>
                <a:latin typeface="Aptos"/>
              </a:rPr>
              <a:t>Cookie HttpOnly · Secure · SameSite</a:t>
            </a:r>
          </a:p>
        </p:txBody>
      </p:sp>
      <p:sp>
        <p:nvSpPr>
          <p:cNvPr id="10" name="Rounded Rectangle 9"/>
          <p:cNvSpPr/>
          <p:nvPr/>
        </p:nvSpPr>
        <p:spPr>
          <a:xfrm>
            <a:off x="950976" y="2414016"/>
            <a:ext cx="10287000" cy="658368"/>
          </a:xfrm>
          <a:prstGeom prst="roundRect">
            <a:avLst/>
          </a:prstGeom>
          <a:solidFill>
            <a:srgbClr val="3EC6E0"/>
          </a:solidFill>
          <a:ln>
            <a:solidFill>
              <a:srgbClr val="3EC6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33856" y="2596896"/>
            <a:ext cx="365760" cy="201168"/>
          </a:xfrm>
          <a:prstGeom prst="rect">
            <a:avLst/>
          </a:prstGeom>
          <a:noFill/>
        </p:spPr>
        <p:txBody>
          <a:bodyPr wrap="none" lIns="36576" rIns="36576" tIns="36576" bIns="36576" anchor="t">
            <a:spAutoFit/>
          </a:bodyPr>
          <a:lstStyle/>
          <a:p>
            <a:pPr algn="l"/>
            <a:r>
              <a:rPr sz="1100" b="1">
                <a:solidFill>
                  <a:srgbClr val="FFFFFF"/>
                </a:solidFill>
                <a:latin typeface="Aptos"/>
              </a:rPr>
              <a:t>2</a:t>
            </a:r>
          </a:p>
        </p:txBody>
      </p:sp>
      <p:sp>
        <p:nvSpPr>
          <p:cNvPr id="12" name="TextBox 11"/>
          <p:cNvSpPr txBox="1"/>
          <p:nvPr/>
        </p:nvSpPr>
        <p:spPr>
          <a:xfrm>
            <a:off x="1609344" y="2569464"/>
            <a:ext cx="1874519" cy="228600"/>
          </a:xfrm>
          <a:prstGeom prst="rect">
            <a:avLst/>
          </a:prstGeom>
          <a:noFill/>
        </p:spPr>
        <p:txBody>
          <a:bodyPr wrap="none" lIns="36576" rIns="36576" tIns="36576" bIns="36576" anchor="t">
            <a:spAutoFit/>
          </a:bodyPr>
          <a:lstStyle/>
          <a:p>
            <a:pPr algn="l"/>
            <a:r>
              <a:rPr sz="1100" b="1">
                <a:solidFill>
                  <a:srgbClr val="FFFFFF"/>
                </a:solidFill>
                <a:latin typeface="Aptos"/>
              </a:rPr>
              <a:t>REQUEST</a:t>
            </a:r>
          </a:p>
        </p:txBody>
      </p:sp>
      <p:sp>
        <p:nvSpPr>
          <p:cNvPr id="13" name="TextBox 12"/>
          <p:cNvSpPr txBox="1"/>
          <p:nvPr/>
        </p:nvSpPr>
        <p:spPr>
          <a:xfrm>
            <a:off x="3739896" y="2578608"/>
            <a:ext cx="7287768" cy="228600"/>
          </a:xfrm>
          <a:prstGeom prst="rect">
            <a:avLst/>
          </a:prstGeom>
          <a:noFill/>
        </p:spPr>
        <p:txBody>
          <a:bodyPr wrap="none" lIns="36576" rIns="36576" tIns="36576" bIns="36576" anchor="t">
            <a:spAutoFit/>
          </a:bodyPr>
          <a:lstStyle/>
          <a:p>
            <a:pPr algn="l"/>
            <a:r>
              <a:rPr sz="1000" b="0">
                <a:solidFill>
                  <a:srgbClr val="FFFFFF"/>
                </a:solidFill>
                <a:latin typeface="Aptos"/>
              </a:rPr>
              <a:t>CSRF · validation · rate limit</a:t>
            </a:r>
          </a:p>
        </p:txBody>
      </p:sp>
      <p:sp>
        <p:nvSpPr>
          <p:cNvPr id="14" name="Rounded Rectangle 13"/>
          <p:cNvSpPr/>
          <p:nvPr/>
        </p:nvSpPr>
        <p:spPr>
          <a:xfrm>
            <a:off x="1179576" y="3255264"/>
            <a:ext cx="9829800" cy="658368"/>
          </a:xfrm>
          <a:prstGeom prst="round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362456" y="3438144"/>
            <a:ext cx="365760" cy="201168"/>
          </a:xfrm>
          <a:prstGeom prst="rect">
            <a:avLst/>
          </a:prstGeom>
          <a:noFill/>
        </p:spPr>
        <p:txBody>
          <a:bodyPr wrap="none" lIns="36576" rIns="36576" tIns="36576" bIns="36576" anchor="t">
            <a:spAutoFit/>
          </a:bodyPr>
          <a:lstStyle/>
          <a:p>
            <a:pPr algn="l"/>
            <a:r>
              <a:rPr sz="1100" b="1">
                <a:solidFill>
                  <a:srgbClr val="FFFFFF"/>
                </a:solidFill>
                <a:latin typeface="Aptos"/>
              </a:rPr>
              <a:t>3</a:t>
            </a:r>
          </a:p>
        </p:txBody>
      </p:sp>
      <p:sp>
        <p:nvSpPr>
          <p:cNvPr id="16" name="TextBox 15"/>
          <p:cNvSpPr txBox="1"/>
          <p:nvPr/>
        </p:nvSpPr>
        <p:spPr>
          <a:xfrm>
            <a:off x="1837943" y="3410712"/>
            <a:ext cx="1874519" cy="228600"/>
          </a:xfrm>
          <a:prstGeom prst="rect">
            <a:avLst/>
          </a:prstGeom>
          <a:noFill/>
        </p:spPr>
        <p:txBody>
          <a:bodyPr wrap="none" lIns="36576" rIns="36576" tIns="36576" bIns="36576" anchor="t">
            <a:spAutoFit/>
          </a:bodyPr>
          <a:lstStyle/>
          <a:p>
            <a:pPr algn="l"/>
            <a:r>
              <a:rPr sz="1100" b="1">
                <a:solidFill>
                  <a:srgbClr val="FFFFFF"/>
                </a:solidFill>
                <a:latin typeface="Aptos"/>
              </a:rPr>
              <a:t>AUTHORIZATION</a:t>
            </a:r>
          </a:p>
        </p:txBody>
      </p:sp>
      <p:sp>
        <p:nvSpPr>
          <p:cNvPr id="17" name="TextBox 16"/>
          <p:cNvSpPr txBox="1"/>
          <p:nvPr/>
        </p:nvSpPr>
        <p:spPr>
          <a:xfrm>
            <a:off x="3968496" y="3419856"/>
            <a:ext cx="6830568" cy="228600"/>
          </a:xfrm>
          <a:prstGeom prst="rect">
            <a:avLst/>
          </a:prstGeom>
          <a:noFill/>
        </p:spPr>
        <p:txBody>
          <a:bodyPr wrap="none" lIns="36576" rIns="36576" tIns="36576" bIns="36576" anchor="t">
            <a:spAutoFit/>
          </a:bodyPr>
          <a:lstStyle/>
          <a:p>
            <a:pPr algn="l"/>
            <a:r>
              <a:rPr sz="1000" b="0">
                <a:solidFill>
                  <a:srgbClr val="FFFFFF"/>
                </a:solidFill>
                <a:latin typeface="Aptos"/>
              </a:rPr>
              <a:t>Role · permission · ownership</a:t>
            </a:r>
          </a:p>
        </p:txBody>
      </p:sp>
      <p:sp>
        <p:nvSpPr>
          <p:cNvPr id="18" name="Rounded Rectangle 17"/>
          <p:cNvSpPr/>
          <p:nvPr/>
        </p:nvSpPr>
        <p:spPr>
          <a:xfrm>
            <a:off x="1408176" y="4096512"/>
            <a:ext cx="9372600" cy="658368"/>
          </a:xfrm>
          <a:prstGeom prst="roundRect">
            <a:avLst/>
          </a:prstGeom>
          <a:solidFill>
            <a:srgbClr val="1F9D73"/>
          </a:solidFill>
          <a:ln>
            <a:solidFill>
              <a:srgbClr val="1F9D7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591056" y="4279392"/>
            <a:ext cx="365760" cy="201168"/>
          </a:xfrm>
          <a:prstGeom prst="rect">
            <a:avLst/>
          </a:prstGeom>
          <a:noFill/>
        </p:spPr>
        <p:txBody>
          <a:bodyPr wrap="none" lIns="36576" rIns="36576" tIns="36576" bIns="36576" anchor="t">
            <a:spAutoFit/>
          </a:bodyPr>
          <a:lstStyle/>
          <a:p>
            <a:pPr algn="l"/>
            <a:r>
              <a:rPr sz="1100" b="1">
                <a:solidFill>
                  <a:srgbClr val="FFFFFF"/>
                </a:solidFill>
                <a:latin typeface="Aptos"/>
              </a:rPr>
              <a:t>4</a:t>
            </a:r>
          </a:p>
        </p:txBody>
      </p:sp>
      <p:sp>
        <p:nvSpPr>
          <p:cNvPr id="20" name="TextBox 19"/>
          <p:cNvSpPr txBox="1"/>
          <p:nvPr/>
        </p:nvSpPr>
        <p:spPr>
          <a:xfrm>
            <a:off x="2066543" y="4251960"/>
            <a:ext cx="1874519" cy="228600"/>
          </a:xfrm>
          <a:prstGeom prst="rect">
            <a:avLst/>
          </a:prstGeom>
          <a:noFill/>
        </p:spPr>
        <p:txBody>
          <a:bodyPr wrap="none" lIns="36576" rIns="36576" tIns="36576" bIns="36576" anchor="t">
            <a:spAutoFit/>
          </a:bodyPr>
          <a:lstStyle/>
          <a:p>
            <a:pPr algn="l"/>
            <a:r>
              <a:rPr sz="1100" b="1">
                <a:solidFill>
                  <a:srgbClr val="FFFFFF"/>
                </a:solidFill>
                <a:latin typeface="Aptos"/>
              </a:rPr>
              <a:t>DATA</a:t>
            </a:r>
          </a:p>
        </p:txBody>
      </p:sp>
      <p:sp>
        <p:nvSpPr>
          <p:cNvPr id="21" name="TextBox 20"/>
          <p:cNvSpPr txBox="1"/>
          <p:nvPr/>
        </p:nvSpPr>
        <p:spPr>
          <a:xfrm>
            <a:off x="4197096" y="4261104"/>
            <a:ext cx="6373368" cy="228600"/>
          </a:xfrm>
          <a:prstGeom prst="rect">
            <a:avLst/>
          </a:prstGeom>
          <a:noFill/>
        </p:spPr>
        <p:txBody>
          <a:bodyPr wrap="none" lIns="36576" rIns="36576" tIns="36576" bIns="36576" anchor="t">
            <a:spAutoFit/>
          </a:bodyPr>
          <a:lstStyle/>
          <a:p>
            <a:pPr algn="l"/>
            <a:r>
              <a:rPr sz="1000" b="0">
                <a:solidFill>
                  <a:srgbClr val="FFFFFF"/>
                </a:solidFill>
                <a:latin typeface="Aptos"/>
              </a:rPr>
              <a:t>Typed filter · DTO · no-store</a:t>
            </a:r>
          </a:p>
        </p:txBody>
      </p:sp>
      <p:sp>
        <p:nvSpPr>
          <p:cNvPr id="22" name="Rounded Rectangle 21"/>
          <p:cNvSpPr/>
          <p:nvPr/>
        </p:nvSpPr>
        <p:spPr>
          <a:xfrm>
            <a:off x="1636776" y="4937760"/>
            <a:ext cx="8915400" cy="658368"/>
          </a:xfrm>
          <a:prstGeom prst="roundRect">
            <a:avLst/>
          </a:prstGeom>
          <a:solidFill>
            <a:srgbClr val="D84A5B"/>
          </a:solidFill>
          <a:ln>
            <a:solidFill>
              <a:srgbClr val="D84A5B"/>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819656" y="5120640"/>
            <a:ext cx="365760" cy="201168"/>
          </a:xfrm>
          <a:prstGeom prst="rect">
            <a:avLst/>
          </a:prstGeom>
          <a:noFill/>
        </p:spPr>
        <p:txBody>
          <a:bodyPr wrap="none" lIns="36576" rIns="36576" tIns="36576" bIns="36576" anchor="t">
            <a:spAutoFit/>
          </a:bodyPr>
          <a:lstStyle/>
          <a:p>
            <a:pPr algn="l"/>
            <a:r>
              <a:rPr sz="1100" b="1">
                <a:solidFill>
                  <a:srgbClr val="FFFFFF"/>
                </a:solidFill>
                <a:latin typeface="Aptos"/>
              </a:rPr>
              <a:t>5</a:t>
            </a:r>
          </a:p>
        </p:txBody>
      </p:sp>
      <p:sp>
        <p:nvSpPr>
          <p:cNvPr id="24" name="TextBox 23"/>
          <p:cNvSpPr txBox="1"/>
          <p:nvPr/>
        </p:nvSpPr>
        <p:spPr>
          <a:xfrm>
            <a:off x="2295144" y="5093208"/>
            <a:ext cx="1874519" cy="228600"/>
          </a:xfrm>
          <a:prstGeom prst="rect">
            <a:avLst/>
          </a:prstGeom>
          <a:noFill/>
        </p:spPr>
        <p:txBody>
          <a:bodyPr wrap="none" lIns="36576" rIns="36576" tIns="36576" bIns="36576" anchor="t">
            <a:spAutoFit/>
          </a:bodyPr>
          <a:lstStyle/>
          <a:p>
            <a:pPr algn="l"/>
            <a:r>
              <a:rPr sz="1100" b="1">
                <a:solidFill>
                  <a:srgbClr val="FFFFFF"/>
                </a:solidFill>
                <a:latin typeface="Aptos"/>
              </a:rPr>
              <a:t>FILE &amp; OPS</a:t>
            </a:r>
          </a:p>
        </p:txBody>
      </p:sp>
      <p:sp>
        <p:nvSpPr>
          <p:cNvPr id="25" name="TextBox 24"/>
          <p:cNvSpPr txBox="1"/>
          <p:nvPr/>
        </p:nvSpPr>
        <p:spPr>
          <a:xfrm>
            <a:off x="4425696" y="5102352"/>
            <a:ext cx="5916168" cy="228600"/>
          </a:xfrm>
          <a:prstGeom prst="rect">
            <a:avLst/>
          </a:prstGeom>
          <a:noFill/>
        </p:spPr>
        <p:txBody>
          <a:bodyPr wrap="none" lIns="36576" rIns="36576" tIns="36576" bIns="36576" anchor="t">
            <a:spAutoFit/>
          </a:bodyPr>
          <a:lstStyle/>
          <a:p>
            <a:pPr algn="l"/>
            <a:r>
              <a:rPr sz="1000" b="0">
                <a:solidFill>
                  <a:srgbClr val="FFFFFF"/>
                </a:solidFill>
                <a:latin typeface="Aptos"/>
              </a:rPr>
              <a:t>GridFS · signature · audit · health</a:t>
            </a:r>
          </a:p>
        </p:txBody>
      </p:sp>
      <p:sp>
        <p:nvSpPr>
          <p:cNvPr id="26" name="Rounded Rectangle 25"/>
          <p:cNvSpPr/>
          <p:nvPr/>
        </p:nvSpPr>
        <p:spPr>
          <a:xfrm>
            <a:off x="8211312" y="5468112"/>
            <a:ext cx="3364992" cy="502920"/>
          </a:xfrm>
          <a:prstGeom prst="roundRect">
            <a:avLst/>
          </a:prstGeom>
          <a:solidFill>
            <a:srgbClr val="14254A"/>
          </a:solidFill>
          <a:ln>
            <a:solidFill>
              <a:srgbClr val="142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8375904" y="5623560"/>
            <a:ext cx="3017520" cy="201168"/>
          </a:xfrm>
          <a:prstGeom prst="rect">
            <a:avLst/>
          </a:prstGeom>
          <a:noFill/>
        </p:spPr>
        <p:txBody>
          <a:bodyPr wrap="none" lIns="36576" rIns="36576" tIns="36576" bIns="36576" anchor="t">
            <a:spAutoFit/>
          </a:bodyPr>
          <a:lstStyle/>
          <a:p>
            <a:pPr algn="ctr"/>
            <a:r>
              <a:rPr sz="1000" b="1">
                <a:solidFill>
                  <a:srgbClr val="FFFFFF"/>
                </a:solidFill>
                <a:latin typeface="Aptos"/>
              </a:rPr>
              <a:t>401  ·  403  ·  400  ·  AUDIT</a:t>
            </a:r>
          </a:p>
        </p:txBody>
      </p:sp>
      <p:cxnSp>
        <p:nvCxnSpPr>
          <p:cNvPr id="28" name="Connector 27"/>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clrMapOvr>
    <a:masterClrMapping/>
  </p:clrMapOvr>
  <p:transition spd="med">
    <p:wipe dir="r"/>
  </p:transition>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14254A"/>
        </a:solidFill>
        <a:effectLst/>
      </p:bgPr>
    </p:bg>
    <p:spTree>
      <p:nvGrpSpPr>
        <p:cNvPr id="1" name=""/>
        <p:cNvGrpSpPr/>
        <p:nvPr/>
      </p:nvGrpSpPr>
      <p:grpSpPr/>
      <p:sp>
        <p:nvSpPr>
          <p:cNvPr id="2" name="TextBox 1"/>
          <p:cNvSpPr txBox="1"/>
          <p:nvPr/>
        </p:nvSpPr>
        <p:spPr>
          <a:xfrm>
            <a:off x="594360" y="365760"/>
            <a:ext cx="2743200" cy="256032"/>
          </a:xfrm>
          <a:prstGeom prst="rect">
            <a:avLst/>
          </a:prstGeom>
          <a:noFill/>
        </p:spPr>
        <p:txBody>
          <a:bodyPr wrap="none" lIns="36576" rIns="36576" tIns="36576" bIns="36576" anchor="t">
            <a:spAutoFit/>
          </a:bodyPr>
          <a:lstStyle/>
          <a:p>
            <a:pPr algn="l"/>
            <a:r>
              <a:rPr sz="900" b="1">
                <a:solidFill>
                  <a:srgbClr val="3EC6E0"/>
                </a:solidFill>
                <a:latin typeface="Aptos"/>
              </a:rPr>
              <a:t>CODE WALKTHROUGH</a:t>
            </a:r>
          </a:p>
        </p:txBody>
      </p:sp>
      <p:sp>
        <p:nvSpPr>
          <p:cNvPr id="3" name="TextBox 2"/>
          <p:cNvSpPr txBox="1"/>
          <p:nvPr/>
        </p:nvSpPr>
        <p:spPr>
          <a:xfrm>
            <a:off x="594360" y="749808"/>
            <a:ext cx="8229600" cy="502920"/>
          </a:xfrm>
          <a:prstGeom prst="rect">
            <a:avLst/>
          </a:prstGeom>
          <a:noFill/>
        </p:spPr>
        <p:txBody>
          <a:bodyPr wrap="none" lIns="36576" rIns="36576" tIns="36576" bIns="36576" anchor="t">
            <a:spAutoFit/>
          </a:bodyPr>
          <a:lstStyle/>
          <a:p>
            <a:pPr algn="l"/>
            <a:r>
              <a:rPr sz="2600" b="1">
                <a:solidFill>
                  <a:srgbClr val="FFFFFF"/>
                </a:solidFill>
                <a:latin typeface="Aptos"/>
              </a:rPr>
              <a:t>Mật khẩu và upload: kiểm tra trước khi ghi</a:t>
            </a:r>
          </a:p>
        </p:txBody>
      </p:sp>
      <p:sp>
        <p:nvSpPr>
          <p:cNvPr id="5" name="Rounded Rectangle 4"/>
          <p:cNvSpPr/>
          <p:nvPr/>
        </p:nvSpPr>
        <p:spPr>
          <a:xfrm>
            <a:off x="576072" y="1399032"/>
            <a:ext cx="5477256" cy="4379976"/>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code-password.png"/>
          <p:cNvPicPr>
            <a:picLocks noChangeAspect="1"/>
          </p:cNvPicPr>
          <p:nvPr/>
        </p:nvPicPr>
        <p:blipFill>
          <a:blip r:embed="rId2"/>
          <a:srcRect l="18249" r="18249"/>
          <a:stretch>
            <a:fillRect/>
          </a:stretch>
        </p:blipFill>
        <p:spPr>
          <a:xfrm>
            <a:off x="594360" y="1417320"/>
            <a:ext cx="5440680" cy="4343400"/>
          </a:xfrm>
          <a:prstGeom prst="rect">
            <a:avLst/>
          </a:prstGeom>
        </p:spPr>
      </p:pic>
      <p:sp>
        <p:nvSpPr>
          <p:cNvPr id="7" name="Rounded Rectangle 6"/>
          <p:cNvSpPr/>
          <p:nvPr/>
        </p:nvSpPr>
        <p:spPr>
          <a:xfrm>
            <a:off x="6181344" y="1399032"/>
            <a:ext cx="5431536" cy="4379976"/>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6" name="Picture 5" descr="code-upload.png"/>
          <p:cNvPicPr>
            <a:picLocks noChangeAspect="1"/>
          </p:cNvPicPr>
          <p:nvPr/>
        </p:nvPicPr>
        <p:blipFill>
          <a:blip r:embed="rId3"/>
          <a:srcRect l="23314" r="23314"/>
          <a:stretch>
            <a:fillRect/>
          </a:stretch>
        </p:blipFill>
        <p:spPr>
          <a:xfrm>
            <a:off x="6199632" y="1417320"/>
            <a:ext cx="5394960" cy="4343400"/>
          </a:xfrm>
          <a:prstGeom prst="rect">
            <a:avLst/>
          </a:prstGeom>
        </p:spPr>
      </p:pic>
      <p:sp>
        <p:nvSpPr>
          <p:cNvPr id="8" name="Rounded Rectangle 7"/>
          <p:cNvSpPr/>
          <p:nvPr/>
        </p:nvSpPr>
        <p:spPr>
          <a:xfrm>
            <a:off x="804672" y="1627632"/>
            <a:ext cx="1481328" cy="310896"/>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77824" y="1677924"/>
            <a:ext cx="1335024" cy="201168"/>
          </a:xfrm>
          <a:prstGeom prst="rect">
            <a:avLst/>
          </a:prstGeom>
          <a:noFill/>
        </p:spPr>
        <p:txBody>
          <a:bodyPr wrap="none" lIns="36576" rIns="36576" tIns="36576" bIns="36576" anchor="t">
            <a:spAutoFit/>
          </a:bodyPr>
          <a:lstStyle/>
          <a:p>
            <a:pPr algn="ctr"/>
            <a:r>
              <a:rPr sz="900" b="1">
                <a:solidFill>
                  <a:srgbClr val="FFFFFF"/>
                </a:solidFill>
                <a:latin typeface="Aptos"/>
              </a:rPr>
              <a:t>PASSWORD HISTORY</a:t>
            </a:r>
          </a:p>
        </p:txBody>
      </p:sp>
      <p:sp>
        <p:nvSpPr>
          <p:cNvPr id="10" name="Rounded Rectangle 9"/>
          <p:cNvSpPr/>
          <p:nvPr/>
        </p:nvSpPr>
        <p:spPr>
          <a:xfrm>
            <a:off x="6419088" y="1627632"/>
            <a:ext cx="1325880" cy="310896"/>
          </a:xfrm>
          <a:prstGeom prst="roundRect">
            <a:avLst/>
          </a:prstGeom>
          <a:solidFill>
            <a:srgbClr val="F5B942"/>
          </a:solidFill>
          <a:ln>
            <a:solidFill>
              <a:srgbClr val="F5B94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492240" y="1677924"/>
            <a:ext cx="1179576" cy="201168"/>
          </a:xfrm>
          <a:prstGeom prst="rect">
            <a:avLst/>
          </a:prstGeom>
          <a:noFill/>
        </p:spPr>
        <p:txBody>
          <a:bodyPr wrap="none" lIns="36576" rIns="36576" tIns="36576" bIns="36576" anchor="t">
            <a:spAutoFit/>
          </a:bodyPr>
          <a:lstStyle/>
          <a:p>
            <a:pPr algn="ctr"/>
            <a:r>
              <a:rPr sz="900" b="1">
                <a:solidFill>
                  <a:srgbClr val="14254A"/>
                </a:solidFill>
                <a:latin typeface="Aptos"/>
              </a:rPr>
              <a:t>FILE SIGNATURE</a:t>
            </a:r>
          </a:p>
        </p:txBody>
      </p:sp>
      <p:sp>
        <p:nvSpPr>
          <p:cNvPr id="12" name="TextBox 11"/>
          <p:cNvSpPr txBox="1"/>
          <p:nvPr/>
        </p:nvSpPr>
        <p:spPr>
          <a:xfrm>
            <a:off x="713232" y="5961888"/>
            <a:ext cx="5212080" cy="274320"/>
          </a:xfrm>
          <a:prstGeom prst="rect">
            <a:avLst/>
          </a:prstGeom>
          <a:noFill/>
        </p:spPr>
        <p:txBody>
          <a:bodyPr wrap="none" lIns="36576" rIns="36576" tIns="36576" bIns="36576" anchor="t">
            <a:spAutoFit/>
          </a:bodyPr>
          <a:lstStyle/>
          <a:p>
            <a:pPr algn="ctr"/>
            <a:r>
              <a:rPr sz="1000" b="1">
                <a:solidFill>
                  <a:srgbClr val="C6D3F4"/>
                </a:solidFill>
                <a:latin typeface="Aptos"/>
              </a:rPr>
              <a:t>BCrypt + 5 hash gần nhất · CAS update · hủy phiên cũ</a:t>
            </a:r>
          </a:p>
        </p:txBody>
      </p:sp>
      <p:sp>
        <p:nvSpPr>
          <p:cNvPr id="13" name="TextBox 12"/>
          <p:cNvSpPr txBox="1"/>
          <p:nvPr/>
        </p:nvSpPr>
        <p:spPr>
          <a:xfrm>
            <a:off x="6309360" y="5961888"/>
            <a:ext cx="5166360" cy="274320"/>
          </a:xfrm>
          <a:prstGeom prst="rect">
            <a:avLst/>
          </a:prstGeom>
          <a:noFill/>
        </p:spPr>
        <p:txBody>
          <a:bodyPr wrap="none" lIns="36576" rIns="36576" tIns="36576" bIns="36576" anchor="t">
            <a:spAutoFit/>
          </a:bodyPr>
          <a:lstStyle/>
          <a:p>
            <a:pPr algn="ctr"/>
            <a:r>
              <a:rPr sz="1000" b="1">
                <a:solidFill>
                  <a:srgbClr val="C6D3F4"/>
                </a:solidFill>
                <a:latin typeface="Aptos"/>
              </a:rPr>
              <a:t>Allowlist + magic bytes · GridFS · ownership · log reject</a:t>
            </a:r>
          </a:p>
        </p:txBody>
      </p:sp>
    </p:spTree>
  </p:cSld>
  <p:clrMapOvr>
    <a:masterClrMapping/>
  </p:clrMapOvr>
  <p:transition spd="med">
    <p:fade/>
  </p:transition>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11 · KIỂM THỬ</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Kiểm thử theo hành vi và ranh giới quyền</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Dùng database riêng; SMTP/OpenAI giả lập; không đụng dữ liệu thật.</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14</a:t>
            </a:r>
          </a:p>
        </p:txBody>
      </p:sp>
      <p:sp>
        <p:nvSpPr>
          <p:cNvPr id="6" name="Rounded Rectangle 5"/>
          <p:cNvSpPr/>
          <p:nvPr/>
        </p:nvSpPr>
        <p:spPr>
          <a:xfrm>
            <a:off x="594360" y="1600200"/>
            <a:ext cx="2487168" cy="118872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77240" y="1847088"/>
            <a:ext cx="2103120" cy="384048"/>
          </a:xfrm>
          <a:prstGeom prst="rect">
            <a:avLst/>
          </a:prstGeom>
          <a:noFill/>
        </p:spPr>
        <p:txBody>
          <a:bodyPr wrap="none" lIns="36576" rIns="36576" tIns="36576" bIns="36576" anchor="t">
            <a:spAutoFit/>
          </a:bodyPr>
          <a:lstStyle/>
          <a:p>
            <a:pPr algn="ctr"/>
            <a:r>
              <a:rPr sz="2400" b="1">
                <a:solidFill>
                  <a:srgbClr val="2F5BEA"/>
                </a:solidFill>
                <a:latin typeface="Aptos"/>
              </a:rPr>
              <a:t>61</a:t>
            </a:r>
          </a:p>
        </p:txBody>
      </p:sp>
      <p:sp>
        <p:nvSpPr>
          <p:cNvPr id="8" name="TextBox 7"/>
          <p:cNvSpPr txBox="1"/>
          <p:nvPr/>
        </p:nvSpPr>
        <p:spPr>
          <a:xfrm>
            <a:off x="777240" y="2340864"/>
            <a:ext cx="2103120" cy="228600"/>
          </a:xfrm>
          <a:prstGeom prst="rect">
            <a:avLst/>
          </a:prstGeom>
          <a:noFill/>
        </p:spPr>
        <p:txBody>
          <a:bodyPr wrap="none" lIns="36576" rIns="36576" tIns="36576" bIns="36576" anchor="t">
            <a:spAutoFit/>
          </a:bodyPr>
          <a:lstStyle/>
          <a:p>
            <a:pPr algn="ctr"/>
            <a:r>
              <a:rPr sz="900" b="1">
                <a:solidFill>
                  <a:srgbClr val="64708A"/>
                </a:solidFill>
                <a:latin typeface="Aptos"/>
              </a:rPr>
              <a:t>nhóm regression</a:t>
            </a:r>
          </a:p>
        </p:txBody>
      </p:sp>
      <p:sp>
        <p:nvSpPr>
          <p:cNvPr id="9" name="Rounded Rectangle 8"/>
          <p:cNvSpPr/>
          <p:nvPr/>
        </p:nvSpPr>
        <p:spPr>
          <a:xfrm>
            <a:off x="3355848" y="1600200"/>
            <a:ext cx="2487168" cy="118872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3538728" y="1847088"/>
            <a:ext cx="2103120" cy="384048"/>
          </a:xfrm>
          <a:prstGeom prst="rect">
            <a:avLst/>
          </a:prstGeom>
          <a:noFill/>
        </p:spPr>
        <p:txBody>
          <a:bodyPr wrap="none" lIns="36576" rIns="36576" tIns="36576" bIns="36576" anchor="t">
            <a:spAutoFit/>
          </a:bodyPr>
          <a:lstStyle/>
          <a:p>
            <a:pPr algn="ctr"/>
            <a:r>
              <a:rPr sz="2400" b="1">
                <a:solidFill>
                  <a:srgbClr val="1F9D73"/>
                </a:solidFill>
                <a:latin typeface="Aptos"/>
              </a:rPr>
              <a:t>20/20</a:t>
            </a:r>
          </a:p>
        </p:txBody>
      </p:sp>
      <p:sp>
        <p:nvSpPr>
          <p:cNvPr id="11" name="TextBox 10"/>
          <p:cNvSpPr txBox="1"/>
          <p:nvPr/>
        </p:nvSpPr>
        <p:spPr>
          <a:xfrm>
            <a:off x="3538728" y="2340864"/>
            <a:ext cx="2103120" cy="228600"/>
          </a:xfrm>
          <a:prstGeom prst="rect">
            <a:avLst/>
          </a:prstGeom>
          <a:noFill/>
        </p:spPr>
        <p:txBody>
          <a:bodyPr wrap="none" lIns="36576" rIns="36576" tIns="36576" bIns="36576" anchor="t">
            <a:spAutoFit/>
          </a:bodyPr>
          <a:lstStyle/>
          <a:p>
            <a:pPr algn="ctr"/>
            <a:r>
              <a:rPr sz="900" b="1">
                <a:solidFill>
                  <a:srgbClr val="64708A"/>
                </a:solidFill>
                <a:latin typeface="Aptos"/>
              </a:rPr>
              <a:t>Playwright UI</a:t>
            </a:r>
          </a:p>
        </p:txBody>
      </p:sp>
      <p:sp>
        <p:nvSpPr>
          <p:cNvPr id="12" name="Rounded Rectangle 11"/>
          <p:cNvSpPr/>
          <p:nvPr/>
        </p:nvSpPr>
        <p:spPr>
          <a:xfrm>
            <a:off x="6117336" y="1600200"/>
            <a:ext cx="2487168" cy="118872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6300216" y="1847088"/>
            <a:ext cx="2103120" cy="384048"/>
          </a:xfrm>
          <a:prstGeom prst="rect">
            <a:avLst/>
          </a:prstGeom>
          <a:noFill/>
        </p:spPr>
        <p:txBody>
          <a:bodyPr wrap="none" lIns="36576" rIns="36576" tIns="36576" bIns="36576" anchor="t">
            <a:spAutoFit/>
          </a:bodyPr>
          <a:lstStyle/>
          <a:p>
            <a:pPr algn="ctr"/>
            <a:r>
              <a:rPr sz="2400" b="1">
                <a:solidFill>
                  <a:srgbClr val="3EC6E0"/>
                </a:solidFill>
                <a:latin typeface="Aptos"/>
              </a:rPr>
              <a:t>43/43</a:t>
            </a:r>
          </a:p>
        </p:txBody>
      </p:sp>
      <p:sp>
        <p:nvSpPr>
          <p:cNvPr id="14" name="TextBox 13"/>
          <p:cNvSpPr txBox="1"/>
          <p:nvPr/>
        </p:nvSpPr>
        <p:spPr>
          <a:xfrm>
            <a:off x="6300216" y="2340864"/>
            <a:ext cx="2103120" cy="228600"/>
          </a:xfrm>
          <a:prstGeom prst="rect">
            <a:avLst/>
          </a:prstGeom>
          <a:noFill/>
        </p:spPr>
        <p:txBody>
          <a:bodyPr wrap="none" lIns="36576" rIns="36576" tIns="36576" bIns="36576" anchor="t">
            <a:spAutoFit/>
          </a:bodyPr>
          <a:lstStyle/>
          <a:p>
            <a:pPr algn="ctr"/>
            <a:r>
              <a:rPr sz="900" b="1">
                <a:solidFill>
                  <a:srgbClr val="64708A"/>
                </a:solidFill>
                <a:latin typeface="Aptos"/>
              </a:rPr>
              <a:t>Postman API</a:t>
            </a:r>
          </a:p>
        </p:txBody>
      </p:sp>
      <p:sp>
        <p:nvSpPr>
          <p:cNvPr id="15" name="Rounded Rectangle 14"/>
          <p:cNvSpPr/>
          <p:nvPr/>
        </p:nvSpPr>
        <p:spPr>
          <a:xfrm>
            <a:off x="8878824" y="1600200"/>
            <a:ext cx="2487168" cy="118872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061704" y="1847088"/>
            <a:ext cx="2103120" cy="384048"/>
          </a:xfrm>
          <a:prstGeom prst="rect">
            <a:avLst/>
          </a:prstGeom>
          <a:noFill/>
        </p:spPr>
        <p:txBody>
          <a:bodyPr wrap="none" lIns="36576" rIns="36576" tIns="36576" bIns="36576" anchor="t">
            <a:spAutoFit/>
          </a:bodyPr>
          <a:lstStyle/>
          <a:p>
            <a:pPr algn="ctr"/>
            <a:r>
              <a:rPr sz="2400" b="1">
                <a:solidFill>
                  <a:srgbClr val="F5B942"/>
                </a:solidFill>
                <a:latin typeface="Aptos"/>
              </a:rPr>
              <a:t>96</a:t>
            </a:r>
          </a:p>
        </p:txBody>
      </p:sp>
      <p:sp>
        <p:nvSpPr>
          <p:cNvPr id="17" name="TextBox 16"/>
          <p:cNvSpPr txBox="1"/>
          <p:nvPr/>
        </p:nvSpPr>
        <p:spPr>
          <a:xfrm>
            <a:off x="9061704" y="2340864"/>
            <a:ext cx="2103120" cy="228600"/>
          </a:xfrm>
          <a:prstGeom prst="rect">
            <a:avLst/>
          </a:prstGeom>
          <a:noFill/>
        </p:spPr>
        <p:txBody>
          <a:bodyPr wrap="none" lIns="36576" rIns="36576" tIns="36576" bIns="36576" anchor="t">
            <a:spAutoFit/>
          </a:bodyPr>
          <a:lstStyle/>
          <a:p>
            <a:pPr algn="ctr"/>
            <a:r>
              <a:rPr sz="900" b="1">
                <a:solidFill>
                  <a:srgbClr val="64708A"/>
                </a:solidFill>
                <a:latin typeface="Aptos"/>
              </a:rPr>
              <a:t>request đồng thời</a:t>
            </a:r>
          </a:p>
        </p:txBody>
      </p:sp>
      <p:sp>
        <p:nvSpPr>
          <p:cNvPr id="18" name="Oval 17"/>
          <p:cNvSpPr/>
          <p:nvPr/>
        </p:nvSpPr>
        <p:spPr>
          <a:xfrm>
            <a:off x="640080" y="3200400"/>
            <a:ext cx="128016" cy="128016"/>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14400" y="3090672"/>
            <a:ext cx="960120" cy="256032"/>
          </a:xfrm>
          <a:prstGeom prst="rect">
            <a:avLst/>
          </a:prstGeom>
          <a:noFill/>
        </p:spPr>
        <p:txBody>
          <a:bodyPr wrap="none" lIns="36576" rIns="36576" tIns="36576" bIns="36576" anchor="t">
            <a:spAutoFit/>
          </a:bodyPr>
          <a:lstStyle/>
          <a:p>
            <a:pPr algn="l"/>
            <a:r>
              <a:rPr sz="1000" b="1">
                <a:solidFill>
                  <a:srgbClr val="14254A"/>
                </a:solidFill>
                <a:latin typeface="Aptos"/>
              </a:rPr>
              <a:t>AUTH</a:t>
            </a:r>
          </a:p>
        </p:txBody>
      </p:sp>
      <p:sp>
        <p:nvSpPr>
          <p:cNvPr id="20" name="TextBox 19"/>
          <p:cNvSpPr txBox="1"/>
          <p:nvPr/>
        </p:nvSpPr>
        <p:spPr>
          <a:xfrm>
            <a:off x="1920239" y="3090672"/>
            <a:ext cx="3749039" cy="256032"/>
          </a:xfrm>
          <a:prstGeom prst="rect">
            <a:avLst/>
          </a:prstGeom>
          <a:noFill/>
        </p:spPr>
        <p:txBody>
          <a:bodyPr wrap="none" lIns="36576" rIns="36576" tIns="36576" bIns="36576" anchor="t">
            <a:spAutoFit/>
          </a:bodyPr>
          <a:lstStyle/>
          <a:p>
            <a:pPr algn="l"/>
            <a:r>
              <a:rPr sz="1000" b="0">
                <a:solidFill>
                  <a:srgbClr val="64708A"/>
                </a:solidFill>
                <a:latin typeface="Aptos"/>
              </a:rPr>
              <a:t>Sai mật khẩu đồng thời → lockout</a:t>
            </a:r>
          </a:p>
        </p:txBody>
      </p:sp>
      <p:sp>
        <p:nvSpPr>
          <p:cNvPr id="21" name="Oval 20"/>
          <p:cNvSpPr/>
          <p:nvPr/>
        </p:nvSpPr>
        <p:spPr>
          <a:xfrm>
            <a:off x="6172200" y="3200400"/>
            <a:ext cx="128016" cy="128016"/>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446520" y="3090672"/>
            <a:ext cx="960120" cy="256032"/>
          </a:xfrm>
          <a:prstGeom prst="rect">
            <a:avLst/>
          </a:prstGeom>
          <a:noFill/>
        </p:spPr>
        <p:txBody>
          <a:bodyPr wrap="none" lIns="36576" rIns="36576" tIns="36576" bIns="36576" anchor="t">
            <a:spAutoFit/>
          </a:bodyPr>
          <a:lstStyle/>
          <a:p>
            <a:pPr algn="l"/>
            <a:r>
              <a:rPr sz="1000" b="1">
                <a:solidFill>
                  <a:srgbClr val="14254A"/>
                </a:solidFill>
                <a:latin typeface="Aptos"/>
              </a:rPr>
              <a:t>IDOR</a:t>
            </a:r>
          </a:p>
        </p:txBody>
      </p:sp>
      <p:sp>
        <p:nvSpPr>
          <p:cNvPr id="23" name="TextBox 22"/>
          <p:cNvSpPr txBox="1"/>
          <p:nvPr/>
        </p:nvSpPr>
        <p:spPr>
          <a:xfrm>
            <a:off x="7452360" y="3090672"/>
            <a:ext cx="3749039" cy="256032"/>
          </a:xfrm>
          <a:prstGeom prst="rect">
            <a:avLst/>
          </a:prstGeom>
          <a:noFill/>
        </p:spPr>
        <p:txBody>
          <a:bodyPr wrap="none" lIns="36576" rIns="36576" tIns="36576" bIns="36576" anchor="t">
            <a:spAutoFit/>
          </a:bodyPr>
          <a:lstStyle/>
          <a:p>
            <a:pPr algn="l"/>
            <a:r>
              <a:rPr sz="1000" b="0">
                <a:solidFill>
                  <a:srgbClr val="64708A"/>
                </a:solidFill>
                <a:latin typeface="Aptos"/>
              </a:rPr>
              <a:t>Đổi ObjectId → 403</a:t>
            </a:r>
          </a:p>
        </p:txBody>
      </p:sp>
      <p:sp>
        <p:nvSpPr>
          <p:cNvPr id="24" name="Oval 23"/>
          <p:cNvSpPr/>
          <p:nvPr/>
        </p:nvSpPr>
        <p:spPr>
          <a:xfrm>
            <a:off x="640080" y="3858768"/>
            <a:ext cx="128016" cy="128016"/>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914400" y="3749039"/>
            <a:ext cx="960120" cy="256032"/>
          </a:xfrm>
          <a:prstGeom prst="rect">
            <a:avLst/>
          </a:prstGeom>
          <a:noFill/>
        </p:spPr>
        <p:txBody>
          <a:bodyPr wrap="none" lIns="36576" rIns="36576" tIns="36576" bIns="36576" anchor="t">
            <a:spAutoFit/>
          </a:bodyPr>
          <a:lstStyle/>
          <a:p>
            <a:pPr algn="l"/>
            <a:r>
              <a:rPr sz="1000" b="1">
                <a:solidFill>
                  <a:srgbClr val="14254A"/>
                </a:solidFill>
                <a:latin typeface="Aptos"/>
              </a:rPr>
              <a:t>CSRF</a:t>
            </a:r>
          </a:p>
        </p:txBody>
      </p:sp>
      <p:sp>
        <p:nvSpPr>
          <p:cNvPr id="26" name="TextBox 25"/>
          <p:cNvSpPr txBox="1"/>
          <p:nvPr/>
        </p:nvSpPr>
        <p:spPr>
          <a:xfrm>
            <a:off x="1920239" y="3749039"/>
            <a:ext cx="3749039" cy="256032"/>
          </a:xfrm>
          <a:prstGeom prst="rect">
            <a:avLst/>
          </a:prstGeom>
          <a:noFill/>
        </p:spPr>
        <p:txBody>
          <a:bodyPr wrap="none" lIns="36576" rIns="36576" tIns="36576" bIns="36576" anchor="t">
            <a:spAutoFit/>
          </a:bodyPr>
          <a:lstStyle/>
          <a:p>
            <a:pPr algn="l"/>
            <a:r>
              <a:rPr sz="1000" b="0">
                <a:solidFill>
                  <a:srgbClr val="64708A"/>
                </a:solidFill>
                <a:latin typeface="Aptos"/>
              </a:rPr>
              <a:t>POST thiếu token → không ghi</a:t>
            </a:r>
          </a:p>
        </p:txBody>
      </p:sp>
      <p:sp>
        <p:nvSpPr>
          <p:cNvPr id="27" name="Oval 26"/>
          <p:cNvSpPr/>
          <p:nvPr/>
        </p:nvSpPr>
        <p:spPr>
          <a:xfrm>
            <a:off x="6172200" y="3858768"/>
            <a:ext cx="128016" cy="128016"/>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446520" y="3749039"/>
            <a:ext cx="960120" cy="256032"/>
          </a:xfrm>
          <a:prstGeom prst="rect">
            <a:avLst/>
          </a:prstGeom>
          <a:noFill/>
        </p:spPr>
        <p:txBody>
          <a:bodyPr wrap="none" lIns="36576" rIns="36576" tIns="36576" bIns="36576" anchor="t">
            <a:spAutoFit/>
          </a:bodyPr>
          <a:lstStyle/>
          <a:p>
            <a:pPr algn="l"/>
            <a:r>
              <a:rPr sz="1000" b="1">
                <a:solidFill>
                  <a:srgbClr val="14254A"/>
                </a:solidFill>
                <a:latin typeface="Aptos"/>
              </a:rPr>
              <a:t>XSS</a:t>
            </a:r>
          </a:p>
        </p:txBody>
      </p:sp>
      <p:sp>
        <p:nvSpPr>
          <p:cNvPr id="29" name="TextBox 28"/>
          <p:cNvSpPr txBox="1"/>
          <p:nvPr/>
        </p:nvSpPr>
        <p:spPr>
          <a:xfrm>
            <a:off x="7452360" y="3749039"/>
            <a:ext cx="3749039" cy="256032"/>
          </a:xfrm>
          <a:prstGeom prst="rect">
            <a:avLst/>
          </a:prstGeom>
          <a:noFill/>
        </p:spPr>
        <p:txBody>
          <a:bodyPr wrap="none" lIns="36576" rIns="36576" tIns="36576" bIns="36576" anchor="t">
            <a:spAutoFit/>
          </a:bodyPr>
          <a:lstStyle/>
          <a:p>
            <a:pPr algn="l"/>
            <a:r>
              <a:rPr sz="1000" b="0">
                <a:solidFill>
                  <a:srgbClr val="64708A"/>
                </a:solidFill>
                <a:latin typeface="Aptos"/>
              </a:rPr>
              <a:t>&lt;script&gt; hiển thị dạng chữ</a:t>
            </a:r>
          </a:p>
        </p:txBody>
      </p:sp>
      <p:sp>
        <p:nvSpPr>
          <p:cNvPr id="30" name="Oval 29"/>
          <p:cNvSpPr/>
          <p:nvPr/>
        </p:nvSpPr>
        <p:spPr>
          <a:xfrm>
            <a:off x="640080" y="4517136"/>
            <a:ext cx="128016" cy="128016"/>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14400" y="4407408"/>
            <a:ext cx="960120" cy="256032"/>
          </a:xfrm>
          <a:prstGeom prst="rect">
            <a:avLst/>
          </a:prstGeom>
          <a:noFill/>
        </p:spPr>
        <p:txBody>
          <a:bodyPr wrap="none" lIns="36576" rIns="36576" tIns="36576" bIns="36576" anchor="t">
            <a:spAutoFit/>
          </a:bodyPr>
          <a:lstStyle/>
          <a:p>
            <a:pPr algn="l"/>
            <a:r>
              <a:rPr sz="1000" b="1">
                <a:solidFill>
                  <a:srgbClr val="14254A"/>
                </a:solidFill>
                <a:latin typeface="Aptos"/>
              </a:rPr>
              <a:t>UPLOAD</a:t>
            </a:r>
          </a:p>
        </p:txBody>
      </p:sp>
      <p:sp>
        <p:nvSpPr>
          <p:cNvPr id="32" name="TextBox 31"/>
          <p:cNvSpPr txBox="1"/>
          <p:nvPr/>
        </p:nvSpPr>
        <p:spPr>
          <a:xfrm>
            <a:off x="1920239" y="4407408"/>
            <a:ext cx="3749039" cy="256032"/>
          </a:xfrm>
          <a:prstGeom prst="rect">
            <a:avLst/>
          </a:prstGeom>
          <a:noFill/>
        </p:spPr>
        <p:txBody>
          <a:bodyPr wrap="none" lIns="36576" rIns="36576" tIns="36576" bIns="36576" anchor="t">
            <a:spAutoFit/>
          </a:bodyPr>
          <a:lstStyle/>
          <a:p>
            <a:pPr algn="l"/>
            <a:r>
              <a:rPr sz="1000" b="0">
                <a:solidFill>
                  <a:srgbClr val="64708A"/>
                </a:solidFill>
                <a:latin typeface="Aptos"/>
              </a:rPr>
              <a:t>File MZ đổi đuôi PDF → 400</a:t>
            </a:r>
          </a:p>
        </p:txBody>
      </p:sp>
      <p:sp>
        <p:nvSpPr>
          <p:cNvPr id="33" name="Oval 32"/>
          <p:cNvSpPr/>
          <p:nvPr/>
        </p:nvSpPr>
        <p:spPr>
          <a:xfrm>
            <a:off x="6172200" y="4517136"/>
            <a:ext cx="128016" cy="128016"/>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446520" y="4407408"/>
            <a:ext cx="960120" cy="256032"/>
          </a:xfrm>
          <a:prstGeom prst="rect">
            <a:avLst/>
          </a:prstGeom>
          <a:noFill/>
        </p:spPr>
        <p:txBody>
          <a:bodyPr wrap="none" lIns="36576" rIns="36576" tIns="36576" bIns="36576" anchor="t">
            <a:spAutoFit/>
          </a:bodyPr>
          <a:lstStyle/>
          <a:p>
            <a:pPr algn="l"/>
            <a:r>
              <a:rPr sz="1000" b="1">
                <a:solidFill>
                  <a:srgbClr val="14254A"/>
                </a:solidFill>
                <a:latin typeface="Aptos"/>
              </a:rPr>
              <a:t>AI</a:t>
            </a:r>
          </a:p>
        </p:txBody>
      </p:sp>
      <p:sp>
        <p:nvSpPr>
          <p:cNvPr id="35" name="TextBox 34"/>
          <p:cNvSpPr txBox="1"/>
          <p:nvPr/>
        </p:nvSpPr>
        <p:spPr>
          <a:xfrm>
            <a:off x="7452360" y="4407408"/>
            <a:ext cx="3749039" cy="256032"/>
          </a:xfrm>
          <a:prstGeom prst="rect">
            <a:avLst/>
          </a:prstGeom>
          <a:noFill/>
        </p:spPr>
        <p:txBody>
          <a:bodyPr wrap="none" lIns="36576" rIns="36576" tIns="36576" bIns="36576" anchor="t">
            <a:spAutoFit/>
          </a:bodyPr>
          <a:lstStyle/>
          <a:p>
            <a:pPr algn="l"/>
            <a:r>
              <a:rPr sz="1000" b="0">
                <a:solidFill>
                  <a:srgbClr val="64708A"/>
                </a:solidFill>
                <a:latin typeface="Aptos"/>
              </a:rPr>
              <a:t>HTTPS stub → Draft + audit</a:t>
            </a:r>
          </a:p>
        </p:txBody>
      </p:sp>
      <p:sp>
        <p:nvSpPr>
          <p:cNvPr id="36" name="Oval 35"/>
          <p:cNvSpPr/>
          <p:nvPr/>
        </p:nvSpPr>
        <p:spPr>
          <a:xfrm>
            <a:off x="640080" y="5175504"/>
            <a:ext cx="128016" cy="128016"/>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914400" y="5065776"/>
            <a:ext cx="960120" cy="256032"/>
          </a:xfrm>
          <a:prstGeom prst="rect">
            <a:avLst/>
          </a:prstGeom>
          <a:noFill/>
        </p:spPr>
        <p:txBody>
          <a:bodyPr wrap="none" lIns="36576" rIns="36576" tIns="36576" bIns="36576" anchor="t">
            <a:spAutoFit/>
          </a:bodyPr>
          <a:lstStyle/>
          <a:p>
            <a:pPr algn="l"/>
            <a:r>
              <a:rPr sz="1000" b="1">
                <a:solidFill>
                  <a:srgbClr val="14254A"/>
                </a:solidFill>
                <a:latin typeface="Aptos"/>
              </a:rPr>
              <a:t>ERROR</a:t>
            </a:r>
          </a:p>
        </p:txBody>
      </p:sp>
      <p:sp>
        <p:nvSpPr>
          <p:cNvPr id="38" name="TextBox 37"/>
          <p:cNvSpPr txBox="1"/>
          <p:nvPr/>
        </p:nvSpPr>
        <p:spPr>
          <a:xfrm>
            <a:off x="1920239" y="5065776"/>
            <a:ext cx="3749039" cy="256032"/>
          </a:xfrm>
          <a:prstGeom prst="rect">
            <a:avLst/>
          </a:prstGeom>
          <a:noFill/>
        </p:spPr>
        <p:txBody>
          <a:bodyPr wrap="none" lIns="36576" rIns="36576" tIns="36576" bIns="36576" anchor="t">
            <a:spAutoFit/>
          </a:bodyPr>
          <a:lstStyle/>
          <a:p>
            <a:pPr algn="l"/>
            <a:r>
              <a:rPr sz="1000" b="0">
                <a:solidFill>
                  <a:srgbClr val="64708A"/>
                </a:solidFill>
                <a:latin typeface="Aptos"/>
              </a:rPr>
              <a:t>Production 500 không lộ secret</a:t>
            </a:r>
          </a:p>
        </p:txBody>
      </p:sp>
      <p:sp>
        <p:nvSpPr>
          <p:cNvPr id="39" name="Oval 38"/>
          <p:cNvSpPr/>
          <p:nvPr/>
        </p:nvSpPr>
        <p:spPr>
          <a:xfrm>
            <a:off x="6172200" y="5175504"/>
            <a:ext cx="128016" cy="128016"/>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6446520" y="5065776"/>
            <a:ext cx="960120" cy="256032"/>
          </a:xfrm>
          <a:prstGeom prst="rect">
            <a:avLst/>
          </a:prstGeom>
          <a:noFill/>
        </p:spPr>
        <p:txBody>
          <a:bodyPr wrap="none" lIns="36576" rIns="36576" tIns="36576" bIns="36576" anchor="t">
            <a:spAutoFit/>
          </a:bodyPr>
          <a:lstStyle/>
          <a:p>
            <a:pPr algn="l"/>
            <a:r>
              <a:rPr sz="1000" b="1">
                <a:solidFill>
                  <a:srgbClr val="14254A"/>
                </a:solidFill>
                <a:latin typeface="Aptos"/>
              </a:rPr>
              <a:t>DEPENDENCY</a:t>
            </a:r>
          </a:p>
        </p:txBody>
      </p:sp>
      <p:sp>
        <p:nvSpPr>
          <p:cNvPr id="41" name="TextBox 40"/>
          <p:cNvSpPr txBox="1"/>
          <p:nvPr/>
        </p:nvSpPr>
        <p:spPr>
          <a:xfrm>
            <a:off x="7452360" y="5065776"/>
            <a:ext cx="3749039" cy="256032"/>
          </a:xfrm>
          <a:prstGeom prst="rect">
            <a:avLst/>
          </a:prstGeom>
          <a:noFill/>
        </p:spPr>
        <p:txBody>
          <a:bodyPr wrap="none" lIns="36576" rIns="36576" tIns="36576" bIns="36576" anchor="t">
            <a:spAutoFit/>
          </a:bodyPr>
          <a:lstStyle/>
          <a:p>
            <a:pPr algn="l"/>
            <a:r>
              <a:rPr sz="1000" b="0">
                <a:solidFill>
                  <a:srgbClr val="64708A"/>
                </a:solidFill>
                <a:latin typeface="Aptos"/>
              </a:rPr>
              <a:t>npm audit: 0 vulnerability</a:t>
            </a:r>
          </a:p>
        </p:txBody>
      </p:sp>
      <p:sp>
        <p:nvSpPr>
          <p:cNvPr id="42" name="Rounded Rectangle 41"/>
          <p:cNvSpPr/>
          <p:nvPr/>
        </p:nvSpPr>
        <p:spPr>
          <a:xfrm>
            <a:off x="640080" y="5833872"/>
            <a:ext cx="10927080" cy="384048"/>
          </a:xfrm>
          <a:prstGeom prst="roundRect">
            <a:avLst/>
          </a:prstGeom>
          <a:solidFill>
            <a:srgbClr val="EAF0FF"/>
          </a:solidFill>
          <a:ln>
            <a:solidFill>
              <a:srgbClr val="EAF0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22960" y="5934456"/>
            <a:ext cx="10561320" cy="182880"/>
          </a:xfrm>
          <a:prstGeom prst="rect">
            <a:avLst/>
          </a:prstGeom>
          <a:noFill/>
        </p:spPr>
        <p:txBody>
          <a:bodyPr wrap="none" lIns="36576" rIns="36576" tIns="36576" bIns="36576" anchor="t">
            <a:spAutoFit/>
          </a:bodyPr>
          <a:lstStyle/>
          <a:p>
            <a:pPr algn="ctr"/>
            <a:r>
              <a:rPr sz="900" b="1">
                <a:solidFill>
                  <a:srgbClr val="14254A"/>
                </a:solidFill>
                <a:latin typeface="Aptos"/>
              </a:rPr>
              <a:t>Bằng chứng: tests/*.py · ClientApp/e2e/*.spec.ts · Postman collection · ACCEPTANCE.md</a:t>
            </a:r>
          </a:p>
        </p:txBody>
      </p:sp>
      <p:cxnSp>
        <p:nvCxnSpPr>
          <p:cNvPr id="44" name="Connector 43"/>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45" name="TextBox 44"/>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clrMapOvr>
    <a:masterClrMapping/>
  </p:clrMapOvr>
  <p:transition spd="med">
    <p:push dir="l"/>
  </p:transition>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12 · TRIỂN KHAI</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Từ source đến production</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Secret ở environment; container không chứa credential.</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15</a:t>
            </a:r>
          </a:p>
        </p:txBody>
      </p:sp>
      <p:sp>
        <p:nvSpPr>
          <p:cNvPr id="6" name="Rounded Rectangle 5"/>
          <p:cNvSpPr/>
          <p:nvPr/>
        </p:nvSpPr>
        <p:spPr>
          <a:xfrm>
            <a:off x="594360" y="1700784"/>
            <a:ext cx="2331720" cy="1115568"/>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758952" y="1929384"/>
            <a:ext cx="2011680" cy="274320"/>
          </a:xfrm>
          <a:prstGeom prst="rect">
            <a:avLst/>
          </a:prstGeom>
          <a:noFill/>
        </p:spPr>
        <p:txBody>
          <a:bodyPr wrap="none" lIns="36576" rIns="36576" tIns="36576" bIns="36576" anchor="t">
            <a:spAutoFit/>
          </a:bodyPr>
          <a:lstStyle/>
          <a:p>
            <a:pPr algn="ctr"/>
            <a:r>
              <a:rPr sz="1500" b="1">
                <a:solidFill>
                  <a:srgbClr val="14254A"/>
                </a:solidFill>
                <a:latin typeface="Aptos"/>
              </a:rPr>
              <a:t>GitHub</a:t>
            </a:r>
          </a:p>
        </p:txBody>
      </p:sp>
      <p:sp>
        <p:nvSpPr>
          <p:cNvPr id="8" name="TextBox 7"/>
          <p:cNvSpPr txBox="1"/>
          <p:nvPr/>
        </p:nvSpPr>
        <p:spPr>
          <a:xfrm>
            <a:off x="758952" y="2340864"/>
            <a:ext cx="2011680" cy="228600"/>
          </a:xfrm>
          <a:prstGeom prst="rect">
            <a:avLst/>
          </a:prstGeom>
          <a:noFill/>
        </p:spPr>
        <p:txBody>
          <a:bodyPr wrap="none" lIns="36576" rIns="36576" tIns="36576" bIns="36576" anchor="t">
            <a:spAutoFit/>
          </a:bodyPr>
          <a:lstStyle/>
          <a:p>
            <a:pPr algn="ctr"/>
            <a:r>
              <a:rPr sz="900" b="0">
                <a:solidFill>
                  <a:srgbClr val="64708A"/>
                </a:solidFill>
                <a:latin typeface="Aptos"/>
              </a:rPr>
              <a:t>Source private</a:t>
            </a:r>
          </a:p>
        </p:txBody>
      </p:sp>
      <p:sp>
        <p:nvSpPr>
          <p:cNvPr id="9" name="Right Arrow 8"/>
          <p:cNvSpPr/>
          <p:nvPr/>
        </p:nvSpPr>
        <p:spPr>
          <a:xfrm>
            <a:off x="2990088" y="2103120"/>
            <a:ext cx="320040"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3410712" y="1700784"/>
            <a:ext cx="2331720" cy="1115568"/>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3575304" y="1929384"/>
            <a:ext cx="2011680" cy="274320"/>
          </a:xfrm>
          <a:prstGeom prst="rect">
            <a:avLst/>
          </a:prstGeom>
          <a:noFill/>
        </p:spPr>
        <p:txBody>
          <a:bodyPr wrap="none" lIns="36576" rIns="36576" tIns="36576" bIns="36576" anchor="t">
            <a:spAutoFit/>
          </a:bodyPr>
          <a:lstStyle/>
          <a:p>
            <a:pPr algn="ctr"/>
            <a:r>
              <a:rPr sz="1500" b="1">
                <a:solidFill>
                  <a:srgbClr val="2F5BEA"/>
                </a:solidFill>
                <a:latin typeface="Aptos"/>
              </a:rPr>
              <a:t>Docker Build</a:t>
            </a:r>
          </a:p>
        </p:txBody>
      </p:sp>
      <p:sp>
        <p:nvSpPr>
          <p:cNvPr id="12" name="TextBox 11"/>
          <p:cNvSpPr txBox="1"/>
          <p:nvPr/>
        </p:nvSpPr>
        <p:spPr>
          <a:xfrm>
            <a:off x="3575304" y="2340864"/>
            <a:ext cx="2011680" cy="228600"/>
          </a:xfrm>
          <a:prstGeom prst="rect">
            <a:avLst/>
          </a:prstGeom>
          <a:noFill/>
        </p:spPr>
        <p:txBody>
          <a:bodyPr wrap="none" lIns="36576" rIns="36576" tIns="36576" bIns="36576" anchor="t">
            <a:spAutoFit/>
          </a:bodyPr>
          <a:lstStyle/>
          <a:p>
            <a:pPr algn="ctr"/>
            <a:r>
              <a:rPr sz="900" b="0">
                <a:solidFill>
                  <a:srgbClr val="64708A"/>
                </a:solidFill>
                <a:latin typeface="Aptos"/>
              </a:rPr>
              <a:t>React + .NET</a:t>
            </a:r>
          </a:p>
        </p:txBody>
      </p:sp>
      <p:sp>
        <p:nvSpPr>
          <p:cNvPr id="13" name="Right Arrow 12"/>
          <p:cNvSpPr/>
          <p:nvPr/>
        </p:nvSpPr>
        <p:spPr>
          <a:xfrm>
            <a:off x="5806440" y="2103120"/>
            <a:ext cx="320040"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ounded Rectangle 13"/>
          <p:cNvSpPr/>
          <p:nvPr/>
        </p:nvSpPr>
        <p:spPr>
          <a:xfrm>
            <a:off x="6227064" y="1700784"/>
            <a:ext cx="2331720" cy="1115568"/>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91656" y="1929384"/>
            <a:ext cx="2011680" cy="274320"/>
          </a:xfrm>
          <a:prstGeom prst="rect">
            <a:avLst/>
          </a:prstGeom>
          <a:noFill/>
        </p:spPr>
        <p:txBody>
          <a:bodyPr wrap="none" lIns="36576" rIns="36576" tIns="36576" bIns="36576" anchor="t">
            <a:spAutoFit/>
          </a:bodyPr>
          <a:lstStyle/>
          <a:p>
            <a:pPr algn="ctr"/>
            <a:r>
              <a:rPr sz="1500" b="1">
                <a:solidFill>
                  <a:srgbClr val="3EC6E0"/>
                </a:solidFill>
                <a:latin typeface="Aptos"/>
              </a:rPr>
              <a:t>Render</a:t>
            </a:r>
          </a:p>
        </p:txBody>
      </p:sp>
      <p:sp>
        <p:nvSpPr>
          <p:cNvPr id="16" name="TextBox 15"/>
          <p:cNvSpPr txBox="1"/>
          <p:nvPr/>
        </p:nvSpPr>
        <p:spPr>
          <a:xfrm>
            <a:off x="6391656" y="2340864"/>
            <a:ext cx="2011680" cy="228600"/>
          </a:xfrm>
          <a:prstGeom prst="rect">
            <a:avLst/>
          </a:prstGeom>
          <a:noFill/>
        </p:spPr>
        <p:txBody>
          <a:bodyPr wrap="none" lIns="36576" rIns="36576" tIns="36576" bIns="36576" anchor="t">
            <a:spAutoFit/>
          </a:bodyPr>
          <a:lstStyle/>
          <a:p>
            <a:pPr algn="ctr"/>
            <a:r>
              <a:rPr sz="900" b="0">
                <a:solidFill>
                  <a:srgbClr val="64708A"/>
                </a:solidFill>
                <a:latin typeface="Aptos"/>
              </a:rPr>
              <a:t>HTTPS Web Service</a:t>
            </a:r>
          </a:p>
        </p:txBody>
      </p:sp>
      <p:sp>
        <p:nvSpPr>
          <p:cNvPr id="17" name="Right Arrow 16"/>
          <p:cNvSpPr/>
          <p:nvPr/>
        </p:nvSpPr>
        <p:spPr>
          <a:xfrm>
            <a:off x="8622792" y="2103120"/>
            <a:ext cx="320040" cy="320040"/>
          </a:xfrm>
          <a:prstGeom prst="rightArrow">
            <a:avLst/>
          </a:prstGeom>
          <a:solidFill>
            <a:srgbClr val="B8C5E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ounded Rectangle 17"/>
          <p:cNvSpPr/>
          <p:nvPr/>
        </p:nvSpPr>
        <p:spPr>
          <a:xfrm>
            <a:off x="9043416" y="1700784"/>
            <a:ext cx="2331720" cy="1115568"/>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208008" y="1929384"/>
            <a:ext cx="2011680" cy="274320"/>
          </a:xfrm>
          <a:prstGeom prst="rect">
            <a:avLst/>
          </a:prstGeom>
          <a:noFill/>
        </p:spPr>
        <p:txBody>
          <a:bodyPr wrap="none" lIns="36576" rIns="36576" tIns="36576" bIns="36576" anchor="t">
            <a:spAutoFit/>
          </a:bodyPr>
          <a:lstStyle/>
          <a:p>
            <a:pPr algn="ctr"/>
            <a:r>
              <a:rPr sz="1500" b="1">
                <a:solidFill>
                  <a:srgbClr val="1F9D73"/>
                </a:solidFill>
                <a:latin typeface="Aptos"/>
              </a:rPr>
              <a:t>MongoDB Atlas</a:t>
            </a:r>
          </a:p>
        </p:txBody>
      </p:sp>
      <p:sp>
        <p:nvSpPr>
          <p:cNvPr id="20" name="TextBox 19"/>
          <p:cNvSpPr txBox="1"/>
          <p:nvPr/>
        </p:nvSpPr>
        <p:spPr>
          <a:xfrm>
            <a:off x="9208008" y="2340864"/>
            <a:ext cx="2011680" cy="228600"/>
          </a:xfrm>
          <a:prstGeom prst="rect">
            <a:avLst/>
          </a:prstGeom>
          <a:noFill/>
        </p:spPr>
        <p:txBody>
          <a:bodyPr wrap="none" lIns="36576" rIns="36576" tIns="36576" bIns="36576" anchor="t">
            <a:spAutoFit/>
          </a:bodyPr>
          <a:lstStyle/>
          <a:p>
            <a:pPr algn="ctr"/>
            <a:r>
              <a:rPr sz="900" b="0">
                <a:solidFill>
                  <a:srgbClr val="64708A"/>
                </a:solidFill>
                <a:latin typeface="Aptos"/>
              </a:rPr>
              <a:t>DB + GridFS</a:t>
            </a:r>
          </a:p>
        </p:txBody>
      </p:sp>
      <p:sp>
        <p:nvSpPr>
          <p:cNvPr id="21" name="Rounded Rectangle 20"/>
          <p:cNvSpPr/>
          <p:nvPr/>
        </p:nvSpPr>
        <p:spPr>
          <a:xfrm>
            <a:off x="594360" y="3310128"/>
            <a:ext cx="5193792" cy="2240280"/>
          </a:xfrm>
          <a:prstGeom prst="roundRect">
            <a:avLst/>
          </a:prstGeom>
          <a:solidFill>
            <a:srgbClr val="14254A"/>
          </a:solidFill>
          <a:ln>
            <a:solidFill>
              <a:srgbClr val="14254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68680" y="3584448"/>
            <a:ext cx="2743200" cy="256032"/>
          </a:xfrm>
          <a:prstGeom prst="rect">
            <a:avLst/>
          </a:prstGeom>
          <a:noFill/>
        </p:spPr>
        <p:txBody>
          <a:bodyPr wrap="none" lIns="36576" rIns="36576" tIns="36576" bIns="36576" anchor="t">
            <a:spAutoFit/>
          </a:bodyPr>
          <a:lstStyle/>
          <a:p>
            <a:pPr algn="l"/>
            <a:r>
              <a:rPr sz="1000" b="1">
                <a:solidFill>
                  <a:srgbClr val="3EC6E0"/>
                </a:solidFill>
                <a:latin typeface="Aptos"/>
              </a:rPr>
              <a:t>ENVIRONMENT VARIABLES</a:t>
            </a:r>
          </a:p>
        </p:txBody>
      </p:sp>
      <p:sp>
        <p:nvSpPr>
          <p:cNvPr id="23" name="TextBox 22"/>
          <p:cNvSpPr txBox="1"/>
          <p:nvPr/>
        </p:nvSpPr>
        <p:spPr>
          <a:xfrm>
            <a:off x="896112" y="4005072"/>
            <a:ext cx="4297680" cy="228600"/>
          </a:xfrm>
          <a:prstGeom prst="rect">
            <a:avLst/>
          </a:prstGeom>
          <a:noFill/>
        </p:spPr>
        <p:txBody>
          <a:bodyPr wrap="none" lIns="36576" rIns="36576" tIns="36576" bIns="36576" anchor="t">
            <a:spAutoFit/>
          </a:bodyPr>
          <a:lstStyle/>
          <a:p>
            <a:pPr algn="l"/>
            <a:r>
              <a:rPr sz="1100" b="0">
                <a:solidFill>
                  <a:srgbClr val="FFFFFF"/>
                </a:solidFill>
                <a:latin typeface="Aptos"/>
              </a:rPr>
              <a:t>• MongoDb__ConnectionString</a:t>
            </a:r>
          </a:p>
        </p:txBody>
      </p:sp>
      <p:sp>
        <p:nvSpPr>
          <p:cNvPr id="24" name="TextBox 23"/>
          <p:cNvSpPr txBox="1"/>
          <p:nvPr/>
        </p:nvSpPr>
        <p:spPr>
          <a:xfrm>
            <a:off x="896112" y="4352544"/>
            <a:ext cx="4297680" cy="228600"/>
          </a:xfrm>
          <a:prstGeom prst="rect">
            <a:avLst/>
          </a:prstGeom>
          <a:noFill/>
        </p:spPr>
        <p:txBody>
          <a:bodyPr wrap="none" lIns="36576" rIns="36576" tIns="36576" bIns="36576" anchor="t">
            <a:spAutoFit/>
          </a:bodyPr>
          <a:lstStyle/>
          <a:p>
            <a:pPr algn="l"/>
            <a:r>
              <a:rPr sz="1100" b="0">
                <a:solidFill>
                  <a:srgbClr val="FFFFFF"/>
                </a:solidFill>
                <a:latin typeface="Aptos"/>
              </a:rPr>
              <a:t>• Email__AppPassword</a:t>
            </a:r>
          </a:p>
        </p:txBody>
      </p:sp>
      <p:sp>
        <p:nvSpPr>
          <p:cNvPr id="25" name="TextBox 24"/>
          <p:cNvSpPr txBox="1"/>
          <p:nvPr/>
        </p:nvSpPr>
        <p:spPr>
          <a:xfrm>
            <a:off x="896112" y="4700016"/>
            <a:ext cx="4297680" cy="228600"/>
          </a:xfrm>
          <a:prstGeom prst="rect">
            <a:avLst/>
          </a:prstGeom>
          <a:noFill/>
        </p:spPr>
        <p:txBody>
          <a:bodyPr wrap="none" lIns="36576" rIns="36576" tIns="36576" bIns="36576" anchor="t">
            <a:spAutoFit/>
          </a:bodyPr>
          <a:lstStyle/>
          <a:p>
            <a:pPr algn="l"/>
            <a:r>
              <a:rPr sz="1100" b="0">
                <a:solidFill>
                  <a:srgbClr val="FFFFFF"/>
                </a:solidFill>
                <a:latin typeface="Aptos"/>
              </a:rPr>
              <a:t>• Ai__ApiKey</a:t>
            </a:r>
          </a:p>
        </p:txBody>
      </p:sp>
      <p:sp>
        <p:nvSpPr>
          <p:cNvPr id="26" name="TextBox 25"/>
          <p:cNvSpPr txBox="1"/>
          <p:nvPr/>
        </p:nvSpPr>
        <p:spPr>
          <a:xfrm>
            <a:off x="896112" y="5047488"/>
            <a:ext cx="4297680" cy="228600"/>
          </a:xfrm>
          <a:prstGeom prst="rect">
            <a:avLst/>
          </a:prstGeom>
          <a:noFill/>
        </p:spPr>
        <p:txBody>
          <a:bodyPr wrap="none" lIns="36576" rIns="36576" tIns="36576" bIns="36576" anchor="t">
            <a:spAutoFit/>
          </a:bodyPr>
          <a:lstStyle/>
          <a:p>
            <a:pPr algn="l"/>
            <a:r>
              <a:rPr sz="1100" b="0">
                <a:solidFill>
                  <a:srgbClr val="FFFFFF"/>
                </a:solidFill>
                <a:latin typeface="Aptos"/>
              </a:rPr>
              <a:t>• Vnpay__HashSecret</a:t>
            </a:r>
          </a:p>
        </p:txBody>
      </p:sp>
      <p:sp>
        <p:nvSpPr>
          <p:cNvPr id="27" name="Rounded Rectangle 26"/>
          <p:cNvSpPr/>
          <p:nvPr/>
        </p:nvSpPr>
        <p:spPr>
          <a:xfrm>
            <a:off x="6108192" y="3310128"/>
            <a:ext cx="5504688" cy="224028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6382512" y="3584448"/>
            <a:ext cx="2103120" cy="256032"/>
          </a:xfrm>
          <a:prstGeom prst="rect">
            <a:avLst/>
          </a:prstGeom>
          <a:noFill/>
        </p:spPr>
        <p:txBody>
          <a:bodyPr wrap="none" lIns="36576" rIns="36576" tIns="36576" bIns="36576" anchor="t">
            <a:spAutoFit/>
          </a:bodyPr>
          <a:lstStyle/>
          <a:p>
            <a:pPr algn="l"/>
            <a:r>
              <a:rPr sz="1000" b="1">
                <a:solidFill>
                  <a:srgbClr val="2F5BEA"/>
                </a:solidFill>
                <a:latin typeface="Aptos"/>
              </a:rPr>
              <a:t>VẬN HÀNH AN TOÀN</a:t>
            </a:r>
          </a:p>
        </p:txBody>
      </p:sp>
      <p:sp>
        <p:nvSpPr>
          <p:cNvPr id="29" name="Oval 28"/>
          <p:cNvSpPr/>
          <p:nvPr/>
        </p:nvSpPr>
        <p:spPr>
          <a:xfrm>
            <a:off x="6400800" y="4050791"/>
            <a:ext cx="100584" cy="100584"/>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6620256" y="3968496"/>
            <a:ext cx="4526280" cy="228600"/>
          </a:xfrm>
          <a:prstGeom prst="rect">
            <a:avLst/>
          </a:prstGeom>
          <a:noFill/>
        </p:spPr>
        <p:txBody>
          <a:bodyPr wrap="none" lIns="36576" rIns="36576" tIns="36576" bIns="36576" anchor="t">
            <a:spAutoFit/>
          </a:bodyPr>
          <a:lstStyle/>
          <a:p>
            <a:pPr algn="l"/>
            <a:r>
              <a:rPr sz="1000" b="0">
                <a:solidFill>
                  <a:srgbClr val="64708A"/>
                </a:solidFill>
                <a:latin typeface="Aptos"/>
              </a:rPr>
              <a:t>Health: /health/live + /health/ready</a:t>
            </a:r>
          </a:p>
        </p:txBody>
      </p:sp>
      <p:sp>
        <p:nvSpPr>
          <p:cNvPr id="31" name="Oval 30"/>
          <p:cNvSpPr/>
          <p:nvPr/>
        </p:nvSpPr>
        <p:spPr>
          <a:xfrm>
            <a:off x="6400800" y="4398264"/>
            <a:ext cx="100584" cy="100584"/>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6620256" y="4315968"/>
            <a:ext cx="4526280" cy="228600"/>
          </a:xfrm>
          <a:prstGeom prst="rect">
            <a:avLst/>
          </a:prstGeom>
          <a:noFill/>
        </p:spPr>
        <p:txBody>
          <a:bodyPr wrap="none" lIns="36576" rIns="36576" tIns="36576" bIns="36576" anchor="t">
            <a:spAutoFit/>
          </a:bodyPr>
          <a:lstStyle/>
          <a:p>
            <a:pPr algn="l"/>
            <a:r>
              <a:rPr sz="1000" b="0">
                <a:solidFill>
                  <a:srgbClr val="64708A"/>
                </a:solidFill>
                <a:latin typeface="Aptos"/>
              </a:rPr>
              <a:t>Backup/restore mặc định vào DB thử</a:t>
            </a:r>
          </a:p>
        </p:txBody>
      </p:sp>
      <p:sp>
        <p:nvSpPr>
          <p:cNvPr id="33" name="Oval 32"/>
          <p:cNvSpPr/>
          <p:nvPr/>
        </p:nvSpPr>
        <p:spPr>
          <a:xfrm>
            <a:off x="6400800" y="4745736"/>
            <a:ext cx="100584" cy="100584"/>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6620256" y="4663440"/>
            <a:ext cx="4526280" cy="228600"/>
          </a:xfrm>
          <a:prstGeom prst="rect">
            <a:avLst/>
          </a:prstGeom>
          <a:noFill/>
        </p:spPr>
        <p:txBody>
          <a:bodyPr wrap="none" lIns="36576" rIns="36576" tIns="36576" bIns="36576" anchor="t">
            <a:spAutoFit/>
          </a:bodyPr>
          <a:lstStyle/>
          <a:p>
            <a:pPr algn="l"/>
            <a:r>
              <a:rPr sz="1000" b="0">
                <a:solidFill>
                  <a:srgbClr val="64708A"/>
                </a:solidFill>
                <a:latin typeface="Aptos"/>
              </a:rPr>
              <a:t>Atlas IP allowlist + DB user tối thiểu</a:t>
            </a:r>
          </a:p>
        </p:txBody>
      </p:sp>
      <p:sp>
        <p:nvSpPr>
          <p:cNvPr id="35" name="Oval 34"/>
          <p:cNvSpPr/>
          <p:nvPr/>
        </p:nvSpPr>
        <p:spPr>
          <a:xfrm>
            <a:off x="6400800" y="5093208"/>
            <a:ext cx="100584" cy="100584"/>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620256" y="5010912"/>
            <a:ext cx="4526280" cy="228600"/>
          </a:xfrm>
          <a:prstGeom prst="rect">
            <a:avLst/>
          </a:prstGeom>
          <a:noFill/>
        </p:spPr>
        <p:txBody>
          <a:bodyPr wrap="none" lIns="36576" rIns="36576" tIns="36576" bIns="36576" anchor="t">
            <a:spAutoFit/>
          </a:bodyPr>
          <a:lstStyle/>
          <a:p>
            <a:pPr algn="l"/>
            <a:r>
              <a:rPr sz="1000" b="0">
                <a:solidFill>
                  <a:srgbClr val="64708A"/>
                </a:solidFill>
                <a:latin typeface="Aptos"/>
              </a:rPr>
              <a:t>Production: HSTS + lỗi đã làm sạch</a:t>
            </a:r>
          </a:p>
        </p:txBody>
      </p:sp>
      <p:cxnSp>
        <p:nvCxnSpPr>
          <p:cNvPr id="37" name="Connector 36"/>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38" name="TextBox 37"/>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clrMapOvr>
    <a:masterClrMapping/>
  </p:clrMapOvr>
  <p:transition spd="med">
    <p:wipe dir="r"/>
  </p:transition>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6F8FC"/>
        </a:solidFill>
        <a:effectLst/>
      </p:bgPr>
    </p:bg>
    <p:spTree>
      <p:nvGrpSpPr>
        <p:cNvPr id="1" name=""/>
        <p:cNvGrpSpPr/>
        <p:nvPr/>
      </p:nvGrpSpPr>
      <p:grpSpPr/>
      <p:sp>
        <p:nvSpPr>
          <p:cNvPr id="2" name="TextBox 1"/>
          <p:cNvSpPr txBox="1"/>
          <p:nvPr/>
        </p:nvSpPr>
        <p:spPr>
          <a:xfrm>
            <a:off x="594360" y="329184"/>
            <a:ext cx="7315200" cy="256032"/>
          </a:xfrm>
          <a:prstGeom prst="rect">
            <a:avLst/>
          </a:prstGeom>
          <a:noFill/>
        </p:spPr>
        <p:txBody>
          <a:bodyPr wrap="none" lIns="36576" rIns="36576" tIns="36576" bIns="36576" anchor="t">
            <a:spAutoFit/>
          </a:bodyPr>
          <a:lstStyle/>
          <a:p>
            <a:pPr algn="l"/>
            <a:r>
              <a:rPr sz="900" b="1">
                <a:solidFill>
                  <a:srgbClr val="2F5BEA"/>
                </a:solidFill>
                <a:latin typeface="Aptos"/>
              </a:rPr>
              <a:t>13 · ĐÁNH GIÁ</a:t>
            </a:r>
          </a:p>
        </p:txBody>
      </p:sp>
      <p:sp>
        <p:nvSpPr>
          <p:cNvPr id="3" name="TextBox 2"/>
          <p:cNvSpPr txBox="1"/>
          <p:nvPr/>
        </p:nvSpPr>
        <p:spPr>
          <a:xfrm>
            <a:off x="594360" y="658368"/>
            <a:ext cx="10972800" cy="502920"/>
          </a:xfrm>
          <a:prstGeom prst="rect">
            <a:avLst/>
          </a:prstGeom>
          <a:noFill/>
        </p:spPr>
        <p:txBody>
          <a:bodyPr wrap="none" lIns="36576" rIns="36576" tIns="36576" bIns="36576" anchor="t">
            <a:spAutoFit/>
          </a:bodyPr>
          <a:lstStyle/>
          <a:p>
            <a:pPr algn="l"/>
            <a:r>
              <a:rPr sz="2500" b="1">
                <a:solidFill>
                  <a:srgbClr val="14254A"/>
                </a:solidFill>
                <a:latin typeface="Aptos"/>
              </a:rPr>
              <a:t>Mức độ đáp ứng và giới hạn minh bạch</a:t>
            </a:r>
          </a:p>
        </p:txBody>
      </p:sp>
      <p:sp>
        <p:nvSpPr>
          <p:cNvPr id="4" name="TextBox 3"/>
          <p:cNvSpPr txBox="1"/>
          <p:nvPr/>
        </p:nvSpPr>
        <p:spPr>
          <a:xfrm>
            <a:off x="612648" y="1161288"/>
            <a:ext cx="10789920" cy="384048"/>
          </a:xfrm>
          <a:prstGeom prst="rect">
            <a:avLst/>
          </a:prstGeom>
          <a:noFill/>
        </p:spPr>
        <p:txBody>
          <a:bodyPr wrap="none" lIns="36576" rIns="36576" tIns="36576" bIns="36576" anchor="t">
            <a:spAutoFit/>
          </a:bodyPr>
          <a:lstStyle/>
          <a:p>
            <a:pPr algn="l"/>
            <a:r>
              <a:rPr sz="1100" b="0">
                <a:solidFill>
                  <a:srgbClr val="64708A"/>
                </a:solidFill>
                <a:latin typeface="Aptos"/>
              </a:rPr>
              <a:t>Tách rõ phần đã code với phần phải cấu hình tại môi trường.</a:t>
            </a:r>
          </a:p>
        </p:txBody>
      </p:sp>
      <p:sp>
        <p:nvSpPr>
          <p:cNvPr id="5" name="TextBox 4"/>
          <p:cNvSpPr txBox="1"/>
          <p:nvPr/>
        </p:nvSpPr>
        <p:spPr>
          <a:xfrm>
            <a:off x="11109960" y="384048"/>
            <a:ext cx="457200" cy="256032"/>
          </a:xfrm>
          <a:prstGeom prst="rect">
            <a:avLst/>
          </a:prstGeom>
          <a:noFill/>
        </p:spPr>
        <p:txBody>
          <a:bodyPr wrap="none" lIns="36576" rIns="36576" tIns="36576" bIns="36576" anchor="t">
            <a:spAutoFit/>
          </a:bodyPr>
          <a:lstStyle/>
          <a:p>
            <a:pPr algn="r"/>
            <a:r>
              <a:rPr sz="900" b="1">
                <a:solidFill>
                  <a:srgbClr val="64708A"/>
                </a:solidFill>
                <a:latin typeface="Aptos"/>
              </a:rPr>
              <a:t>16</a:t>
            </a:r>
          </a:p>
        </p:txBody>
      </p:sp>
      <p:sp>
        <p:nvSpPr>
          <p:cNvPr id="6" name="Rounded Rectangle 5"/>
          <p:cNvSpPr/>
          <p:nvPr/>
        </p:nvSpPr>
        <p:spPr>
          <a:xfrm>
            <a:off x="594360" y="1600200"/>
            <a:ext cx="5303520" cy="4251960"/>
          </a:xfrm>
          <a:prstGeom prst="roundRect">
            <a:avLst/>
          </a:prstGeom>
          <a:solidFill>
            <a:srgbClr val="FFFFFF"/>
          </a:solidFill>
          <a:ln>
            <a:solidFill>
              <a:srgbClr val="DDE3F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868680" y="1874519"/>
            <a:ext cx="4206240" cy="274320"/>
          </a:xfrm>
          <a:prstGeom prst="rect">
            <a:avLst/>
          </a:prstGeom>
          <a:noFill/>
        </p:spPr>
        <p:txBody>
          <a:bodyPr wrap="none" lIns="36576" rIns="36576" tIns="36576" bIns="36576" anchor="t">
            <a:spAutoFit/>
          </a:bodyPr>
          <a:lstStyle/>
          <a:p>
            <a:pPr algn="l"/>
            <a:r>
              <a:rPr sz="1100" b="1">
                <a:solidFill>
                  <a:srgbClr val="1F9D73"/>
                </a:solidFill>
                <a:latin typeface="Aptos"/>
              </a:rPr>
              <a:t>ĐÃ HOÀN THÀNH TRONG SOURCE</a:t>
            </a:r>
          </a:p>
        </p:txBody>
      </p:sp>
      <p:sp>
        <p:nvSpPr>
          <p:cNvPr id="8" name="Oval 7"/>
          <p:cNvSpPr/>
          <p:nvPr/>
        </p:nvSpPr>
        <p:spPr>
          <a:xfrm>
            <a:off x="896112" y="2450592"/>
            <a:ext cx="109728" cy="109728"/>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170432" y="2359152"/>
            <a:ext cx="4206240" cy="256032"/>
          </a:xfrm>
          <a:prstGeom prst="rect">
            <a:avLst/>
          </a:prstGeom>
          <a:noFill/>
        </p:spPr>
        <p:txBody>
          <a:bodyPr wrap="none" lIns="36576" rIns="36576" tIns="36576" bIns="36576" anchor="t">
            <a:spAutoFit/>
          </a:bodyPr>
          <a:lstStyle/>
          <a:p>
            <a:pPr algn="l"/>
            <a:r>
              <a:rPr sz="1100" b="0">
                <a:solidFill>
                  <a:srgbClr val="14254A"/>
                </a:solidFill>
                <a:latin typeface="Aptos"/>
              </a:rPr>
              <a:t>Ba phân hệ nghiệp vụ chính</a:t>
            </a:r>
          </a:p>
        </p:txBody>
      </p:sp>
      <p:sp>
        <p:nvSpPr>
          <p:cNvPr id="10" name="Oval 9"/>
          <p:cNvSpPr/>
          <p:nvPr/>
        </p:nvSpPr>
        <p:spPr>
          <a:xfrm>
            <a:off x="896112" y="2907792"/>
            <a:ext cx="109728" cy="109728"/>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170432" y="2816352"/>
            <a:ext cx="4206240" cy="256032"/>
          </a:xfrm>
          <a:prstGeom prst="rect">
            <a:avLst/>
          </a:prstGeom>
          <a:noFill/>
        </p:spPr>
        <p:txBody>
          <a:bodyPr wrap="none" lIns="36576" rIns="36576" tIns="36576" bIns="36576" anchor="t">
            <a:spAutoFit/>
          </a:bodyPr>
          <a:lstStyle/>
          <a:p>
            <a:pPr algn="l"/>
            <a:r>
              <a:rPr sz="1100" b="0">
                <a:solidFill>
                  <a:srgbClr val="14254A"/>
                </a:solidFill>
                <a:latin typeface="Aptos"/>
              </a:rPr>
              <a:t>4 role + permission + data scope</a:t>
            </a:r>
          </a:p>
        </p:txBody>
      </p:sp>
      <p:sp>
        <p:nvSpPr>
          <p:cNvPr id="12" name="Oval 11"/>
          <p:cNvSpPr/>
          <p:nvPr/>
        </p:nvSpPr>
        <p:spPr>
          <a:xfrm>
            <a:off x="896112" y="3364992"/>
            <a:ext cx="109728" cy="109728"/>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1170432" y="3273552"/>
            <a:ext cx="4206240" cy="256032"/>
          </a:xfrm>
          <a:prstGeom prst="rect">
            <a:avLst/>
          </a:prstGeom>
          <a:noFill/>
        </p:spPr>
        <p:txBody>
          <a:bodyPr wrap="none" lIns="36576" rIns="36576" tIns="36576" bIns="36576" anchor="t">
            <a:spAutoFit/>
          </a:bodyPr>
          <a:lstStyle/>
          <a:p>
            <a:pPr algn="l"/>
            <a:r>
              <a:rPr sz="1100" b="0">
                <a:solidFill>
                  <a:srgbClr val="14254A"/>
                </a:solidFill>
                <a:latin typeface="Aptos"/>
              </a:rPr>
              <a:t>Kho học liệu &amp; quy trình duyệt</a:t>
            </a:r>
          </a:p>
        </p:txBody>
      </p:sp>
      <p:sp>
        <p:nvSpPr>
          <p:cNvPr id="14" name="Oval 13"/>
          <p:cNvSpPr/>
          <p:nvPr/>
        </p:nvSpPr>
        <p:spPr>
          <a:xfrm>
            <a:off x="896112" y="3822191"/>
            <a:ext cx="109728" cy="109728"/>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1170432" y="3730752"/>
            <a:ext cx="4206240" cy="256032"/>
          </a:xfrm>
          <a:prstGeom prst="rect">
            <a:avLst/>
          </a:prstGeom>
          <a:noFill/>
        </p:spPr>
        <p:txBody>
          <a:bodyPr wrap="none" lIns="36576" rIns="36576" tIns="36576" bIns="36576" anchor="t">
            <a:spAutoFit/>
          </a:bodyPr>
          <a:lstStyle/>
          <a:p>
            <a:pPr algn="l"/>
            <a:r>
              <a:rPr sz="1100" b="0">
                <a:solidFill>
                  <a:srgbClr val="14254A"/>
                </a:solidFill>
                <a:latin typeface="Aptos"/>
              </a:rPr>
              <a:t>Quiz + OpenAI tạo câu hỏi Draft</a:t>
            </a:r>
          </a:p>
        </p:txBody>
      </p:sp>
      <p:sp>
        <p:nvSpPr>
          <p:cNvPr id="16" name="Oval 15"/>
          <p:cNvSpPr/>
          <p:nvPr/>
        </p:nvSpPr>
        <p:spPr>
          <a:xfrm>
            <a:off x="896112" y="4279392"/>
            <a:ext cx="109728" cy="109728"/>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1170432" y="4187952"/>
            <a:ext cx="4206240" cy="256032"/>
          </a:xfrm>
          <a:prstGeom prst="rect">
            <a:avLst/>
          </a:prstGeom>
          <a:noFill/>
        </p:spPr>
        <p:txBody>
          <a:bodyPr wrap="none" lIns="36576" rIns="36576" tIns="36576" bIns="36576" anchor="t">
            <a:spAutoFit/>
          </a:bodyPr>
          <a:lstStyle/>
          <a:p>
            <a:pPr algn="l"/>
            <a:r>
              <a:rPr sz="1100" b="0">
                <a:solidFill>
                  <a:srgbClr val="14254A"/>
                </a:solidFill>
                <a:latin typeface="Aptos"/>
              </a:rPr>
              <a:t>OTP, CSRF, IDOR, upload, audit</a:t>
            </a:r>
          </a:p>
        </p:txBody>
      </p:sp>
      <p:sp>
        <p:nvSpPr>
          <p:cNvPr id="18" name="Oval 17"/>
          <p:cNvSpPr/>
          <p:nvPr/>
        </p:nvSpPr>
        <p:spPr>
          <a:xfrm>
            <a:off x="896112" y="4736592"/>
            <a:ext cx="109728" cy="109728"/>
          </a:xfrm>
          <a:prstGeom prst="ellipse">
            <a:avLst/>
          </a:prstGeom>
          <a:solidFill>
            <a:srgbClr val="1F9D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170432" y="4645152"/>
            <a:ext cx="4206240" cy="256032"/>
          </a:xfrm>
          <a:prstGeom prst="rect">
            <a:avLst/>
          </a:prstGeom>
          <a:noFill/>
        </p:spPr>
        <p:txBody>
          <a:bodyPr wrap="none" lIns="36576" rIns="36576" tIns="36576" bIns="36576" anchor="t">
            <a:spAutoFit/>
          </a:bodyPr>
          <a:lstStyle/>
          <a:p>
            <a:pPr algn="l"/>
            <a:r>
              <a:rPr sz="1100" b="0">
                <a:solidFill>
                  <a:srgbClr val="14254A"/>
                </a:solidFill>
                <a:latin typeface="Aptos"/>
              </a:rPr>
              <a:t>React TypeScript toàn bộ luồng chính</a:t>
            </a:r>
          </a:p>
        </p:txBody>
      </p:sp>
      <p:sp>
        <p:nvSpPr>
          <p:cNvPr id="20" name="Rounded Rectangle 19"/>
          <p:cNvSpPr/>
          <p:nvPr/>
        </p:nvSpPr>
        <p:spPr>
          <a:xfrm>
            <a:off x="6217920" y="1600200"/>
            <a:ext cx="5394960" cy="4251960"/>
          </a:xfrm>
          <a:prstGeom prst="roundRect">
            <a:avLst/>
          </a:prstGeom>
          <a:solidFill>
            <a:srgbClr val="FFF4DC"/>
          </a:solidFill>
          <a:ln>
            <a:solidFill>
              <a:srgbClr val="F0DCA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6492240" y="1874519"/>
            <a:ext cx="4389120" cy="274320"/>
          </a:xfrm>
          <a:prstGeom prst="rect">
            <a:avLst/>
          </a:prstGeom>
          <a:noFill/>
        </p:spPr>
        <p:txBody>
          <a:bodyPr wrap="none" lIns="36576" rIns="36576" tIns="36576" bIns="36576" anchor="t">
            <a:spAutoFit/>
          </a:bodyPr>
          <a:lstStyle/>
          <a:p>
            <a:pPr algn="l"/>
            <a:r>
              <a:rPr sz="1100" b="1">
                <a:solidFill>
                  <a:srgbClr val="A66B00"/>
                </a:solidFill>
                <a:latin typeface="Aptos"/>
              </a:rPr>
              <a:t>CẦN NGHIỆM THU NGOÀI SOURCE</a:t>
            </a:r>
          </a:p>
        </p:txBody>
      </p:sp>
      <p:sp>
        <p:nvSpPr>
          <p:cNvPr id="22" name="Oval 21"/>
          <p:cNvSpPr/>
          <p:nvPr/>
        </p:nvSpPr>
        <p:spPr>
          <a:xfrm>
            <a:off x="6519672" y="2450592"/>
            <a:ext cx="109728" cy="109728"/>
          </a:xfrm>
          <a:prstGeom prst="ellipse">
            <a:avLst/>
          </a:prstGeom>
          <a:solidFill>
            <a:srgbClr val="F5B9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93992" y="2359152"/>
            <a:ext cx="4251960" cy="256032"/>
          </a:xfrm>
          <a:prstGeom prst="rect">
            <a:avLst/>
          </a:prstGeom>
          <a:noFill/>
        </p:spPr>
        <p:txBody>
          <a:bodyPr wrap="none" lIns="36576" rIns="36576" tIns="36576" bIns="36576" anchor="t">
            <a:spAutoFit/>
          </a:bodyPr>
          <a:lstStyle/>
          <a:p>
            <a:pPr algn="l"/>
            <a:r>
              <a:rPr sz="1100" b="0">
                <a:solidFill>
                  <a:srgbClr val="14254A"/>
                </a:solidFill>
                <a:latin typeface="Aptos"/>
              </a:rPr>
              <a:t>Atlas Audit Logs / Cloud Backup</a:t>
            </a:r>
          </a:p>
        </p:txBody>
      </p:sp>
      <p:sp>
        <p:nvSpPr>
          <p:cNvPr id="24" name="Oval 23"/>
          <p:cNvSpPr/>
          <p:nvPr/>
        </p:nvSpPr>
        <p:spPr>
          <a:xfrm>
            <a:off x="6519672" y="2907792"/>
            <a:ext cx="109728" cy="109728"/>
          </a:xfrm>
          <a:prstGeom prst="ellipse">
            <a:avLst/>
          </a:prstGeom>
          <a:solidFill>
            <a:srgbClr val="F5B9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6793992" y="2816352"/>
            <a:ext cx="4251960" cy="256032"/>
          </a:xfrm>
          <a:prstGeom prst="rect">
            <a:avLst/>
          </a:prstGeom>
          <a:noFill/>
        </p:spPr>
        <p:txBody>
          <a:bodyPr wrap="none" lIns="36576" rIns="36576" tIns="36576" bIns="36576" anchor="t">
            <a:spAutoFit/>
          </a:bodyPr>
          <a:lstStyle/>
          <a:p>
            <a:pPr algn="l"/>
            <a:r>
              <a:rPr sz="1100" b="0">
                <a:solidFill>
                  <a:srgbClr val="14254A"/>
                </a:solidFill>
                <a:latin typeface="Aptos"/>
              </a:rPr>
              <a:t>Restore snapshot thật và IP allowlist</a:t>
            </a:r>
          </a:p>
        </p:txBody>
      </p:sp>
      <p:sp>
        <p:nvSpPr>
          <p:cNvPr id="26" name="Oval 25"/>
          <p:cNvSpPr/>
          <p:nvPr/>
        </p:nvSpPr>
        <p:spPr>
          <a:xfrm>
            <a:off x="6519672" y="3364992"/>
            <a:ext cx="109728" cy="109728"/>
          </a:xfrm>
          <a:prstGeom prst="ellipse">
            <a:avLst/>
          </a:prstGeom>
          <a:solidFill>
            <a:srgbClr val="F5B9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6793992" y="3273552"/>
            <a:ext cx="4251960" cy="256032"/>
          </a:xfrm>
          <a:prstGeom prst="rect">
            <a:avLst/>
          </a:prstGeom>
          <a:noFill/>
        </p:spPr>
        <p:txBody>
          <a:bodyPr wrap="none" lIns="36576" rIns="36576" tIns="36576" bIns="36576" anchor="t">
            <a:spAutoFit/>
          </a:bodyPr>
          <a:lstStyle/>
          <a:p>
            <a:pPr algn="l"/>
            <a:r>
              <a:rPr sz="1100" b="0">
                <a:solidFill>
                  <a:srgbClr val="14254A"/>
                </a:solidFill>
                <a:latin typeface="Aptos"/>
              </a:rPr>
              <a:t>Gmail · VNPAY · OpenAI key thật</a:t>
            </a:r>
          </a:p>
        </p:txBody>
      </p:sp>
      <p:sp>
        <p:nvSpPr>
          <p:cNvPr id="28" name="Oval 27"/>
          <p:cNvSpPr/>
          <p:nvPr/>
        </p:nvSpPr>
        <p:spPr>
          <a:xfrm>
            <a:off x="6519672" y="3822191"/>
            <a:ext cx="109728" cy="109728"/>
          </a:xfrm>
          <a:prstGeom prst="ellipse">
            <a:avLst/>
          </a:prstGeom>
          <a:solidFill>
            <a:srgbClr val="F5B9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793992" y="3730752"/>
            <a:ext cx="4251960" cy="256032"/>
          </a:xfrm>
          <a:prstGeom prst="rect">
            <a:avLst/>
          </a:prstGeom>
          <a:noFill/>
        </p:spPr>
        <p:txBody>
          <a:bodyPr wrap="none" lIns="36576" rIns="36576" tIns="36576" bIns="36576" anchor="t">
            <a:spAutoFit/>
          </a:bodyPr>
          <a:lstStyle/>
          <a:p>
            <a:pPr algn="l"/>
            <a:r>
              <a:rPr sz="1100" b="0">
                <a:solidFill>
                  <a:srgbClr val="14254A"/>
                </a:solidFill>
                <a:latin typeface="Aptos"/>
              </a:rPr>
              <a:t>Ảnh khảo sát &amp; so sánh LMS</a:t>
            </a:r>
          </a:p>
        </p:txBody>
      </p:sp>
      <p:sp>
        <p:nvSpPr>
          <p:cNvPr id="30" name="Oval 29"/>
          <p:cNvSpPr/>
          <p:nvPr/>
        </p:nvSpPr>
        <p:spPr>
          <a:xfrm>
            <a:off x="6519672" y="4279392"/>
            <a:ext cx="109728" cy="109728"/>
          </a:xfrm>
          <a:prstGeom prst="ellipse">
            <a:avLst/>
          </a:prstGeom>
          <a:solidFill>
            <a:srgbClr val="F5B9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6793992" y="4187952"/>
            <a:ext cx="4251960" cy="256032"/>
          </a:xfrm>
          <a:prstGeom prst="rect">
            <a:avLst/>
          </a:prstGeom>
          <a:noFill/>
        </p:spPr>
        <p:txBody>
          <a:bodyPr wrap="none" lIns="36576" rIns="36576" tIns="36576" bIns="36576" anchor="t">
            <a:spAutoFit/>
          </a:bodyPr>
          <a:lstStyle/>
          <a:p>
            <a:pPr algn="l"/>
            <a:r>
              <a:rPr sz="1100" b="0">
                <a:solidFill>
                  <a:srgbClr val="14254A"/>
                </a:solidFill>
                <a:latin typeface="Aptos"/>
              </a:rPr>
              <a:t>Nếu bắt buộc: lab SQL Server riêng</a:t>
            </a:r>
          </a:p>
        </p:txBody>
      </p:sp>
      <p:sp>
        <p:nvSpPr>
          <p:cNvPr id="32" name="Oval 31"/>
          <p:cNvSpPr/>
          <p:nvPr/>
        </p:nvSpPr>
        <p:spPr>
          <a:xfrm>
            <a:off x="6519672" y="4736592"/>
            <a:ext cx="109728" cy="109728"/>
          </a:xfrm>
          <a:prstGeom prst="ellipse">
            <a:avLst/>
          </a:prstGeom>
          <a:solidFill>
            <a:srgbClr val="F5B942"/>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6793992" y="4645152"/>
            <a:ext cx="4251960" cy="256032"/>
          </a:xfrm>
          <a:prstGeom prst="rect">
            <a:avLst/>
          </a:prstGeom>
          <a:noFill/>
        </p:spPr>
        <p:txBody>
          <a:bodyPr wrap="none" lIns="36576" rIns="36576" tIns="36576" bIns="36576" anchor="t">
            <a:spAutoFit/>
          </a:bodyPr>
          <a:lstStyle/>
          <a:p>
            <a:pPr algn="l"/>
            <a:r>
              <a:rPr sz="1100" b="0">
                <a:solidFill>
                  <a:srgbClr val="14254A"/>
                </a:solidFill>
                <a:latin typeface="Aptos"/>
              </a:rPr>
              <a:t>Chatbot sinh viên: hướng phát triển</a:t>
            </a:r>
          </a:p>
        </p:txBody>
      </p:sp>
      <p:cxnSp>
        <p:nvCxnSpPr>
          <p:cNvPr id="34" name="Connector 33"/>
          <p:cNvCxnSpPr/>
          <p:nvPr/>
        </p:nvCxnSpPr>
        <p:spPr>
          <a:xfrm>
            <a:off x="594360" y="6528816"/>
            <a:ext cx="11000232" cy="0"/>
          </a:xfrm>
          <a:prstGeom prst="line">
            <a:avLst/>
          </a:prstGeom>
          <a:ln w="8890">
            <a:solidFill>
              <a:srgbClr val="DDE3F0"/>
            </a:solidFill>
          </a:ln>
        </p:spPr>
        <p:style>
          <a:lnRef idx="2">
            <a:schemeClr val="accent1"/>
          </a:lnRef>
          <a:fillRef idx="0">
            <a:schemeClr val="accent1"/>
          </a:fillRef>
          <a:effectRef idx="1">
            <a:schemeClr val="accent1"/>
          </a:effectRef>
          <a:fontRef idx="minor">
            <a:schemeClr val="tx1"/>
          </a:fontRef>
        </p:style>
      </p:cxnSp>
      <p:sp>
        <p:nvSpPr>
          <p:cNvPr id="35" name="TextBox 34"/>
          <p:cNvSpPr txBox="1"/>
          <p:nvPr/>
        </p:nvSpPr>
        <p:spPr>
          <a:xfrm>
            <a:off x="612648" y="6583680"/>
            <a:ext cx="7315200" cy="164592"/>
          </a:xfrm>
          <a:prstGeom prst="rect">
            <a:avLst/>
          </a:prstGeom>
          <a:noFill/>
        </p:spPr>
        <p:txBody>
          <a:bodyPr wrap="none" lIns="36576" rIns="36576" tIns="36576" bIns="36576" anchor="t">
            <a:spAutoFit/>
          </a:bodyPr>
          <a:lstStyle/>
          <a:p>
            <a:pPr algn="l"/>
            <a:r>
              <a:rPr sz="700" b="1">
                <a:solidFill>
                  <a:srgbClr val="64708A"/>
                </a:solidFill>
                <a:latin typeface="Aptos"/>
              </a:rPr>
              <a:t>LEARNSPACE · ASP.NET CORE + REACT + MONGODB</a:t>
            </a:r>
          </a:p>
        </p:txBody>
      </p:sp>
    </p:spTree>
  </p:cSld>
  <p:clrMapOvr>
    <a:masterClrMapping/>
  </p:clrMapOvr>
  <p:transition spd="med">
    <p:fade/>
  </p:transition>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14254A"/>
        </a:solidFill>
        <a:effectLst/>
      </p:bgPr>
    </p:bg>
    <p:spTree>
      <p:nvGrpSpPr>
        <p:cNvPr id="1" name=""/>
        <p:cNvGrpSpPr/>
        <p:nvPr/>
      </p:nvGrpSpPr>
      <p:grpSpPr/>
      <p:sp>
        <p:nvSpPr>
          <p:cNvPr id="2" name="TextBox 1"/>
          <p:cNvSpPr txBox="1"/>
          <p:nvPr/>
        </p:nvSpPr>
        <p:spPr>
          <a:xfrm>
            <a:off x="594360" y="411480"/>
            <a:ext cx="1828800" cy="274320"/>
          </a:xfrm>
          <a:prstGeom prst="rect">
            <a:avLst/>
          </a:prstGeom>
          <a:noFill/>
        </p:spPr>
        <p:txBody>
          <a:bodyPr wrap="none" lIns="36576" rIns="36576" tIns="36576" bIns="36576" anchor="t">
            <a:spAutoFit/>
          </a:bodyPr>
          <a:lstStyle/>
          <a:p>
            <a:pPr algn="l"/>
            <a:r>
              <a:rPr sz="1000" b="1">
                <a:solidFill>
                  <a:srgbClr val="3EC6E0"/>
                </a:solidFill>
                <a:latin typeface="Aptos"/>
              </a:rPr>
              <a:t>DEMO FLOW</a:t>
            </a:r>
          </a:p>
        </p:txBody>
      </p:sp>
      <p:sp>
        <p:nvSpPr>
          <p:cNvPr id="3" name="TextBox 2"/>
          <p:cNvSpPr txBox="1"/>
          <p:nvPr/>
        </p:nvSpPr>
        <p:spPr>
          <a:xfrm>
            <a:off x="594360" y="804672"/>
            <a:ext cx="7498079" cy="502920"/>
          </a:xfrm>
          <a:prstGeom prst="rect">
            <a:avLst/>
          </a:prstGeom>
          <a:noFill/>
        </p:spPr>
        <p:txBody>
          <a:bodyPr wrap="none" lIns="36576" rIns="36576" tIns="36576" bIns="36576" anchor="t">
            <a:spAutoFit/>
          </a:bodyPr>
          <a:lstStyle/>
          <a:p>
            <a:pPr algn="l"/>
            <a:r>
              <a:rPr sz="2700" b="1">
                <a:solidFill>
                  <a:srgbClr val="FFFFFF"/>
                </a:solidFill>
                <a:latin typeface="Aptos"/>
              </a:rPr>
              <a:t>5 phút để chứng minh hệ thống hoạt động</a:t>
            </a:r>
          </a:p>
        </p:txBody>
      </p:sp>
      <p:sp>
        <p:nvSpPr>
          <p:cNvPr id="4" name="Rounded Rectangle 3"/>
          <p:cNvSpPr/>
          <p:nvPr/>
        </p:nvSpPr>
        <p:spPr>
          <a:xfrm>
            <a:off x="594360" y="1664208"/>
            <a:ext cx="1993392" cy="1261872"/>
          </a:xfrm>
          <a:prstGeom prst="roundRect">
            <a:avLst/>
          </a:prstGeom>
          <a:solidFill>
            <a:srgbClr val="1D3974"/>
          </a:solidFill>
          <a:ln>
            <a:solidFill>
              <a:srgbClr val="3352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758952" y="1856231"/>
            <a:ext cx="411480" cy="256032"/>
          </a:xfrm>
          <a:prstGeom prst="rect">
            <a:avLst/>
          </a:prstGeom>
          <a:noFill/>
        </p:spPr>
        <p:txBody>
          <a:bodyPr wrap="none" lIns="36576" rIns="36576" tIns="36576" bIns="36576" anchor="t">
            <a:spAutoFit/>
          </a:bodyPr>
          <a:lstStyle/>
          <a:p>
            <a:pPr algn="l"/>
            <a:r>
              <a:rPr sz="1100" b="1">
                <a:solidFill>
                  <a:srgbClr val="3EC6E0"/>
                </a:solidFill>
                <a:latin typeface="Aptos"/>
              </a:rPr>
              <a:t>01</a:t>
            </a:r>
          </a:p>
        </p:txBody>
      </p:sp>
      <p:sp>
        <p:nvSpPr>
          <p:cNvPr id="6" name="TextBox 5"/>
          <p:cNvSpPr txBox="1"/>
          <p:nvPr/>
        </p:nvSpPr>
        <p:spPr>
          <a:xfrm>
            <a:off x="758952" y="2295144"/>
            <a:ext cx="1645920" cy="384048"/>
          </a:xfrm>
          <a:prstGeom prst="rect">
            <a:avLst/>
          </a:prstGeom>
          <a:noFill/>
        </p:spPr>
        <p:txBody>
          <a:bodyPr wrap="none" lIns="36576" rIns="36576" tIns="36576" bIns="36576" anchor="t">
            <a:spAutoFit/>
          </a:bodyPr>
          <a:lstStyle/>
          <a:p>
            <a:pPr algn="l"/>
            <a:r>
              <a:rPr sz="1100" b="1">
                <a:solidFill>
                  <a:srgbClr val="FFFFFF"/>
                </a:solidFill>
                <a:latin typeface="Aptos"/>
              </a:rPr>
              <a:t>Đăng nhập 4 vai trò</a:t>
            </a:r>
          </a:p>
        </p:txBody>
      </p:sp>
      <p:sp>
        <p:nvSpPr>
          <p:cNvPr id="7" name="Rounded Rectangle 6"/>
          <p:cNvSpPr/>
          <p:nvPr/>
        </p:nvSpPr>
        <p:spPr>
          <a:xfrm>
            <a:off x="2834640" y="1664208"/>
            <a:ext cx="1993392" cy="1261872"/>
          </a:xfrm>
          <a:prstGeom prst="roundRect">
            <a:avLst/>
          </a:prstGeom>
          <a:solidFill>
            <a:srgbClr val="1D3974"/>
          </a:solidFill>
          <a:ln>
            <a:solidFill>
              <a:srgbClr val="3352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2999232" y="1856231"/>
            <a:ext cx="411480" cy="256032"/>
          </a:xfrm>
          <a:prstGeom prst="rect">
            <a:avLst/>
          </a:prstGeom>
          <a:noFill/>
        </p:spPr>
        <p:txBody>
          <a:bodyPr wrap="none" lIns="36576" rIns="36576" tIns="36576" bIns="36576" anchor="t">
            <a:spAutoFit/>
          </a:bodyPr>
          <a:lstStyle/>
          <a:p>
            <a:pPr algn="l"/>
            <a:r>
              <a:rPr sz="1100" b="1">
                <a:solidFill>
                  <a:srgbClr val="3EC6E0"/>
                </a:solidFill>
                <a:latin typeface="Aptos"/>
              </a:rPr>
              <a:t>02</a:t>
            </a:r>
          </a:p>
        </p:txBody>
      </p:sp>
      <p:sp>
        <p:nvSpPr>
          <p:cNvPr id="9" name="TextBox 8"/>
          <p:cNvSpPr txBox="1"/>
          <p:nvPr/>
        </p:nvSpPr>
        <p:spPr>
          <a:xfrm>
            <a:off x="2999232" y="2295144"/>
            <a:ext cx="1645920" cy="384048"/>
          </a:xfrm>
          <a:prstGeom prst="rect">
            <a:avLst/>
          </a:prstGeom>
          <a:noFill/>
        </p:spPr>
        <p:txBody>
          <a:bodyPr wrap="none" lIns="36576" rIns="36576" tIns="36576" bIns="36576" anchor="t">
            <a:spAutoFit/>
          </a:bodyPr>
          <a:lstStyle/>
          <a:p>
            <a:pPr algn="l"/>
            <a:r>
              <a:rPr sz="1100" b="1">
                <a:solidFill>
                  <a:srgbClr val="FFFFFF"/>
                </a:solidFill>
                <a:latin typeface="Aptos"/>
              </a:rPr>
              <a:t>Teacher tạo học liệu</a:t>
            </a:r>
          </a:p>
        </p:txBody>
      </p:sp>
      <p:sp>
        <p:nvSpPr>
          <p:cNvPr id="10" name="Rounded Rectangle 9"/>
          <p:cNvSpPr/>
          <p:nvPr/>
        </p:nvSpPr>
        <p:spPr>
          <a:xfrm>
            <a:off x="5074920" y="1664208"/>
            <a:ext cx="1993392" cy="1261872"/>
          </a:xfrm>
          <a:prstGeom prst="roundRect">
            <a:avLst/>
          </a:prstGeom>
          <a:solidFill>
            <a:srgbClr val="1D3974"/>
          </a:solidFill>
          <a:ln>
            <a:solidFill>
              <a:srgbClr val="3352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239512" y="1856231"/>
            <a:ext cx="411480" cy="256032"/>
          </a:xfrm>
          <a:prstGeom prst="rect">
            <a:avLst/>
          </a:prstGeom>
          <a:noFill/>
        </p:spPr>
        <p:txBody>
          <a:bodyPr wrap="none" lIns="36576" rIns="36576" tIns="36576" bIns="36576" anchor="t">
            <a:spAutoFit/>
          </a:bodyPr>
          <a:lstStyle/>
          <a:p>
            <a:pPr algn="l"/>
            <a:r>
              <a:rPr sz="1100" b="1">
                <a:solidFill>
                  <a:srgbClr val="3EC6E0"/>
                </a:solidFill>
                <a:latin typeface="Aptos"/>
              </a:rPr>
              <a:t>03</a:t>
            </a:r>
          </a:p>
        </p:txBody>
      </p:sp>
      <p:sp>
        <p:nvSpPr>
          <p:cNvPr id="12" name="TextBox 11"/>
          <p:cNvSpPr txBox="1"/>
          <p:nvPr/>
        </p:nvSpPr>
        <p:spPr>
          <a:xfrm>
            <a:off x="5239512" y="2295144"/>
            <a:ext cx="1645920" cy="384048"/>
          </a:xfrm>
          <a:prstGeom prst="rect">
            <a:avLst/>
          </a:prstGeom>
          <a:noFill/>
        </p:spPr>
        <p:txBody>
          <a:bodyPr wrap="none" lIns="36576" rIns="36576" tIns="36576" bIns="36576" anchor="t">
            <a:spAutoFit/>
          </a:bodyPr>
          <a:lstStyle/>
          <a:p>
            <a:pPr algn="l"/>
            <a:r>
              <a:rPr sz="1100" b="1">
                <a:solidFill>
                  <a:srgbClr val="FFFFFF"/>
                </a:solidFill>
                <a:latin typeface="Aptos"/>
              </a:rPr>
              <a:t>Staff duyệt &amp; công bố</a:t>
            </a:r>
          </a:p>
        </p:txBody>
      </p:sp>
      <p:sp>
        <p:nvSpPr>
          <p:cNvPr id="13" name="Rounded Rectangle 12"/>
          <p:cNvSpPr/>
          <p:nvPr/>
        </p:nvSpPr>
        <p:spPr>
          <a:xfrm>
            <a:off x="7315200" y="1664208"/>
            <a:ext cx="1993392" cy="1261872"/>
          </a:xfrm>
          <a:prstGeom prst="roundRect">
            <a:avLst/>
          </a:prstGeom>
          <a:solidFill>
            <a:srgbClr val="1D3974"/>
          </a:solidFill>
          <a:ln>
            <a:solidFill>
              <a:srgbClr val="3352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479792" y="1856231"/>
            <a:ext cx="411480" cy="256032"/>
          </a:xfrm>
          <a:prstGeom prst="rect">
            <a:avLst/>
          </a:prstGeom>
          <a:noFill/>
        </p:spPr>
        <p:txBody>
          <a:bodyPr wrap="none" lIns="36576" rIns="36576" tIns="36576" bIns="36576" anchor="t">
            <a:spAutoFit/>
          </a:bodyPr>
          <a:lstStyle/>
          <a:p>
            <a:pPr algn="l"/>
            <a:r>
              <a:rPr sz="1100" b="1">
                <a:solidFill>
                  <a:srgbClr val="3EC6E0"/>
                </a:solidFill>
                <a:latin typeface="Aptos"/>
              </a:rPr>
              <a:t>04</a:t>
            </a:r>
          </a:p>
        </p:txBody>
      </p:sp>
      <p:sp>
        <p:nvSpPr>
          <p:cNvPr id="15" name="TextBox 14"/>
          <p:cNvSpPr txBox="1"/>
          <p:nvPr/>
        </p:nvSpPr>
        <p:spPr>
          <a:xfrm>
            <a:off x="7479792" y="2295144"/>
            <a:ext cx="1645920" cy="384048"/>
          </a:xfrm>
          <a:prstGeom prst="rect">
            <a:avLst/>
          </a:prstGeom>
          <a:noFill/>
        </p:spPr>
        <p:txBody>
          <a:bodyPr wrap="none" lIns="36576" rIns="36576" tIns="36576" bIns="36576" anchor="t">
            <a:spAutoFit/>
          </a:bodyPr>
          <a:lstStyle/>
          <a:p>
            <a:pPr algn="l"/>
            <a:r>
              <a:rPr sz="1100" b="1">
                <a:solidFill>
                  <a:srgbClr val="FFFFFF"/>
                </a:solidFill>
                <a:latin typeface="Aptos"/>
              </a:rPr>
              <a:t>AI tạo câu hỏi Draft</a:t>
            </a:r>
          </a:p>
        </p:txBody>
      </p:sp>
      <p:sp>
        <p:nvSpPr>
          <p:cNvPr id="16" name="Rounded Rectangle 15"/>
          <p:cNvSpPr/>
          <p:nvPr/>
        </p:nvSpPr>
        <p:spPr>
          <a:xfrm>
            <a:off x="9555480" y="1664208"/>
            <a:ext cx="1993392" cy="1261872"/>
          </a:xfrm>
          <a:prstGeom prst="roundRect">
            <a:avLst/>
          </a:prstGeom>
          <a:solidFill>
            <a:srgbClr val="1D3974"/>
          </a:solidFill>
          <a:ln>
            <a:solidFill>
              <a:srgbClr val="33528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9720072" y="1856231"/>
            <a:ext cx="411480" cy="256032"/>
          </a:xfrm>
          <a:prstGeom prst="rect">
            <a:avLst/>
          </a:prstGeom>
          <a:noFill/>
        </p:spPr>
        <p:txBody>
          <a:bodyPr wrap="none" lIns="36576" rIns="36576" tIns="36576" bIns="36576" anchor="t">
            <a:spAutoFit/>
          </a:bodyPr>
          <a:lstStyle/>
          <a:p>
            <a:pPr algn="l"/>
            <a:r>
              <a:rPr sz="1100" b="1">
                <a:solidFill>
                  <a:srgbClr val="3EC6E0"/>
                </a:solidFill>
                <a:latin typeface="Aptos"/>
              </a:rPr>
              <a:t>05</a:t>
            </a:r>
          </a:p>
        </p:txBody>
      </p:sp>
      <p:sp>
        <p:nvSpPr>
          <p:cNvPr id="18" name="TextBox 17"/>
          <p:cNvSpPr txBox="1"/>
          <p:nvPr/>
        </p:nvSpPr>
        <p:spPr>
          <a:xfrm>
            <a:off x="9720072" y="2295144"/>
            <a:ext cx="1645920" cy="384048"/>
          </a:xfrm>
          <a:prstGeom prst="rect">
            <a:avLst/>
          </a:prstGeom>
          <a:noFill/>
        </p:spPr>
        <p:txBody>
          <a:bodyPr wrap="none" lIns="36576" rIns="36576" tIns="36576" bIns="36576" anchor="t">
            <a:spAutoFit/>
          </a:bodyPr>
          <a:lstStyle/>
          <a:p>
            <a:pPr algn="l"/>
            <a:r>
              <a:rPr sz="1100" b="1">
                <a:solidFill>
                  <a:srgbClr val="FFFFFF"/>
                </a:solidFill>
                <a:latin typeface="Aptos"/>
              </a:rPr>
              <a:t>Student học và xem điểm</a:t>
            </a:r>
          </a:p>
        </p:txBody>
      </p:sp>
      <p:sp>
        <p:nvSpPr>
          <p:cNvPr id="19" name="TextBox 18"/>
          <p:cNvSpPr txBox="1"/>
          <p:nvPr/>
        </p:nvSpPr>
        <p:spPr>
          <a:xfrm>
            <a:off x="612648" y="3456432"/>
            <a:ext cx="2011680" cy="365760"/>
          </a:xfrm>
          <a:prstGeom prst="rect">
            <a:avLst/>
          </a:prstGeom>
          <a:noFill/>
        </p:spPr>
        <p:txBody>
          <a:bodyPr wrap="none" lIns="36576" rIns="36576" tIns="36576" bIns="36576" anchor="t">
            <a:spAutoFit/>
          </a:bodyPr>
          <a:lstStyle/>
          <a:p>
            <a:pPr algn="l"/>
            <a:r>
              <a:rPr sz="2000" b="1">
                <a:solidFill>
                  <a:srgbClr val="FFFFFF"/>
                </a:solidFill>
                <a:latin typeface="Aptos"/>
              </a:rPr>
              <a:t>Kết luận</a:t>
            </a:r>
          </a:p>
        </p:txBody>
      </p:sp>
      <p:sp>
        <p:nvSpPr>
          <p:cNvPr id="20" name="TextBox 19"/>
          <p:cNvSpPr txBox="1"/>
          <p:nvPr/>
        </p:nvSpPr>
        <p:spPr>
          <a:xfrm>
            <a:off x="612648" y="3931920"/>
            <a:ext cx="7040880" cy="822960"/>
          </a:xfrm>
          <a:prstGeom prst="rect">
            <a:avLst/>
          </a:prstGeom>
          <a:noFill/>
        </p:spPr>
        <p:txBody>
          <a:bodyPr wrap="none" lIns="36576" rIns="36576" tIns="36576" bIns="36576" anchor="t">
            <a:spAutoFit/>
          </a:bodyPr>
          <a:lstStyle/>
          <a:p>
            <a:pPr algn="l"/>
            <a:r>
              <a:rPr sz="2300" b="1">
                <a:solidFill>
                  <a:srgbClr val="FFFFFF"/>
                </a:solidFill>
                <a:latin typeface="Aptos"/>
              </a:rPr>
              <a:t>LearnSpace kết nối nghiệp vụ, dữ liệu và bảo mật
trong một kiến trúc đủ gọn cho dự án cá nhân.</a:t>
            </a:r>
          </a:p>
        </p:txBody>
      </p:sp>
      <p:sp>
        <p:nvSpPr>
          <p:cNvPr id="21" name="Rounded Rectangle 20"/>
          <p:cNvSpPr/>
          <p:nvPr/>
        </p:nvSpPr>
        <p:spPr>
          <a:xfrm>
            <a:off x="8549640" y="3429000"/>
            <a:ext cx="2880360" cy="1901952"/>
          </a:xfrm>
          <a:prstGeom prst="roundRect">
            <a:avLst/>
          </a:prstGeom>
          <a:solidFill>
            <a:srgbClr val="2F5BEA"/>
          </a:solidFill>
          <a:ln>
            <a:solidFill>
              <a:srgbClr val="2F5BE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549640" y="3803904"/>
            <a:ext cx="2880360" cy="530352"/>
          </a:xfrm>
          <a:prstGeom prst="rect">
            <a:avLst/>
          </a:prstGeom>
          <a:noFill/>
        </p:spPr>
        <p:txBody>
          <a:bodyPr wrap="none" lIns="36576" rIns="36576" tIns="36576" bIns="36576" anchor="t">
            <a:spAutoFit/>
          </a:bodyPr>
          <a:lstStyle/>
          <a:p>
            <a:pPr algn="ctr"/>
            <a:r>
              <a:rPr sz="3200" b="1">
                <a:solidFill>
                  <a:srgbClr val="FFFFFF"/>
                </a:solidFill>
                <a:latin typeface="Aptos"/>
              </a:rPr>
              <a:t>Q&amp;A</a:t>
            </a:r>
          </a:p>
        </p:txBody>
      </p:sp>
      <p:sp>
        <p:nvSpPr>
          <p:cNvPr id="23" name="TextBox 22"/>
          <p:cNvSpPr txBox="1"/>
          <p:nvPr/>
        </p:nvSpPr>
        <p:spPr>
          <a:xfrm>
            <a:off x="8823960" y="4617720"/>
            <a:ext cx="2331720" cy="274320"/>
          </a:xfrm>
          <a:prstGeom prst="rect">
            <a:avLst/>
          </a:prstGeom>
          <a:noFill/>
        </p:spPr>
        <p:txBody>
          <a:bodyPr wrap="none" lIns="36576" rIns="36576" tIns="36576" bIns="36576" anchor="t">
            <a:spAutoFit/>
          </a:bodyPr>
          <a:lstStyle/>
          <a:p>
            <a:pPr algn="ctr"/>
            <a:r>
              <a:rPr sz="1000" b="0">
                <a:solidFill>
                  <a:srgbClr val="DDE7FF"/>
                </a:solidFill>
                <a:latin typeface="Aptos"/>
              </a:rPr>
              <a:t>Cảm ơn thầy/cô và các bạn</a:t>
            </a:r>
          </a:p>
        </p:txBody>
      </p:sp>
      <p:sp>
        <p:nvSpPr>
          <p:cNvPr id="24" name="TextBox 23"/>
          <p:cNvSpPr txBox="1"/>
          <p:nvPr/>
        </p:nvSpPr>
        <p:spPr>
          <a:xfrm>
            <a:off x="640080" y="6144768"/>
            <a:ext cx="5669280" cy="256032"/>
          </a:xfrm>
          <a:prstGeom prst="rect">
            <a:avLst/>
          </a:prstGeom>
          <a:noFill/>
        </p:spPr>
        <p:txBody>
          <a:bodyPr wrap="none" lIns="36576" rIns="36576" tIns="36576" bIns="36576" anchor="t">
            <a:spAutoFit/>
          </a:bodyPr>
          <a:lstStyle/>
          <a:p>
            <a:pPr algn="l"/>
            <a:r>
              <a:rPr sz="1000" b="0">
                <a:solidFill>
                  <a:srgbClr val="AFC0ED"/>
                </a:solidFill>
                <a:latin typeface="Aptos"/>
              </a:rPr>
              <a:t>github.com/nguyenhaiphong0711-bit/BaoMat</a:t>
            </a:r>
          </a:p>
        </p:txBody>
      </p:sp>
    </p:spTree>
  </p:cSld>
  <p:clrMapOvr>
    <a:masterClrMapping/>
  </p:clrMapOvr>
  <p:transition spd="med">
    <p:fade/>
  </p:transition>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LearnSpace - Báo cáo đồ án quản lý học tập và học liệu</dc:title>
  <dc:subject>Kiến trúc, nghiệp vụ, bảo mật, OpenAI và kiểm thử</dc:subject>
  <dc:creator>Nguyễn Hải Phong</dc:creator>
  <cp:keywords/>
  <dc:description>Được tạo từ source project BaoMat. Ảnh giao diện dùng dữ liệu minh họa.</dc:description>
  <cp:lastModifiedBy>Steve Canny</cp:lastModifiedBy>
  <cp:revision>1</cp:revision>
  <dcterms:created xsi:type="dcterms:W3CDTF">2013-01-27T09:14:16Z</dcterms:created>
  <dcterms:modified xsi:type="dcterms:W3CDTF">2013-01-27T09:15:58Z</dcterms:modified>
  <cp:category/>
</cp:coreProperties>
</file>