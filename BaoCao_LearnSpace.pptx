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tên đề tài và phạm vi bài báo cáo. Bố cục đi từ mục tiêu trong kế hoạch, giao diện đã triển khai, sau đó mới đến bảo mật và kiểm thử.</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ba phân hệ được nêu trong tài liệu yêu cầu. Mỗi phân hệ ở các slide sau đều có ảnh giao diện và mô tả cách hệ thống xử lý.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sự khác nhau giữa Admin và Staff. Staff chỉ quản lý khoa được giao. Teacher chỉ quản lý lớp được phân công. Student chỉ thấy dữ liệu cá nhân và lớp đã ghi danh.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đúng kế hoạch ban đầu gồm năm giai đoạn. Các slide tiếp theo bám theo sản phẩm đầu ra của từng giai đoạn.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công nghệ ngắn gọn. Trọng tâm là luồng request: client không truy cập MongoDB/OpenAI trực tiếp. Backend giữ toàn bộ kiểm tra quyền và secret.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trái là phạm vi cán bộ theo khoa. Ảnh phải là cổng tiến độ của sinh viên. ID sinh viên ở URL vẫn được backend đối chiếu khoa và quyền.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này liên kết học kỳ, đề cương, lớp, sĩ số và lịch. Khi duyệt thành công, hệ thống mới ghi danh và tạo hóa đơn học phí.</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Giáo viên chỉ tạo/sửa nội dung trong lớp được phân công. Sinh viên chỉ thấy bài đã publish. Bài nộp và file đính kèm không thể tải bằng cách đoán 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khắc phục khoảng trống lớn nhất của kế hoạch ban đầu. Học liệu độc lập với lớp và có thể dùng chung; quyền truy cập tách khỏi quyền sử dụng theo license.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này áp dụng cho cả học liệu và câu hỏi. Mỗi transition kiểm tra revision để tránh hai người ghi đè thay đổi của nhau.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dành cho Student không trả đáp án trước khi nộp. Attempt có thời gian hết hạn; chỉ câu Published mới được sử dụng.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AI đáp ứng quy tắc của đề: luôn là Draft và có người chuyên môn duyệt. Có rate limit, audit và fail closed khi provider lỗi. Chatbot sinh viên không thuộc phạm vi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Ticket thay cho việc hỗ trợ rời rạc qua email. Mọi phản hồi và thay đổi trạng thái được giữ để truy vết.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không chỉ là đếm login. LearningEvent ghi các hành động có ý nghĩa. DTO và export CSV được kiểm tra để không lộ dữ liệu ngoài phạm vi.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kết luận riêng cho nghiệp vụ. Tất cả nhóm bắt buộc đã có; chatbot được tài liệu xếp vào khuyến nghị phát triển nên chủ động loại khỏi scope.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sang phần bảo mật. Không trình bày 30 dòng rời rạc mà nhóm theo mục tiêu kiểm soát, nhưng bảng báo cáo chi tiết vẫn đối chiếu đủ 30 tiêu chí.</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lớp bảo vệ nối tiếp nhau. Ví dụ menu ẩn không được tính là bảo mật; controller, policy và ownership vẫn phải chặn URL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trái Admin gán hồ sơ và quyền. Bên phải là cấu hình policy/rate limiter ở server. Cookie được đối chiếu database mỗi request nên khóa tài khoản hoặc thu hồi quyền có hiệu lực ngay. MongoDB thay RLS bằng scope trong service và test IDOR.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cách dự án đạt mục tiêu kiểm soát theo dòng bằng MongoDB. Test dùng giáo viên khác, sinh viên khác và thay ObjectId để xác nhận 403.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Mật khẩu không lưu dạng rõ. Đổi mật khẩu cần mật khẩu hiện tại và không được trùng 5 lần gần nhất. OTP dùng một lần, giới hạn gửi và thử; email lỗi thì token chưa gửi không được kích hoạt.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minh họa security headers và middleware chống CSRF cho API cookie. XSS được kiểm thử bằng script string; NoSQL payload bị model validation; production exception chỉ trả Problem Details và request ID.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GridFS chia file thành chunk và lưu trong MongoDB. Backend kiểm tra phần mở rộng, magic bytes, kích thước, chủ sở hữu và mục đích. File không thể chạy như static asset.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ActivityLog phục vụ sự kiện xác thực; LearningEvent phục vụ nghiệp vụ. Log không ghi mật khẩu, OTP, API key hay connection string. Atlas Audit Logs là cấu hình ngoài source nếu tier hỗ trợ.</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giảng viên bắt buộc câu lệnh CREATE SECURITY POLICY, DDM, SQL Audit hoặc TDE thì phải làm lab SQL Server riêng. Không cần chuyển toàn bộ LMS vì nghiệp vụ CRUD và mục tiêu kiểm soát đã được MongoDB xử lý tương đương.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smoke test 96 request đồng thời, nhưng chưa thay thế load test production. Dependency backend cần chạy lại dotnet list package vulnerable trên máy có SDK khi chốt báo cáo.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tả vài test case quan trọng thay vì đọc con số. Nhấn mạnh việc test bằng nhiều tài khoản và cố tình gán sai quyền để kiểm tra phòng thủ.</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biệt rõ phần code đã hoàn thành và phần người triển khai phải cấu hình. Đây là các mục cần chụp ảnh đưa vào báo cáo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theo đúng thứ tự mục tiêu, không demo lan man. Kết luận nhấn mạnh nghiệp vụ và bảo mật đều có bằng chứng code/test.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54A"/>
        </a:solidFill>
        <a:effectLst/>
      </p:bgPr>
    </p:bg>
    <p:spTree>
      <p:nvGrpSpPr>
        <p:cNvPr id="1" name=""/>
        <p:cNvGrpSpPr/>
        <p:nvPr/>
      </p:nvGrpSpPr>
      <p:grpSpPr/>
      <p:sp>
        <p:nvSpPr>
          <p:cNvPr id="2" name="Rounded Rectangle 1"/>
          <p:cNvSpPr/>
          <p:nvPr/>
        </p:nvSpPr>
        <p:spPr>
          <a:xfrm>
            <a:off x="8001000" y="-274320"/>
            <a:ext cx="4480560" cy="7406640"/>
          </a:xfrm>
          <a:prstGeom prst="roundRect">
            <a:avLst/>
          </a:prstGeom>
          <a:solidFill>
            <a:srgbClr val="1D3974"/>
          </a:solidFill>
          <a:ln>
            <a:solidFill>
              <a:srgbClr val="1D39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59952" y="658368"/>
            <a:ext cx="2560320" cy="2560320"/>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509760" y="1143000"/>
            <a:ext cx="1005840" cy="914400"/>
          </a:xfrm>
          <a:prstGeom prst="rect">
            <a:avLst/>
          </a:prstGeom>
          <a:noFill/>
        </p:spPr>
        <p:txBody>
          <a:bodyPr wrap="none" lIns="36576" rIns="36576" tIns="36576" bIns="36576" anchor="ctr">
            <a:spAutoFit/>
          </a:bodyPr>
          <a:lstStyle/>
          <a:p>
            <a:pPr algn="ctr"/>
            <a:r>
              <a:rPr sz="4400" b="1">
                <a:solidFill>
                  <a:srgbClr val="FFFFFF"/>
                </a:solidFill>
                <a:latin typeface="Aptos"/>
              </a:rPr>
              <a:t>L</a:t>
            </a:r>
          </a:p>
        </p:txBody>
      </p:sp>
      <p:sp>
        <p:nvSpPr>
          <p:cNvPr id="5" name="Rounded Rectangle 4"/>
          <p:cNvSpPr/>
          <p:nvPr/>
        </p:nvSpPr>
        <p:spPr>
          <a:xfrm>
            <a:off x="658368" y="621792"/>
            <a:ext cx="2377440" cy="310896"/>
          </a:xfrm>
          <a:prstGeom prst="roundRect">
            <a:avLst/>
          </a:prstGeom>
          <a:solidFill>
            <a:srgbClr val="263B68"/>
          </a:solidFill>
          <a:ln>
            <a:solidFill>
              <a:srgbClr val="263B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672084"/>
            <a:ext cx="2231136" cy="201168"/>
          </a:xfrm>
          <a:prstGeom prst="rect">
            <a:avLst/>
          </a:prstGeom>
          <a:noFill/>
        </p:spPr>
        <p:txBody>
          <a:bodyPr wrap="none" lIns="36576" rIns="36576" tIns="36576" bIns="36576" anchor="t">
            <a:spAutoFit/>
          </a:bodyPr>
          <a:lstStyle/>
          <a:p>
            <a:pPr algn="ctr"/>
            <a:r>
              <a:rPr sz="900" b="1">
                <a:solidFill>
                  <a:srgbClr val="3EC6E0"/>
                </a:solidFill>
                <a:latin typeface="Aptos"/>
              </a:rPr>
              <a:t>BÁO CÁO ĐỒ ÁN CÁ NHÂN</a:t>
            </a:r>
          </a:p>
        </p:txBody>
      </p:sp>
      <p:sp>
        <p:nvSpPr>
          <p:cNvPr id="7" name="TextBox 6"/>
          <p:cNvSpPr txBox="1"/>
          <p:nvPr/>
        </p:nvSpPr>
        <p:spPr>
          <a:xfrm>
            <a:off x="658368" y="1280160"/>
            <a:ext cx="6766560" cy="566928"/>
          </a:xfrm>
          <a:prstGeom prst="rect">
            <a:avLst/>
          </a:prstGeom>
          <a:noFill/>
        </p:spPr>
        <p:txBody>
          <a:bodyPr wrap="none" lIns="36576" rIns="36576" tIns="36576" bIns="36576" anchor="t">
            <a:spAutoFit/>
          </a:bodyPr>
          <a:lstStyle/>
          <a:p>
            <a:pPr algn="l"/>
            <a:r>
              <a:rPr sz="3400" b="1">
                <a:solidFill>
                  <a:srgbClr val="FFFFFF"/>
                </a:solidFill>
                <a:latin typeface="Aptos"/>
              </a:rPr>
              <a:t>LearnSpace</a:t>
            </a:r>
          </a:p>
        </p:txBody>
      </p:sp>
      <p:sp>
        <p:nvSpPr>
          <p:cNvPr id="8" name="TextBox 7"/>
          <p:cNvSpPr txBox="1"/>
          <p:nvPr/>
        </p:nvSpPr>
        <p:spPr>
          <a:xfrm>
            <a:off x="658368" y="1965960"/>
            <a:ext cx="6858000" cy="1097280"/>
          </a:xfrm>
          <a:prstGeom prst="rect">
            <a:avLst/>
          </a:prstGeom>
          <a:noFill/>
        </p:spPr>
        <p:txBody>
          <a:bodyPr wrap="none" lIns="36576" rIns="36576" tIns="36576" bIns="36576" anchor="t">
            <a:spAutoFit/>
          </a:bodyPr>
          <a:lstStyle/>
          <a:p>
            <a:pPr algn="l"/>
            <a:r>
              <a:rPr sz="2700" b="1">
                <a:solidFill>
                  <a:srgbClr val="FFFFFF"/>
                </a:solidFill>
                <a:latin typeface="Aptos"/>
              </a:rPr>
              <a:t>Quản lý học tập, học liệu
và tài nguyên số</a:t>
            </a:r>
          </a:p>
        </p:txBody>
      </p:sp>
      <p:sp>
        <p:nvSpPr>
          <p:cNvPr id="9" name="TextBox 8"/>
          <p:cNvSpPr txBox="1"/>
          <p:nvPr/>
        </p:nvSpPr>
        <p:spPr>
          <a:xfrm>
            <a:off x="694944" y="3383280"/>
            <a:ext cx="6217920" cy="320040"/>
          </a:xfrm>
          <a:prstGeom prst="rect">
            <a:avLst/>
          </a:prstGeom>
          <a:noFill/>
        </p:spPr>
        <p:txBody>
          <a:bodyPr wrap="none" lIns="36576" rIns="36576" tIns="36576" bIns="36576" anchor="t">
            <a:spAutoFit/>
          </a:bodyPr>
          <a:lstStyle/>
          <a:p>
            <a:pPr algn="l"/>
            <a:r>
              <a:rPr sz="1200" b="1">
                <a:solidFill>
                  <a:srgbClr val="3EC6E0"/>
                </a:solidFill>
                <a:latin typeface="Aptos"/>
              </a:rPr>
              <a:t>NGHIỆP VỤ  ·  BẢO MẬT  ·  KIỂM THỬ</a:t>
            </a:r>
          </a:p>
        </p:txBody>
      </p:sp>
      <p:cxnSp>
        <p:nvCxnSpPr>
          <p:cNvPr id="10" name="Connector 9"/>
          <p:cNvCxnSpPr/>
          <p:nvPr/>
        </p:nvCxnSpPr>
        <p:spPr>
          <a:xfrm>
            <a:off x="694944" y="4069080"/>
            <a:ext cx="6437376" cy="0"/>
          </a:xfrm>
          <a:prstGeom prst="line">
            <a:avLst/>
          </a:prstGeom>
          <a:ln w="19050">
            <a:solidFill>
              <a:srgbClr val="3F568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4944" y="4370832"/>
            <a:ext cx="6583680" cy="320040"/>
          </a:xfrm>
          <a:prstGeom prst="rect">
            <a:avLst/>
          </a:prstGeom>
          <a:noFill/>
        </p:spPr>
        <p:txBody>
          <a:bodyPr wrap="none" lIns="36576" rIns="36576" tIns="36576" bIns="36576" anchor="t">
            <a:spAutoFit/>
          </a:bodyPr>
          <a:lstStyle/>
          <a:p>
            <a:pPr algn="l"/>
            <a:r>
              <a:rPr sz="1200" b="0">
                <a:solidFill>
                  <a:srgbClr val="C7D5FA"/>
                </a:solidFill>
                <a:latin typeface="Aptos"/>
              </a:rPr>
              <a:t>React + TypeScript · ASP.NET Core · MongoDB Atlas · OpenAI</a:t>
            </a:r>
          </a:p>
        </p:txBody>
      </p:sp>
      <p:sp>
        <p:nvSpPr>
          <p:cNvPr id="12" name="TextBox 11"/>
          <p:cNvSpPr txBox="1"/>
          <p:nvPr/>
        </p:nvSpPr>
        <p:spPr>
          <a:xfrm>
            <a:off x="694944" y="5074920"/>
            <a:ext cx="3200400" cy="320040"/>
          </a:xfrm>
          <a:prstGeom prst="rect">
            <a:avLst/>
          </a:prstGeom>
          <a:noFill/>
        </p:spPr>
        <p:txBody>
          <a:bodyPr wrap="none" lIns="36576" rIns="36576" tIns="36576" bIns="36576" anchor="t">
            <a:spAutoFit/>
          </a:bodyPr>
          <a:lstStyle/>
          <a:p>
            <a:pPr algn="l"/>
            <a:r>
              <a:rPr sz="1500" b="1">
                <a:solidFill>
                  <a:srgbClr val="FFFFFF"/>
                </a:solidFill>
                <a:latin typeface="Aptos"/>
              </a:rPr>
              <a:t>Nguyễn Hải Phong</a:t>
            </a:r>
          </a:p>
        </p:txBody>
      </p:sp>
      <p:sp>
        <p:nvSpPr>
          <p:cNvPr id="13" name="TextBox 12"/>
          <p:cNvSpPr txBox="1"/>
          <p:nvPr/>
        </p:nvSpPr>
        <p:spPr>
          <a:xfrm>
            <a:off x="10332720" y="6217920"/>
            <a:ext cx="914400" cy="274320"/>
          </a:xfrm>
          <a:prstGeom prst="rect">
            <a:avLst/>
          </a:prstGeom>
          <a:noFill/>
        </p:spPr>
        <p:txBody>
          <a:bodyPr wrap="none" lIns="36576" rIns="36576" tIns="36576" bIns="36576" anchor="t">
            <a:spAutoFit/>
          </a:bodyPr>
          <a:lstStyle/>
          <a:p>
            <a:pPr algn="r"/>
            <a:r>
              <a:rPr sz="1100" b="1">
                <a:solidFill>
                  <a:srgbClr val="FFFFFF"/>
                </a:solidFill>
                <a:latin typeface="Aptos"/>
              </a:rPr>
              <a:t>2026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01 · MỤC TIÊU ĐỀ TÀI</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Ba phân hệ phải được tích hợp trong một hệ thống</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Đối chiếu trực tiếp với kế hoạch ban đầu.</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02</a:t>
            </a:r>
          </a:p>
        </p:txBody>
      </p:sp>
      <p:sp>
        <p:nvSpPr>
          <p:cNvPr id="6" name="Rounded Rectangle 5"/>
          <p:cNvSpPr/>
          <p:nvPr/>
        </p:nvSpPr>
        <p:spPr>
          <a:xfrm>
            <a:off x="594360" y="1645920"/>
            <a:ext cx="3429000" cy="18288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883664"/>
            <a:ext cx="566928"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933956"/>
            <a:ext cx="420623" cy="201168"/>
          </a:xfrm>
          <a:prstGeom prst="rect">
            <a:avLst/>
          </a:prstGeom>
          <a:noFill/>
        </p:spPr>
        <p:txBody>
          <a:bodyPr wrap="none" lIns="36576" rIns="36576" tIns="36576" bIns="36576" anchor="t">
            <a:spAutoFit/>
          </a:bodyPr>
          <a:lstStyle/>
          <a:p>
            <a:pPr algn="ctr"/>
            <a:r>
              <a:rPr sz="900" b="1">
                <a:solidFill>
                  <a:srgbClr val="FFFFFF"/>
                </a:solidFill>
                <a:latin typeface="Aptos"/>
              </a:rPr>
              <a:t>01</a:t>
            </a:r>
          </a:p>
        </p:txBody>
      </p:sp>
      <p:sp>
        <p:nvSpPr>
          <p:cNvPr id="9" name="TextBox 8"/>
          <p:cNvSpPr txBox="1"/>
          <p:nvPr/>
        </p:nvSpPr>
        <p:spPr>
          <a:xfrm>
            <a:off x="822960" y="2395728"/>
            <a:ext cx="2926080" cy="320040"/>
          </a:xfrm>
          <a:prstGeom prst="rect">
            <a:avLst/>
          </a:prstGeom>
          <a:noFill/>
        </p:spPr>
        <p:txBody>
          <a:bodyPr wrap="none" lIns="36576" rIns="36576" tIns="36576" bIns="36576" anchor="t">
            <a:spAutoFit/>
          </a:bodyPr>
          <a:lstStyle/>
          <a:p>
            <a:pPr algn="l"/>
            <a:r>
              <a:rPr sz="1700" b="1">
                <a:solidFill>
                  <a:srgbClr val="14254A"/>
                </a:solidFill>
                <a:latin typeface="Aptos"/>
              </a:rPr>
              <a:t>Quản lý sinh viên</a:t>
            </a:r>
          </a:p>
        </p:txBody>
      </p:sp>
      <p:sp>
        <p:nvSpPr>
          <p:cNvPr id="10" name="TextBox 9"/>
          <p:cNvSpPr txBox="1"/>
          <p:nvPr/>
        </p:nvSpPr>
        <p:spPr>
          <a:xfrm>
            <a:off x="822960" y="2834640"/>
            <a:ext cx="2834640" cy="457200"/>
          </a:xfrm>
          <a:prstGeom prst="rect">
            <a:avLst/>
          </a:prstGeom>
          <a:noFill/>
        </p:spPr>
        <p:txBody>
          <a:bodyPr wrap="none" lIns="36576" rIns="36576" tIns="36576" bIns="36576" anchor="t">
            <a:spAutoFit/>
          </a:bodyPr>
          <a:lstStyle/>
          <a:p>
            <a:pPr algn="l"/>
            <a:r>
              <a:rPr sz="1000" b="0">
                <a:solidFill>
                  <a:srgbClr val="64708A"/>
                </a:solidFill>
                <a:latin typeface="Aptos"/>
              </a:rPr>
              <a:t>Thông tin học vụ, đăng ký, tiến trình, điểm và học phí</a:t>
            </a:r>
          </a:p>
        </p:txBody>
      </p:sp>
      <p:sp>
        <p:nvSpPr>
          <p:cNvPr id="11" name="Rounded Rectangle 10"/>
          <p:cNvSpPr/>
          <p:nvPr/>
        </p:nvSpPr>
        <p:spPr>
          <a:xfrm>
            <a:off x="4325112" y="1645920"/>
            <a:ext cx="3429000" cy="18288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1883664"/>
            <a:ext cx="566928" cy="310896"/>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933956"/>
            <a:ext cx="420623" cy="201168"/>
          </a:xfrm>
          <a:prstGeom prst="rect">
            <a:avLst/>
          </a:prstGeom>
          <a:noFill/>
        </p:spPr>
        <p:txBody>
          <a:bodyPr wrap="none" lIns="36576" rIns="36576" tIns="36576" bIns="36576" anchor="t">
            <a:spAutoFit/>
          </a:bodyPr>
          <a:lstStyle/>
          <a:p>
            <a:pPr algn="ctr"/>
            <a:r>
              <a:rPr sz="900" b="1">
                <a:solidFill>
                  <a:srgbClr val="FFFFFF"/>
                </a:solidFill>
                <a:latin typeface="Aptos"/>
              </a:rPr>
              <a:t>02</a:t>
            </a:r>
          </a:p>
        </p:txBody>
      </p:sp>
      <p:sp>
        <p:nvSpPr>
          <p:cNvPr id="14" name="TextBox 13"/>
          <p:cNvSpPr txBox="1"/>
          <p:nvPr/>
        </p:nvSpPr>
        <p:spPr>
          <a:xfrm>
            <a:off x="4553712" y="2395728"/>
            <a:ext cx="2926080" cy="320040"/>
          </a:xfrm>
          <a:prstGeom prst="rect">
            <a:avLst/>
          </a:prstGeom>
          <a:noFill/>
        </p:spPr>
        <p:txBody>
          <a:bodyPr wrap="none" lIns="36576" rIns="36576" tIns="36576" bIns="36576" anchor="t">
            <a:spAutoFit/>
          </a:bodyPr>
          <a:lstStyle/>
          <a:p>
            <a:pPr algn="l"/>
            <a:r>
              <a:rPr sz="1700" b="1">
                <a:solidFill>
                  <a:srgbClr val="14254A"/>
                </a:solidFill>
                <a:latin typeface="Aptos"/>
              </a:rPr>
              <a:t>LMS / LCMS</a:t>
            </a:r>
          </a:p>
        </p:txBody>
      </p:sp>
      <p:sp>
        <p:nvSpPr>
          <p:cNvPr id="15" name="TextBox 14"/>
          <p:cNvSpPr txBox="1"/>
          <p:nvPr/>
        </p:nvSpPr>
        <p:spPr>
          <a:xfrm>
            <a:off x="4553712" y="2834640"/>
            <a:ext cx="2834640" cy="457200"/>
          </a:xfrm>
          <a:prstGeom prst="rect">
            <a:avLst/>
          </a:prstGeom>
          <a:noFill/>
        </p:spPr>
        <p:txBody>
          <a:bodyPr wrap="none" lIns="36576" rIns="36576" tIns="36576" bIns="36576" anchor="t">
            <a:spAutoFit/>
          </a:bodyPr>
          <a:lstStyle/>
          <a:p>
            <a:pPr algn="l"/>
            <a:r>
              <a:rPr sz="1000" b="0">
                <a:solidFill>
                  <a:srgbClr val="64708A"/>
                </a:solidFill>
                <a:latin typeface="Aptos"/>
              </a:rPr>
              <a:t>Lớp học, bài học, bài tập, học liệu và đánh giá</a:t>
            </a:r>
          </a:p>
        </p:txBody>
      </p:sp>
      <p:sp>
        <p:nvSpPr>
          <p:cNvPr id="16" name="Rounded Rectangle 15"/>
          <p:cNvSpPr/>
          <p:nvPr/>
        </p:nvSpPr>
        <p:spPr>
          <a:xfrm>
            <a:off x="8055864" y="1645920"/>
            <a:ext cx="3429000" cy="18288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84464" y="1883664"/>
            <a:ext cx="566928" cy="310896"/>
          </a:xfrm>
          <a:prstGeom prst="round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6" y="1933956"/>
            <a:ext cx="420623" cy="201168"/>
          </a:xfrm>
          <a:prstGeom prst="rect">
            <a:avLst/>
          </a:prstGeom>
          <a:noFill/>
        </p:spPr>
        <p:txBody>
          <a:bodyPr wrap="none" lIns="36576" rIns="36576" tIns="36576" bIns="36576" anchor="t">
            <a:spAutoFit/>
          </a:bodyPr>
          <a:lstStyle/>
          <a:p>
            <a:pPr algn="ctr"/>
            <a:r>
              <a:rPr sz="900" b="1">
                <a:solidFill>
                  <a:srgbClr val="14254A"/>
                </a:solidFill>
                <a:latin typeface="Aptos"/>
              </a:rPr>
              <a:t>03</a:t>
            </a:r>
          </a:p>
        </p:txBody>
      </p:sp>
      <p:sp>
        <p:nvSpPr>
          <p:cNvPr id="19" name="TextBox 18"/>
          <p:cNvSpPr txBox="1"/>
          <p:nvPr/>
        </p:nvSpPr>
        <p:spPr>
          <a:xfrm>
            <a:off x="8284464" y="2395728"/>
            <a:ext cx="2926080" cy="320040"/>
          </a:xfrm>
          <a:prstGeom prst="rect">
            <a:avLst/>
          </a:prstGeom>
          <a:noFill/>
        </p:spPr>
        <p:txBody>
          <a:bodyPr wrap="none" lIns="36576" rIns="36576" tIns="36576" bIns="36576" anchor="t">
            <a:spAutoFit/>
          </a:bodyPr>
          <a:lstStyle/>
          <a:p>
            <a:pPr algn="l"/>
            <a:r>
              <a:rPr sz="1700" b="1">
                <a:solidFill>
                  <a:srgbClr val="14254A"/>
                </a:solidFill>
                <a:latin typeface="Aptos"/>
              </a:rPr>
              <a:t>Hỗ trợ người học</a:t>
            </a:r>
          </a:p>
        </p:txBody>
      </p:sp>
      <p:sp>
        <p:nvSpPr>
          <p:cNvPr id="20" name="TextBox 19"/>
          <p:cNvSpPr txBox="1"/>
          <p:nvPr/>
        </p:nvSpPr>
        <p:spPr>
          <a:xfrm>
            <a:off x="8284464" y="2834640"/>
            <a:ext cx="2834640" cy="457200"/>
          </a:xfrm>
          <a:prstGeom prst="rect">
            <a:avLst/>
          </a:prstGeom>
          <a:noFill/>
        </p:spPr>
        <p:txBody>
          <a:bodyPr wrap="none" lIns="36576" rIns="36576" tIns="36576" bIns="36576" anchor="t">
            <a:spAutoFit/>
          </a:bodyPr>
          <a:lstStyle/>
          <a:p>
            <a:pPr algn="l"/>
            <a:r>
              <a:rPr sz="1000" b="0">
                <a:solidFill>
                  <a:srgbClr val="64708A"/>
                </a:solidFill>
                <a:latin typeface="Aptos"/>
              </a:rPr>
              <a:t>Ticket, thông báo, báo cáo và theo dõi hoạt động</a:t>
            </a:r>
          </a:p>
        </p:txBody>
      </p:sp>
      <p:sp>
        <p:nvSpPr>
          <p:cNvPr id="21" name="Rounded Rectangle 20"/>
          <p:cNvSpPr/>
          <p:nvPr/>
        </p:nvSpPr>
        <p:spPr>
          <a:xfrm>
            <a:off x="594360" y="3840480"/>
            <a:ext cx="10972800" cy="1691640"/>
          </a:xfrm>
          <a:prstGeom prst="roundRect">
            <a:avLst/>
          </a:prstGeom>
          <a:solidFill>
            <a:srgbClr val="14254A"/>
          </a:solidFill>
          <a:ln>
            <a:solidFill>
              <a:srgbClr val="142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096512"/>
            <a:ext cx="1828800" cy="256032"/>
          </a:xfrm>
          <a:prstGeom prst="rect">
            <a:avLst/>
          </a:prstGeom>
          <a:noFill/>
        </p:spPr>
        <p:txBody>
          <a:bodyPr wrap="none" lIns="36576" rIns="36576" tIns="36576" bIns="36576" anchor="t">
            <a:spAutoFit/>
          </a:bodyPr>
          <a:lstStyle/>
          <a:p>
            <a:pPr algn="l"/>
            <a:r>
              <a:rPr sz="1000" b="1">
                <a:solidFill>
                  <a:srgbClr val="3EC6E0"/>
                </a:solidFill>
                <a:latin typeface="Aptos"/>
              </a:rPr>
              <a:t>KẾT QUẢ CẦN ĐẠT</a:t>
            </a:r>
          </a:p>
        </p:txBody>
      </p:sp>
      <p:sp>
        <p:nvSpPr>
          <p:cNvPr id="23" name="TextBox 22"/>
          <p:cNvSpPr txBox="1"/>
          <p:nvPr/>
        </p:nvSpPr>
        <p:spPr>
          <a:xfrm>
            <a:off x="850392" y="4599432"/>
            <a:ext cx="10149840" cy="457200"/>
          </a:xfrm>
          <a:prstGeom prst="rect">
            <a:avLst/>
          </a:prstGeom>
          <a:noFill/>
        </p:spPr>
        <p:txBody>
          <a:bodyPr wrap="none" lIns="36576" rIns="36576" tIns="36576" bIns="36576" anchor="t">
            <a:spAutoFit/>
          </a:bodyPr>
          <a:lstStyle/>
          <a:p>
            <a:pPr algn="ctr"/>
            <a:r>
              <a:rPr sz="1700" b="1">
                <a:solidFill>
                  <a:srgbClr val="FFFFFF"/>
                </a:solidFill>
                <a:latin typeface="Aptos"/>
              </a:rPr>
              <a:t>Dữ liệu tập trung  ·  Phân quyền đúng phạm vi  ·  Quy trình có kiểm duyệt  ·  Có thể kiểm thử và triển khai</a:t>
            </a:r>
          </a:p>
        </p:txBody>
      </p:sp>
      <p:cxnSp>
        <p:nvCxnSpPr>
          <p:cNvPr id="24" name="Connector 2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02 · NGƯỜI DÙNG</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Bốn nhóm người dùng và trách nhiệm</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Admin không thay thế cán bộ quản lý theo phạm vi khoa.</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03</a:t>
            </a:r>
          </a:p>
        </p:txBody>
      </p:sp>
      <p:sp>
        <p:nvSpPr>
          <p:cNvPr id="6" name="Rounded Rectangle 5"/>
          <p:cNvSpPr/>
          <p:nvPr/>
        </p:nvSpPr>
        <p:spPr>
          <a:xfrm>
            <a:off x="594360" y="1645920"/>
            <a:ext cx="2487168" cy="28346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95528" y="1874519"/>
            <a:ext cx="548640" cy="548640"/>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39112"/>
            <a:ext cx="548640" cy="182880"/>
          </a:xfrm>
          <a:prstGeom prst="rect">
            <a:avLst/>
          </a:prstGeom>
          <a:noFill/>
        </p:spPr>
        <p:txBody>
          <a:bodyPr wrap="none" lIns="36576" rIns="36576" tIns="36576" bIns="36576" anchor="t">
            <a:spAutoFit/>
          </a:bodyPr>
          <a:lstStyle/>
          <a:p>
            <a:pPr algn="ctr"/>
            <a:r>
              <a:rPr sz="1100" b="1">
                <a:solidFill>
                  <a:srgbClr val="FFFFFF"/>
                </a:solidFill>
                <a:latin typeface="Aptos"/>
              </a:rPr>
              <a:t>1</a:t>
            </a:r>
          </a:p>
        </p:txBody>
      </p:sp>
      <p:sp>
        <p:nvSpPr>
          <p:cNvPr id="9" name="TextBox 8"/>
          <p:cNvSpPr txBox="1"/>
          <p:nvPr/>
        </p:nvSpPr>
        <p:spPr>
          <a:xfrm>
            <a:off x="795528" y="2651760"/>
            <a:ext cx="2011680" cy="320040"/>
          </a:xfrm>
          <a:prstGeom prst="rect">
            <a:avLst/>
          </a:prstGeom>
          <a:noFill/>
        </p:spPr>
        <p:txBody>
          <a:bodyPr wrap="none" lIns="36576" rIns="36576" tIns="36576" bIns="36576" anchor="t">
            <a:spAutoFit/>
          </a:bodyPr>
          <a:lstStyle/>
          <a:p>
            <a:pPr algn="l"/>
            <a:r>
              <a:rPr sz="1700" b="1">
                <a:solidFill>
                  <a:srgbClr val="14254A"/>
                </a:solidFill>
                <a:latin typeface="Aptos"/>
              </a:rPr>
              <a:t>Admin</a:t>
            </a:r>
          </a:p>
        </p:txBody>
      </p:sp>
      <p:sp>
        <p:nvSpPr>
          <p:cNvPr id="10" name="TextBox 9"/>
          <p:cNvSpPr txBox="1"/>
          <p:nvPr/>
        </p:nvSpPr>
        <p:spPr>
          <a:xfrm>
            <a:off x="795528" y="3218688"/>
            <a:ext cx="2011680" cy="658368"/>
          </a:xfrm>
          <a:prstGeom prst="rect">
            <a:avLst/>
          </a:prstGeom>
          <a:noFill/>
        </p:spPr>
        <p:txBody>
          <a:bodyPr wrap="none" lIns="36576" rIns="36576" tIns="36576" bIns="36576" anchor="t">
            <a:spAutoFit/>
          </a:bodyPr>
          <a:lstStyle/>
          <a:p>
            <a:pPr algn="l"/>
            <a:r>
              <a:rPr sz="1000" b="0">
                <a:solidFill>
                  <a:srgbClr val="64708A"/>
                </a:solidFill>
                <a:latin typeface="Aptos"/>
              </a:rPr>
              <a:t>Tài khoản · học vụ · phân quyền · audit</a:t>
            </a:r>
          </a:p>
        </p:txBody>
      </p:sp>
      <p:sp>
        <p:nvSpPr>
          <p:cNvPr id="11" name="Rounded Rectangle 10"/>
          <p:cNvSpPr/>
          <p:nvPr/>
        </p:nvSpPr>
        <p:spPr>
          <a:xfrm>
            <a:off x="3364991" y="1645920"/>
            <a:ext cx="2487168" cy="28346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66160" y="1874519"/>
            <a:ext cx="548640" cy="548640"/>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039112"/>
            <a:ext cx="548640" cy="182880"/>
          </a:xfrm>
          <a:prstGeom prst="rect">
            <a:avLst/>
          </a:prstGeom>
          <a:noFill/>
        </p:spPr>
        <p:txBody>
          <a:bodyPr wrap="none" lIns="36576" rIns="36576" tIns="36576" bIns="36576" anchor="t">
            <a:spAutoFit/>
          </a:bodyPr>
          <a:lstStyle/>
          <a:p>
            <a:pPr algn="ctr"/>
            <a:r>
              <a:rPr sz="1100" b="1">
                <a:solidFill>
                  <a:srgbClr val="FFFFFF"/>
                </a:solidFill>
                <a:latin typeface="Aptos"/>
              </a:rPr>
              <a:t>2</a:t>
            </a:r>
          </a:p>
        </p:txBody>
      </p:sp>
      <p:sp>
        <p:nvSpPr>
          <p:cNvPr id="14" name="TextBox 13"/>
          <p:cNvSpPr txBox="1"/>
          <p:nvPr/>
        </p:nvSpPr>
        <p:spPr>
          <a:xfrm>
            <a:off x="3566160" y="2651760"/>
            <a:ext cx="2011680" cy="320040"/>
          </a:xfrm>
          <a:prstGeom prst="rect">
            <a:avLst/>
          </a:prstGeom>
          <a:noFill/>
        </p:spPr>
        <p:txBody>
          <a:bodyPr wrap="none" lIns="36576" rIns="36576" tIns="36576" bIns="36576" anchor="t">
            <a:spAutoFit/>
          </a:bodyPr>
          <a:lstStyle/>
          <a:p>
            <a:pPr algn="l"/>
            <a:r>
              <a:rPr sz="1700" b="1">
                <a:solidFill>
                  <a:srgbClr val="14254A"/>
                </a:solidFill>
                <a:latin typeface="Aptos"/>
              </a:rPr>
              <a:t>Staff</a:t>
            </a:r>
          </a:p>
        </p:txBody>
      </p:sp>
      <p:sp>
        <p:nvSpPr>
          <p:cNvPr id="15" name="TextBox 14"/>
          <p:cNvSpPr txBox="1"/>
          <p:nvPr/>
        </p:nvSpPr>
        <p:spPr>
          <a:xfrm>
            <a:off x="3566160" y="3218688"/>
            <a:ext cx="2011680" cy="658368"/>
          </a:xfrm>
          <a:prstGeom prst="rect">
            <a:avLst/>
          </a:prstGeom>
          <a:noFill/>
        </p:spPr>
        <p:txBody>
          <a:bodyPr wrap="none" lIns="36576" rIns="36576" tIns="36576" bIns="36576" anchor="t">
            <a:spAutoFit/>
          </a:bodyPr>
          <a:lstStyle/>
          <a:p>
            <a:pPr algn="l"/>
            <a:r>
              <a:rPr sz="1000" b="0">
                <a:solidFill>
                  <a:srgbClr val="64708A"/>
                </a:solidFill>
                <a:latin typeface="Aptos"/>
              </a:rPr>
              <a:t>Sinh viên, duyệt nội dung và báo cáo trong khoa</a:t>
            </a:r>
          </a:p>
        </p:txBody>
      </p:sp>
      <p:sp>
        <p:nvSpPr>
          <p:cNvPr id="16" name="Rounded Rectangle 15"/>
          <p:cNvSpPr/>
          <p:nvPr/>
        </p:nvSpPr>
        <p:spPr>
          <a:xfrm>
            <a:off x="6135624" y="1645920"/>
            <a:ext cx="2487168" cy="28346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36792" y="1874519"/>
            <a:ext cx="548640" cy="548640"/>
          </a:xfrm>
          <a:prstGeom prst="round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2039112"/>
            <a:ext cx="548640" cy="182880"/>
          </a:xfrm>
          <a:prstGeom prst="rect">
            <a:avLst/>
          </a:prstGeom>
          <a:noFill/>
        </p:spPr>
        <p:txBody>
          <a:bodyPr wrap="none" lIns="36576" rIns="36576" tIns="36576" bIns="36576" anchor="t">
            <a:spAutoFit/>
          </a:bodyPr>
          <a:lstStyle/>
          <a:p>
            <a:pPr algn="ctr"/>
            <a:r>
              <a:rPr sz="1100" b="1">
                <a:solidFill>
                  <a:srgbClr val="FFFFFF"/>
                </a:solidFill>
                <a:latin typeface="Aptos"/>
              </a:rPr>
              <a:t>3</a:t>
            </a:r>
          </a:p>
        </p:txBody>
      </p:sp>
      <p:sp>
        <p:nvSpPr>
          <p:cNvPr id="19" name="TextBox 18"/>
          <p:cNvSpPr txBox="1"/>
          <p:nvPr/>
        </p:nvSpPr>
        <p:spPr>
          <a:xfrm>
            <a:off x="6336792" y="2651760"/>
            <a:ext cx="2011680" cy="320040"/>
          </a:xfrm>
          <a:prstGeom prst="rect">
            <a:avLst/>
          </a:prstGeom>
          <a:noFill/>
        </p:spPr>
        <p:txBody>
          <a:bodyPr wrap="none" lIns="36576" rIns="36576" tIns="36576" bIns="36576" anchor="t">
            <a:spAutoFit/>
          </a:bodyPr>
          <a:lstStyle/>
          <a:p>
            <a:pPr algn="l"/>
            <a:r>
              <a:rPr sz="1700" b="1">
                <a:solidFill>
                  <a:srgbClr val="14254A"/>
                </a:solidFill>
                <a:latin typeface="Aptos"/>
              </a:rPr>
              <a:t>Teacher</a:t>
            </a:r>
          </a:p>
        </p:txBody>
      </p:sp>
      <p:sp>
        <p:nvSpPr>
          <p:cNvPr id="20" name="TextBox 19"/>
          <p:cNvSpPr txBox="1"/>
          <p:nvPr/>
        </p:nvSpPr>
        <p:spPr>
          <a:xfrm>
            <a:off x="6336792" y="3218688"/>
            <a:ext cx="2011680" cy="658368"/>
          </a:xfrm>
          <a:prstGeom prst="rect">
            <a:avLst/>
          </a:prstGeom>
          <a:noFill/>
        </p:spPr>
        <p:txBody>
          <a:bodyPr wrap="none" lIns="36576" rIns="36576" tIns="36576" bIns="36576" anchor="t">
            <a:spAutoFit/>
          </a:bodyPr>
          <a:lstStyle/>
          <a:p>
            <a:pPr algn="l"/>
            <a:r>
              <a:rPr sz="1000" b="0">
                <a:solidFill>
                  <a:srgbClr val="64708A"/>
                </a:solidFill>
                <a:latin typeface="Aptos"/>
              </a:rPr>
              <a:t>Lớp, học liệu, câu hỏi, bài tập và chấm điểm</a:t>
            </a:r>
          </a:p>
        </p:txBody>
      </p:sp>
      <p:sp>
        <p:nvSpPr>
          <p:cNvPr id="21" name="Rounded Rectangle 20"/>
          <p:cNvSpPr/>
          <p:nvPr/>
        </p:nvSpPr>
        <p:spPr>
          <a:xfrm>
            <a:off x="8906256" y="1645920"/>
            <a:ext cx="2487168" cy="28346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07424" y="1874519"/>
            <a:ext cx="548640" cy="548640"/>
          </a:xfrm>
          <a:prstGeom prst="round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2039112"/>
            <a:ext cx="548640" cy="182880"/>
          </a:xfrm>
          <a:prstGeom prst="rect">
            <a:avLst/>
          </a:prstGeom>
          <a:noFill/>
        </p:spPr>
        <p:txBody>
          <a:bodyPr wrap="none" lIns="36576" rIns="36576" tIns="36576" bIns="36576" anchor="t">
            <a:spAutoFit/>
          </a:bodyPr>
          <a:lstStyle/>
          <a:p>
            <a:pPr algn="ctr"/>
            <a:r>
              <a:rPr sz="1100" b="1">
                <a:solidFill>
                  <a:srgbClr val="FFFFFF"/>
                </a:solidFill>
                <a:latin typeface="Aptos"/>
              </a:rPr>
              <a:t>4</a:t>
            </a:r>
          </a:p>
        </p:txBody>
      </p:sp>
      <p:sp>
        <p:nvSpPr>
          <p:cNvPr id="24" name="TextBox 23"/>
          <p:cNvSpPr txBox="1"/>
          <p:nvPr/>
        </p:nvSpPr>
        <p:spPr>
          <a:xfrm>
            <a:off x="9107424" y="2651760"/>
            <a:ext cx="2011680" cy="320040"/>
          </a:xfrm>
          <a:prstGeom prst="rect">
            <a:avLst/>
          </a:prstGeom>
          <a:noFill/>
        </p:spPr>
        <p:txBody>
          <a:bodyPr wrap="none" lIns="36576" rIns="36576" tIns="36576" bIns="36576" anchor="t">
            <a:spAutoFit/>
          </a:bodyPr>
          <a:lstStyle/>
          <a:p>
            <a:pPr algn="l"/>
            <a:r>
              <a:rPr sz="1700" b="1">
                <a:solidFill>
                  <a:srgbClr val="14254A"/>
                </a:solidFill>
                <a:latin typeface="Aptos"/>
              </a:rPr>
              <a:t>Student</a:t>
            </a:r>
          </a:p>
        </p:txBody>
      </p:sp>
      <p:sp>
        <p:nvSpPr>
          <p:cNvPr id="25" name="TextBox 24"/>
          <p:cNvSpPr txBox="1"/>
          <p:nvPr/>
        </p:nvSpPr>
        <p:spPr>
          <a:xfrm>
            <a:off x="9107424" y="3218688"/>
            <a:ext cx="2011680" cy="658368"/>
          </a:xfrm>
          <a:prstGeom prst="rect">
            <a:avLst/>
          </a:prstGeom>
          <a:noFill/>
        </p:spPr>
        <p:txBody>
          <a:bodyPr wrap="none" lIns="36576" rIns="36576" tIns="36576" bIns="36576" anchor="t">
            <a:spAutoFit/>
          </a:bodyPr>
          <a:lstStyle/>
          <a:p>
            <a:pPr algn="l"/>
            <a:r>
              <a:rPr sz="1000" b="0">
                <a:solidFill>
                  <a:srgbClr val="64708A"/>
                </a:solidFill>
                <a:latin typeface="Aptos"/>
              </a:rPr>
              <a:t>Học, nộp bài, quiz, tiến độ và hỗ trợ</a:t>
            </a:r>
          </a:p>
        </p:txBody>
      </p:sp>
      <p:sp>
        <p:nvSpPr>
          <p:cNvPr id="26" name="Rounded Rectangle 25"/>
          <p:cNvSpPr/>
          <p:nvPr/>
        </p:nvSpPr>
        <p:spPr>
          <a:xfrm>
            <a:off x="594360" y="4864608"/>
            <a:ext cx="11018520" cy="1005840"/>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166360"/>
            <a:ext cx="10424160" cy="365760"/>
          </a:xfrm>
          <a:prstGeom prst="rect">
            <a:avLst/>
          </a:prstGeom>
          <a:noFill/>
        </p:spPr>
        <p:txBody>
          <a:bodyPr wrap="none" lIns="36576" rIns="36576">
            <a:spAutoFit/>
          </a:bodyPr>
          <a:lstStyle/>
          <a:p>
            <a:pPr algn="ctr"/>
            <a:r>
              <a:rPr sz="1700" b="1">
                <a:solidFill>
                  <a:srgbClr val="14254A"/>
                </a:solidFill>
                <a:latin typeface="Aptos"/>
              </a:rPr>
              <a:t>Quyền hiệu lực = </a:t>
            </a:r>
            <a:r>
              <a:rPr sz="1700" b="1">
                <a:solidFill>
                  <a:srgbClr val="2F5BEA"/>
                </a:solidFill>
                <a:latin typeface="Aptos"/>
              </a:rPr>
              <a:t>Vai trò </a:t>
            </a:r>
            <a:r>
              <a:rPr sz="1700" b="1">
                <a:solidFill>
                  <a:srgbClr val="3EC6E0"/>
                </a:solidFill>
                <a:latin typeface="Aptos"/>
              </a:rPr>
              <a:t>+ quyền chức năng </a:t>
            </a:r>
            <a:r>
              <a:rPr sz="1700" b="1">
                <a:solidFill>
                  <a:srgbClr val="1F9D73"/>
                </a:solidFill>
                <a:latin typeface="Aptos"/>
              </a:rPr>
              <a:t>+ phạm vi dữ liệu</a:t>
            </a:r>
          </a:p>
        </p:txBody>
      </p:sp>
      <p:cxnSp>
        <p:nvCxnSpPr>
          <p:cNvPr id="28" name="Connector 27"/>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03 · KẾ HOẠCH TRIỂN KHAI</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Năm giai đoạn từ mô hình quyền đến vận hành</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Các giai đoạn đã được hiện thực hóa thành module và test.</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04</a:t>
            </a:r>
          </a:p>
        </p:txBody>
      </p:sp>
      <p:sp>
        <p:nvSpPr>
          <p:cNvPr id="6" name="Rounded Rectangle 5"/>
          <p:cNvSpPr/>
          <p:nvPr/>
        </p:nvSpPr>
        <p:spPr>
          <a:xfrm>
            <a:off x="411480" y="1691640"/>
            <a:ext cx="2057400" cy="32918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9848" y="1444752"/>
            <a:ext cx="731520" cy="731520"/>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1664208"/>
            <a:ext cx="731520" cy="219456"/>
          </a:xfrm>
          <a:prstGeom prst="rect">
            <a:avLst/>
          </a:prstGeom>
          <a:noFill/>
        </p:spPr>
        <p:txBody>
          <a:bodyPr wrap="none" lIns="36576" rIns="36576" tIns="36576" bIns="36576" anchor="t">
            <a:spAutoFit/>
          </a:bodyPr>
          <a:lstStyle/>
          <a:p>
            <a:pPr algn="ctr"/>
            <a:r>
              <a:rPr sz="1400" b="1">
                <a:solidFill>
                  <a:srgbClr val="FFFFFF"/>
                </a:solidFill>
                <a:latin typeface="Aptos"/>
              </a:rPr>
              <a:t>1</a:t>
            </a:r>
          </a:p>
        </p:txBody>
      </p:sp>
      <p:sp>
        <p:nvSpPr>
          <p:cNvPr id="9" name="TextBox 8"/>
          <p:cNvSpPr txBox="1"/>
          <p:nvPr/>
        </p:nvSpPr>
        <p:spPr>
          <a:xfrm>
            <a:off x="594360" y="2560320"/>
            <a:ext cx="1691640" cy="594360"/>
          </a:xfrm>
          <a:prstGeom prst="rect">
            <a:avLst/>
          </a:prstGeom>
          <a:noFill/>
        </p:spPr>
        <p:txBody>
          <a:bodyPr wrap="none" lIns="36576" rIns="36576" tIns="36576" bIns="36576" anchor="t">
            <a:spAutoFit/>
          </a:bodyPr>
          <a:lstStyle/>
          <a:p>
            <a:pPr algn="ctr"/>
            <a:r>
              <a:rPr sz="1600" b="1">
                <a:solidFill>
                  <a:srgbClr val="14254A"/>
                </a:solidFill>
                <a:latin typeface="Aptos"/>
              </a:rPr>
              <a:t>Mô hình quyền</a:t>
            </a:r>
          </a:p>
        </p:txBody>
      </p:sp>
      <p:sp>
        <p:nvSpPr>
          <p:cNvPr id="10" name="TextBox 9"/>
          <p:cNvSpPr txBox="1"/>
          <p:nvPr/>
        </p:nvSpPr>
        <p:spPr>
          <a:xfrm>
            <a:off x="640080" y="3429000"/>
            <a:ext cx="1600200" cy="594360"/>
          </a:xfrm>
          <a:prstGeom prst="rect">
            <a:avLst/>
          </a:prstGeom>
          <a:noFill/>
        </p:spPr>
        <p:txBody>
          <a:bodyPr wrap="none" lIns="36576" rIns="36576" tIns="36576" bIns="36576" anchor="t">
            <a:spAutoFit/>
          </a:bodyPr>
          <a:lstStyle/>
          <a:p>
            <a:pPr algn="ctr"/>
            <a:r>
              <a:rPr sz="1000" b="0">
                <a:solidFill>
                  <a:srgbClr val="64708A"/>
                </a:solidFill>
                <a:latin typeface="Aptos"/>
              </a:rPr>
              <a:t>Role · permission · khoa/lớp</a:t>
            </a:r>
          </a:p>
        </p:txBody>
      </p:sp>
      <p:sp>
        <p:nvSpPr>
          <p:cNvPr id="11" name="Rounded Rectangle 10"/>
          <p:cNvSpPr/>
          <p:nvPr/>
        </p:nvSpPr>
        <p:spPr>
          <a:xfrm>
            <a:off x="795528" y="4315968"/>
            <a:ext cx="128016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366259"/>
            <a:ext cx="1133856" cy="201168"/>
          </a:xfrm>
          <a:prstGeom prst="rect">
            <a:avLst/>
          </a:prstGeom>
          <a:noFill/>
        </p:spPr>
        <p:txBody>
          <a:bodyPr wrap="none" lIns="36576" rIns="36576" tIns="36576" bIns="36576" anchor="t">
            <a:spAutoFit/>
          </a:bodyPr>
          <a:lstStyle/>
          <a:p>
            <a:pPr algn="ctr"/>
            <a:r>
              <a:rPr sz="900" b="1">
                <a:solidFill>
                  <a:srgbClr val="1F9D73"/>
                </a:solidFill>
                <a:latin typeface="Aptos"/>
              </a:rPr>
              <a:t>HOÀN THÀNH</a:t>
            </a:r>
          </a:p>
        </p:txBody>
      </p:sp>
      <p:sp>
        <p:nvSpPr>
          <p:cNvPr id="13" name="Rounded Rectangle 12"/>
          <p:cNvSpPr/>
          <p:nvPr/>
        </p:nvSpPr>
        <p:spPr>
          <a:xfrm>
            <a:off x="2743200" y="1691640"/>
            <a:ext cx="2057400" cy="32918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01568" y="1444752"/>
            <a:ext cx="731520" cy="731520"/>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01568" y="1664208"/>
            <a:ext cx="731520" cy="219456"/>
          </a:xfrm>
          <a:prstGeom prst="rect">
            <a:avLst/>
          </a:prstGeom>
          <a:noFill/>
        </p:spPr>
        <p:txBody>
          <a:bodyPr wrap="none" lIns="36576" rIns="36576" tIns="36576" bIns="36576" anchor="t">
            <a:spAutoFit/>
          </a:bodyPr>
          <a:lstStyle/>
          <a:p>
            <a:pPr algn="ctr"/>
            <a:r>
              <a:rPr sz="1400" b="1">
                <a:solidFill>
                  <a:srgbClr val="FFFFFF"/>
                </a:solidFill>
                <a:latin typeface="Aptos"/>
              </a:rPr>
              <a:t>2</a:t>
            </a:r>
          </a:p>
        </p:txBody>
      </p:sp>
      <p:sp>
        <p:nvSpPr>
          <p:cNvPr id="16" name="TextBox 15"/>
          <p:cNvSpPr txBox="1"/>
          <p:nvPr/>
        </p:nvSpPr>
        <p:spPr>
          <a:xfrm>
            <a:off x="2926080" y="2560320"/>
            <a:ext cx="1691640" cy="594360"/>
          </a:xfrm>
          <a:prstGeom prst="rect">
            <a:avLst/>
          </a:prstGeom>
          <a:noFill/>
        </p:spPr>
        <p:txBody>
          <a:bodyPr wrap="none" lIns="36576" rIns="36576" tIns="36576" bIns="36576" anchor="t">
            <a:spAutoFit/>
          </a:bodyPr>
          <a:lstStyle/>
          <a:p>
            <a:pPr algn="ctr"/>
            <a:r>
              <a:rPr sz="1600" b="1">
                <a:solidFill>
                  <a:srgbClr val="14254A"/>
                </a:solidFill>
                <a:latin typeface="Aptos"/>
              </a:rPr>
              <a:t>Kho học liệu</a:t>
            </a:r>
          </a:p>
        </p:txBody>
      </p:sp>
      <p:sp>
        <p:nvSpPr>
          <p:cNvPr id="17" name="TextBox 16"/>
          <p:cNvSpPr txBox="1"/>
          <p:nvPr/>
        </p:nvSpPr>
        <p:spPr>
          <a:xfrm>
            <a:off x="2971800" y="3429000"/>
            <a:ext cx="1600200" cy="594360"/>
          </a:xfrm>
          <a:prstGeom prst="rect">
            <a:avLst/>
          </a:prstGeom>
          <a:noFill/>
        </p:spPr>
        <p:txBody>
          <a:bodyPr wrap="none" lIns="36576" rIns="36576" tIns="36576" bIns="36576" anchor="t">
            <a:spAutoFit/>
          </a:bodyPr>
          <a:lstStyle/>
          <a:p>
            <a:pPr algn="ctr"/>
            <a:r>
              <a:rPr sz="1000" b="0">
                <a:solidFill>
                  <a:srgbClr val="64708A"/>
                </a:solidFill>
                <a:latin typeface="Aptos"/>
              </a:rPr>
              <a:t>Metadata · version · review</a:t>
            </a:r>
          </a:p>
        </p:txBody>
      </p:sp>
      <p:sp>
        <p:nvSpPr>
          <p:cNvPr id="18" name="Rounded Rectangle 17"/>
          <p:cNvSpPr/>
          <p:nvPr/>
        </p:nvSpPr>
        <p:spPr>
          <a:xfrm>
            <a:off x="3127248" y="4315968"/>
            <a:ext cx="128016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0" y="4366259"/>
            <a:ext cx="1133856" cy="201168"/>
          </a:xfrm>
          <a:prstGeom prst="rect">
            <a:avLst/>
          </a:prstGeom>
          <a:noFill/>
        </p:spPr>
        <p:txBody>
          <a:bodyPr wrap="none" lIns="36576" rIns="36576" tIns="36576" bIns="36576" anchor="t">
            <a:spAutoFit/>
          </a:bodyPr>
          <a:lstStyle/>
          <a:p>
            <a:pPr algn="ctr"/>
            <a:r>
              <a:rPr sz="900" b="1">
                <a:solidFill>
                  <a:srgbClr val="1F9D73"/>
                </a:solidFill>
                <a:latin typeface="Aptos"/>
              </a:rPr>
              <a:t>HOÀN THÀNH</a:t>
            </a:r>
          </a:p>
        </p:txBody>
      </p:sp>
      <p:sp>
        <p:nvSpPr>
          <p:cNvPr id="20" name="Rounded Rectangle 19"/>
          <p:cNvSpPr/>
          <p:nvPr/>
        </p:nvSpPr>
        <p:spPr>
          <a:xfrm>
            <a:off x="5074920" y="1691640"/>
            <a:ext cx="2057400" cy="32918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733288" y="1444752"/>
            <a:ext cx="731520" cy="731520"/>
          </a:xfrm>
          <a:prstGeom prst="round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3288" y="1664208"/>
            <a:ext cx="731520" cy="219456"/>
          </a:xfrm>
          <a:prstGeom prst="rect">
            <a:avLst/>
          </a:prstGeom>
          <a:noFill/>
        </p:spPr>
        <p:txBody>
          <a:bodyPr wrap="none" lIns="36576" rIns="36576" tIns="36576" bIns="36576" anchor="t">
            <a:spAutoFit/>
          </a:bodyPr>
          <a:lstStyle/>
          <a:p>
            <a:pPr algn="ctr"/>
            <a:r>
              <a:rPr sz="1400" b="1">
                <a:solidFill>
                  <a:srgbClr val="FFFFFF"/>
                </a:solidFill>
                <a:latin typeface="Aptos"/>
              </a:rPr>
              <a:t>3</a:t>
            </a:r>
          </a:p>
        </p:txBody>
      </p:sp>
      <p:sp>
        <p:nvSpPr>
          <p:cNvPr id="23" name="TextBox 22"/>
          <p:cNvSpPr txBox="1"/>
          <p:nvPr/>
        </p:nvSpPr>
        <p:spPr>
          <a:xfrm>
            <a:off x="5257800" y="2560320"/>
            <a:ext cx="1691640" cy="594360"/>
          </a:xfrm>
          <a:prstGeom prst="rect">
            <a:avLst/>
          </a:prstGeom>
          <a:noFill/>
        </p:spPr>
        <p:txBody>
          <a:bodyPr wrap="none" lIns="36576" rIns="36576" tIns="36576" bIns="36576" anchor="t">
            <a:spAutoFit/>
          </a:bodyPr>
          <a:lstStyle/>
          <a:p>
            <a:pPr algn="ctr"/>
            <a:r>
              <a:rPr sz="1600" b="1">
                <a:solidFill>
                  <a:srgbClr val="14254A"/>
                </a:solidFill>
                <a:latin typeface="Aptos"/>
              </a:rPr>
              <a:t>Câu hỏi &amp; AI</a:t>
            </a:r>
          </a:p>
        </p:txBody>
      </p:sp>
      <p:sp>
        <p:nvSpPr>
          <p:cNvPr id="24" name="TextBox 23"/>
          <p:cNvSpPr txBox="1"/>
          <p:nvPr/>
        </p:nvSpPr>
        <p:spPr>
          <a:xfrm>
            <a:off x="5303520" y="3429000"/>
            <a:ext cx="1600200" cy="594360"/>
          </a:xfrm>
          <a:prstGeom prst="rect">
            <a:avLst/>
          </a:prstGeom>
          <a:noFill/>
        </p:spPr>
        <p:txBody>
          <a:bodyPr wrap="none" lIns="36576" rIns="36576" tIns="36576" bIns="36576" anchor="t">
            <a:spAutoFit/>
          </a:bodyPr>
          <a:lstStyle/>
          <a:p>
            <a:pPr algn="ctr"/>
            <a:r>
              <a:rPr sz="1000" b="0">
                <a:solidFill>
                  <a:srgbClr val="64708A"/>
                </a:solidFill>
                <a:latin typeface="Aptos"/>
              </a:rPr>
              <a:t>Question · quiz · AI Draft</a:t>
            </a:r>
          </a:p>
        </p:txBody>
      </p:sp>
      <p:sp>
        <p:nvSpPr>
          <p:cNvPr id="25" name="Rounded Rectangle 24"/>
          <p:cNvSpPr/>
          <p:nvPr/>
        </p:nvSpPr>
        <p:spPr>
          <a:xfrm>
            <a:off x="5458968" y="4315968"/>
            <a:ext cx="128016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32120" y="4366259"/>
            <a:ext cx="1133856" cy="201168"/>
          </a:xfrm>
          <a:prstGeom prst="rect">
            <a:avLst/>
          </a:prstGeom>
          <a:noFill/>
        </p:spPr>
        <p:txBody>
          <a:bodyPr wrap="none" lIns="36576" rIns="36576" tIns="36576" bIns="36576" anchor="t">
            <a:spAutoFit/>
          </a:bodyPr>
          <a:lstStyle/>
          <a:p>
            <a:pPr algn="ctr"/>
            <a:r>
              <a:rPr sz="900" b="1">
                <a:solidFill>
                  <a:srgbClr val="1F9D73"/>
                </a:solidFill>
                <a:latin typeface="Aptos"/>
              </a:rPr>
              <a:t>HOÀN THÀNH</a:t>
            </a:r>
          </a:p>
        </p:txBody>
      </p:sp>
      <p:sp>
        <p:nvSpPr>
          <p:cNvPr id="27" name="Rounded Rectangle 26"/>
          <p:cNvSpPr/>
          <p:nvPr/>
        </p:nvSpPr>
        <p:spPr>
          <a:xfrm>
            <a:off x="7406640" y="1691640"/>
            <a:ext cx="2057400" cy="32918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65008" y="1444752"/>
            <a:ext cx="731520" cy="731520"/>
          </a:xfrm>
          <a:prstGeom prst="round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5008" y="1664208"/>
            <a:ext cx="731520" cy="219456"/>
          </a:xfrm>
          <a:prstGeom prst="rect">
            <a:avLst/>
          </a:prstGeom>
          <a:noFill/>
        </p:spPr>
        <p:txBody>
          <a:bodyPr wrap="none" lIns="36576" rIns="36576" tIns="36576" bIns="36576" anchor="t">
            <a:spAutoFit/>
          </a:bodyPr>
          <a:lstStyle/>
          <a:p>
            <a:pPr algn="ctr"/>
            <a:r>
              <a:rPr sz="1400" b="1">
                <a:solidFill>
                  <a:srgbClr val="FFFFFF"/>
                </a:solidFill>
                <a:latin typeface="Aptos"/>
              </a:rPr>
              <a:t>4</a:t>
            </a:r>
          </a:p>
        </p:txBody>
      </p:sp>
      <p:sp>
        <p:nvSpPr>
          <p:cNvPr id="30" name="TextBox 29"/>
          <p:cNvSpPr txBox="1"/>
          <p:nvPr/>
        </p:nvSpPr>
        <p:spPr>
          <a:xfrm>
            <a:off x="7589519" y="2560320"/>
            <a:ext cx="1691640" cy="594360"/>
          </a:xfrm>
          <a:prstGeom prst="rect">
            <a:avLst/>
          </a:prstGeom>
          <a:noFill/>
        </p:spPr>
        <p:txBody>
          <a:bodyPr wrap="none" lIns="36576" rIns="36576" tIns="36576" bIns="36576" anchor="t">
            <a:spAutoFit/>
          </a:bodyPr>
          <a:lstStyle/>
          <a:p>
            <a:pPr algn="ctr"/>
            <a:r>
              <a:rPr sz="1600" b="1">
                <a:solidFill>
                  <a:srgbClr val="14254A"/>
                </a:solidFill>
                <a:latin typeface="Aptos"/>
              </a:rPr>
              <a:t>Hỗ trợ &amp; báo cáo</a:t>
            </a:r>
          </a:p>
        </p:txBody>
      </p:sp>
      <p:sp>
        <p:nvSpPr>
          <p:cNvPr id="31" name="TextBox 30"/>
          <p:cNvSpPr txBox="1"/>
          <p:nvPr/>
        </p:nvSpPr>
        <p:spPr>
          <a:xfrm>
            <a:off x="7635240" y="3429000"/>
            <a:ext cx="1600200" cy="594360"/>
          </a:xfrm>
          <a:prstGeom prst="rect">
            <a:avLst/>
          </a:prstGeom>
          <a:noFill/>
        </p:spPr>
        <p:txBody>
          <a:bodyPr wrap="none" lIns="36576" rIns="36576" tIns="36576" bIns="36576" anchor="t">
            <a:spAutoFit/>
          </a:bodyPr>
          <a:lstStyle/>
          <a:p>
            <a:pPr algn="ctr"/>
            <a:r>
              <a:rPr sz="1000" b="0">
                <a:solidFill>
                  <a:srgbClr val="64708A"/>
                </a:solidFill>
                <a:latin typeface="Aptos"/>
              </a:rPr>
              <a:t>Ticket · event · progress</a:t>
            </a:r>
          </a:p>
        </p:txBody>
      </p:sp>
      <p:sp>
        <p:nvSpPr>
          <p:cNvPr id="32" name="Rounded Rectangle 31"/>
          <p:cNvSpPr/>
          <p:nvPr/>
        </p:nvSpPr>
        <p:spPr>
          <a:xfrm>
            <a:off x="7790688" y="4315968"/>
            <a:ext cx="128016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4366259"/>
            <a:ext cx="1133856" cy="201168"/>
          </a:xfrm>
          <a:prstGeom prst="rect">
            <a:avLst/>
          </a:prstGeom>
          <a:noFill/>
        </p:spPr>
        <p:txBody>
          <a:bodyPr wrap="none" lIns="36576" rIns="36576" tIns="36576" bIns="36576" anchor="t">
            <a:spAutoFit/>
          </a:bodyPr>
          <a:lstStyle/>
          <a:p>
            <a:pPr algn="ctr"/>
            <a:r>
              <a:rPr sz="900" b="1">
                <a:solidFill>
                  <a:srgbClr val="1F9D73"/>
                </a:solidFill>
                <a:latin typeface="Aptos"/>
              </a:rPr>
              <a:t>HOÀN THÀNH</a:t>
            </a:r>
          </a:p>
        </p:txBody>
      </p:sp>
      <p:sp>
        <p:nvSpPr>
          <p:cNvPr id="34" name="Rounded Rectangle 33"/>
          <p:cNvSpPr/>
          <p:nvPr/>
        </p:nvSpPr>
        <p:spPr>
          <a:xfrm>
            <a:off x="9738359" y="1691640"/>
            <a:ext cx="2057400" cy="329184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396728" y="1444752"/>
            <a:ext cx="731520" cy="731520"/>
          </a:xfrm>
          <a:prstGeom prst="roundRect">
            <a:avLst/>
          </a:prstGeom>
          <a:solidFill>
            <a:srgbClr val="D84A5B"/>
          </a:solidFill>
          <a:ln>
            <a:solidFill>
              <a:srgbClr val="D84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96728" y="1664208"/>
            <a:ext cx="731520" cy="219456"/>
          </a:xfrm>
          <a:prstGeom prst="rect">
            <a:avLst/>
          </a:prstGeom>
          <a:noFill/>
        </p:spPr>
        <p:txBody>
          <a:bodyPr wrap="none" lIns="36576" rIns="36576" tIns="36576" bIns="36576" anchor="t">
            <a:spAutoFit/>
          </a:bodyPr>
          <a:lstStyle/>
          <a:p>
            <a:pPr algn="ctr"/>
            <a:r>
              <a:rPr sz="1400" b="1">
                <a:solidFill>
                  <a:srgbClr val="FFFFFF"/>
                </a:solidFill>
                <a:latin typeface="Aptos"/>
              </a:rPr>
              <a:t>5</a:t>
            </a:r>
          </a:p>
        </p:txBody>
      </p:sp>
      <p:sp>
        <p:nvSpPr>
          <p:cNvPr id="37" name="TextBox 36"/>
          <p:cNvSpPr txBox="1"/>
          <p:nvPr/>
        </p:nvSpPr>
        <p:spPr>
          <a:xfrm>
            <a:off x="9921239" y="2560320"/>
            <a:ext cx="1691640" cy="594360"/>
          </a:xfrm>
          <a:prstGeom prst="rect">
            <a:avLst/>
          </a:prstGeom>
          <a:noFill/>
        </p:spPr>
        <p:txBody>
          <a:bodyPr wrap="none" lIns="36576" rIns="36576" tIns="36576" bIns="36576" anchor="t">
            <a:spAutoFit/>
          </a:bodyPr>
          <a:lstStyle/>
          <a:p>
            <a:pPr algn="ctr"/>
            <a:r>
              <a:rPr sz="1600" b="1">
                <a:solidFill>
                  <a:srgbClr val="14254A"/>
                </a:solidFill>
                <a:latin typeface="Aptos"/>
              </a:rPr>
              <a:t>React &amp; vận hành</a:t>
            </a:r>
          </a:p>
        </p:txBody>
      </p:sp>
      <p:sp>
        <p:nvSpPr>
          <p:cNvPr id="38" name="TextBox 37"/>
          <p:cNvSpPr txBox="1"/>
          <p:nvPr/>
        </p:nvSpPr>
        <p:spPr>
          <a:xfrm>
            <a:off x="9966959" y="3429000"/>
            <a:ext cx="1600200" cy="594360"/>
          </a:xfrm>
          <a:prstGeom prst="rect">
            <a:avLst/>
          </a:prstGeom>
          <a:noFill/>
        </p:spPr>
        <p:txBody>
          <a:bodyPr wrap="none" lIns="36576" rIns="36576" tIns="36576" bIns="36576" anchor="t">
            <a:spAutoFit/>
          </a:bodyPr>
          <a:lstStyle/>
          <a:p>
            <a:pPr algn="ctr"/>
            <a:r>
              <a:rPr sz="1000" b="0">
                <a:solidFill>
                  <a:srgbClr val="64708A"/>
                </a:solidFill>
                <a:latin typeface="Aptos"/>
              </a:rPr>
              <a:t>SPA · test · backup · deploy</a:t>
            </a:r>
          </a:p>
        </p:txBody>
      </p:sp>
      <p:sp>
        <p:nvSpPr>
          <p:cNvPr id="39" name="Rounded Rectangle 38"/>
          <p:cNvSpPr/>
          <p:nvPr/>
        </p:nvSpPr>
        <p:spPr>
          <a:xfrm>
            <a:off x="10122407" y="4315968"/>
            <a:ext cx="128016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59" y="4366259"/>
            <a:ext cx="1133856" cy="201168"/>
          </a:xfrm>
          <a:prstGeom prst="rect">
            <a:avLst/>
          </a:prstGeom>
          <a:noFill/>
        </p:spPr>
        <p:txBody>
          <a:bodyPr wrap="none" lIns="36576" rIns="36576" tIns="36576" bIns="36576" anchor="t">
            <a:spAutoFit/>
          </a:bodyPr>
          <a:lstStyle/>
          <a:p>
            <a:pPr algn="ctr"/>
            <a:r>
              <a:rPr sz="900" b="1">
                <a:solidFill>
                  <a:srgbClr val="1F9D73"/>
                </a:solidFill>
                <a:latin typeface="Aptos"/>
              </a:rPr>
              <a:t>HOÀN THÀNH</a:t>
            </a:r>
          </a:p>
        </p:txBody>
      </p:sp>
      <p:cxnSp>
        <p:nvCxnSpPr>
          <p:cNvPr id="41" name="Connector 40"/>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04 · KIẾN TRÚC VÀ CÔNG NGHỆ</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React → ASP.NET Core → MongoDB Atlas</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Dịch vụ ngoài chỉ được gọi từ backend để giữ secret.</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05</a:t>
            </a:r>
          </a:p>
        </p:txBody>
      </p:sp>
      <p:sp>
        <p:nvSpPr>
          <p:cNvPr id="6" name="Rounded Rectangle 5"/>
          <p:cNvSpPr/>
          <p:nvPr/>
        </p:nvSpPr>
        <p:spPr>
          <a:xfrm>
            <a:off x="914400" y="1691640"/>
            <a:ext cx="2194560" cy="114300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691640"/>
            <a:ext cx="73152" cy="1143000"/>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33856" y="1874520"/>
            <a:ext cx="1810512" cy="310896"/>
          </a:xfrm>
          <a:prstGeom prst="rect">
            <a:avLst/>
          </a:prstGeom>
          <a:noFill/>
        </p:spPr>
        <p:txBody>
          <a:bodyPr wrap="none" lIns="36576" rIns="36576" tIns="36576" bIns="36576" anchor="t">
            <a:spAutoFit/>
          </a:bodyPr>
          <a:lstStyle/>
          <a:p>
            <a:pPr algn="l"/>
            <a:r>
              <a:rPr sz="1300" b="1">
                <a:solidFill>
                  <a:srgbClr val="14254A"/>
                </a:solidFill>
                <a:latin typeface="Aptos"/>
              </a:rPr>
              <a:t>React 19 + TS 7</a:t>
            </a:r>
          </a:p>
        </p:txBody>
      </p:sp>
      <p:sp>
        <p:nvSpPr>
          <p:cNvPr id="9" name="TextBox 8"/>
          <p:cNvSpPr txBox="1"/>
          <p:nvPr/>
        </p:nvSpPr>
        <p:spPr>
          <a:xfrm>
            <a:off x="1133856" y="2331720"/>
            <a:ext cx="1755648" cy="393192"/>
          </a:xfrm>
          <a:prstGeom prst="rect">
            <a:avLst/>
          </a:prstGeom>
          <a:noFill/>
        </p:spPr>
        <p:txBody>
          <a:bodyPr wrap="none" lIns="36576" rIns="36576" tIns="36576" bIns="36576" anchor="t">
            <a:spAutoFit/>
          </a:bodyPr>
          <a:lstStyle/>
          <a:p>
            <a:pPr algn="l"/>
            <a:r>
              <a:rPr sz="1000" b="0">
                <a:solidFill>
                  <a:srgbClr val="64708A"/>
                </a:solidFill>
                <a:latin typeface="Aptos"/>
              </a:rPr>
              <a:t>SPA · Router · Context</a:t>
            </a:r>
          </a:p>
        </p:txBody>
      </p:sp>
      <p:sp>
        <p:nvSpPr>
          <p:cNvPr id="10" name="Rounded Rectangle 9"/>
          <p:cNvSpPr/>
          <p:nvPr/>
        </p:nvSpPr>
        <p:spPr>
          <a:xfrm>
            <a:off x="3703320" y="1691640"/>
            <a:ext cx="2194560" cy="114300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703320" y="1691640"/>
            <a:ext cx="73152" cy="1143000"/>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22776" y="1874520"/>
            <a:ext cx="1810511" cy="310896"/>
          </a:xfrm>
          <a:prstGeom prst="rect">
            <a:avLst/>
          </a:prstGeom>
          <a:noFill/>
        </p:spPr>
        <p:txBody>
          <a:bodyPr wrap="none" lIns="36576" rIns="36576" tIns="36576" bIns="36576" anchor="t">
            <a:spAutoFit/>
          </a:bodyPr>
          <a:lstStyle/>
          <a:p>
            <a:pPr algn="l"/>
            <a:r>
              <a:rPr sz="1300" b="1">
                <a:solidFill>
                  <a:srgbClr val="14254A"/>
                </a:solidFill>
                <a:latin typeface="Aptos"/>
              </a:rPr>
              <a:t>ASP.NET Core 10</a:t>
            </a:r>
          </a:p>
        </p:txBody>
      </p:sp>
      <p:sp>
        <p:nvSpPr>
          <p:cNvPr id="13" name="TextBox 12"/>
          <p:cNvSpPr txBox="1"/>
          <p:nvPr/>
        </p:nvSpPr>
        <p:spPr>
          <a:xfrm>
            <a:off x="3922776" y="2331720"/>
            <a:ext cx="1755648" cy="393192"/>
          </a:xfrm>
          <a:prstGeom prst="rect">
            <a:avLst/>
          </a:prstGeom>
          <a:noFill/>
        </p:spPr>
        <p:txBody>
          <a:bodyPr wrap="none" lIns="36576" rIns="36576" tIns="36576" bIns="36576" anchor="t">
            <a:spAutoFit/>
          </a:bodyPr>
          <a:lstStyle/>
          <a:p>
            <a:pPr algn="l"/>
            <a:r>
              <a:rPr sz="1000" b="0">
                <a:solidFill>
                  <a:srgbClr val="64708A"/>
                </a:solidFill>
                <a:latin typeface="Aptos"/>
              </a:rPr>
              <a:t>API · DI · Policy</a:t>
            </a:r>
          </a:p>
        </p:txBody>
      </p:sp>
      <p:sp>
        <p:nvSpPr>
          <p:cNvPr id="14" name="Rounded Rectangle 13"/>
          <p:cNvSpPr/>
          <p:nvPr/>
        </p:nvSpPr>
        <p:spPr>
          <a:xfrm>
            <a:off x="6492240" y="1691640"/>
            <a:ext cx="2194560" cy="114300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92240" y="1691640"/>
            <a:ext cx="73152" cy="1143000"/>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11696" y="1874520"/>
            <a:ext cx="1810511" cy="310896"/>
          </a:xfrm>
          <a:prstGeom prst="rect">
            <a:avLst/>
          </a:prstGeom>
          <a:noFill/>
        </p:spPr>
        <p:txBody>
          <a:bodyPr wrap="none" lIns="36576" rIns="36576" tIns="36576" bIns="36576" anchor="t">
            <a:spAutoFit/>
          </a:bodyPr>
          <a:lstStyle/>
          <a:p>
            <a:pPr algn="l"/>
            <a:r>
              <a:rPr sz="1300" b="1">
                <a:solidFill>
                  <a:srgbClr val="14254A"/>
                </a:solidFill>
                <a:latin typeface="Aptos"/>
              </a:rPr>
              <a:t>MongoDB Atlas</a:t>
            </a:r>
          </a:p>
        </p:txBody>
      </p:sp>
      <p:sp>
        <p:nvSpPr>
          <p:cNvPr id="17" name="TextBox 16"/>
          <p:cNvSpPr txBox="1"/>
          <p:nvPr/>
        </p:nvSpPr>
        <p:spPr>
          <a:xfrm>
            <a:off x="6711696" y="2331720"/>
            <a:ext cx="1755648" cy="393192"/>
          </a:xfrm>
          <a:prstGeom prst="rect">
            <a:avLst/>
          </a:prstGeom>
          <a:noFill/>
        </p:spPr>
        <p:txBody>
          <a:bodyPr wrap="none" lIns="36576" rIns="36576" tIns="36576" bIns="36576" anchor="t">
            <a:spAutoFit/>
          </a:bodyPr>
          <a:lstStyle/>
          <a:p>
            <a:pPr algn="l"/>
            <a:r>
              <a:rPr sz="1000" b="0">
                <a:solidFill>
                  <a:srgbClr val="64708A"/>
                </a:solidFill>
                <a:latin typeface="Aptos"/>
              </a:rPr>
              <a:t>Typed filter · Index</a:t>
            </a:r>
          </a:p>
        </p:txBody>
      </p:sp>
      <p:sp>
        <p:nvSpPr>
          <p:cNvPr id="18" name="Rounded Rectangle 17"/>
          <p:cNvSpPr/>
          <p:nvPr/>
        </p:nvSpPr>
        <p:spPr>
          <a:xfrm>
            <a:off x="9281160" y="1691640"/>
            <a:ext cx="1920240" cy="114300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81160" y="1691640"/>
            <a:ext cx="73152" cy="1143000"/>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0616" y="1874520"/>
            <a:ext cx="1536192" cy="310896"/>
          </a:xfrm>
          <a:prstGeom prst="rect">
            <a:avLst/>
          </a:prstGeom>
          <a:noFill/>
        </p:spPr>
        <p:txBody>
          <a:bodyPr wrap="none" lIns="36576" rIns="36576" tIns="36576" bIns="36576" anchor="t">
            <a:spAutoFit/>
          </a:bodyPr>
          <a:lstStyle/>
          <a:p>
            <a:pPr algn="l"/>
            <a:r>
              <a:rPr sz="1300" b="1">
                <a:solidFill>
                  <a:srgbClr val="14254A"/>
                </a:solidFill>
                <a:latin typeface="Aptos"/>
              </a:rPr>
              <a:t>GridFS</a:t>
            </a:r>
          </a:p>
        </p:txBody>
      </p:sp>
      <p:sp>
        <p:nvSpPr>
          <p:cNvPr id="21" name="TextBox 20"/>
          <p:cNvSpPr txBox="1"/>
          <p:nvPr/>
        </p:nvSpPr>
        <p:spPr>
          <a:xfrm>
            <a:off x="9500616" y="2331720"/>
            <a:ext cx="1481328" cy="393192"/>
          </a:xfrm>
          <a:prstGeom prst="rect">
            <a:avLst/>
          </a:prstGeom>
          <a:noFill/>
        </p:spPr>
        <p:txBody>
          <a:bodyPr wrap="none" lIns="36576" rIns="36576" tIns="36576" bIns="36576" anchor="t">
            <a:spAutoFit/>
          </a:bodyPr>
          <a:lstStyle/>
          <a:p>
            <a:pPr algn="l"/>
            <a:r>
              <a:rPr sz="1000" b="0">
                <a:solidFill>
                  <a:srgbClr val="64708A"/>
                </a:solidFill>
                <a:latin typeface="Aptos"/>
              </a:rPr>
              <a:t>File ngoài webroot</a:t>
            </a:r>
          </a:p>
        </p:txBody>
      </p:sp>
      <p:sp>
        <p:nvSpPr>
          <p:cNvPr id="22" name="Right Arrow 21"/>
          <p:cNvSpPr/>
          <p:nvPr/>
        </p:nvSpPr>
        <p:spPr>
          <a:xfrm>
            <a:off x="3182112" y="2103120"/>
            <a:ext cx="384048" cy="320040"/>
          </a:xfrm>
          <a:prstGeom prst="rightArrow">
            <a:avLst/>
          </a:prstGeom>
          <a:solidFill>
            <a:srgbClr val="B8C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ight Arrow 22"/>
          <p:cNvSpPr/>
          <p:nvPr/>
        </p:nvSpPr>
        <p:spPr>
          <a:xfrm>
            <a:off x="5971032" y="2103120"/>
            <a:ext cx="384048" cy="320040"/>
          </a:xfrm>
          <a:prstGeom prst="rightArrow">
            <a:avLst/>
          </a:prstGeom>
          <a:solidFill>
            <a:srgbClr val="B8C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8759952" y="2103120"/>
            <a:ext cx="384048" cy="320040"/>
          </a:xfrm>
          <a:prstGeom prst="rightArrow">
            <a:avLst/>
          </a:prstGeom>
          <a:solidFill>
            <a:srgbClr val="B8C5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4400" y="3310128"/>
            <a:ext cx="2514600" cy="109728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4400" y="3310128"/>
            <a:ext cx="73152" cy="1097280"/>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33856" y="3493008"/>
            <a:ext cx="2130551" cy="310896"/>
          </a:xfrm>
          <a:prstGeom prst="rect">
            <a:avLst/>
          </a:prstGeom>
          <a:noFill/>
        </p:spPr>
        <p:txBody>
          <a:bodyPr wrap="none" lIns="36576" rIns="36576" tIns="36576" bIns="36576" anchor="t">
            <a:spAutoFit/>
          </a:bodyPr>
          <a:lstStyle/>
          <a:p>
            <a:pPr algn="l"/>
            <a:r>
              <a:rPr sz="1300" b="1">
                <a:solidFill>
                  <a:srgbClr val="14254A"/>
                </a:solidFill>
                <a:latin typeface="Aptos"/>
              </a:rPr>
              <a:t>OpenAI Responses</a:t>
            </a:r>
          </a:p>
        </p:txBody>
      </p:sp>
      <p:sp>
        <p:nvSpPr>
          <p:cNvPr id="28" name="TextBox 27"/>
          <p:cNvSpPr txBox="1"/>
          <p:nvPr/>
        </p:nvSpPr>
        <p:spPr>
          <a:xfrm>
            <a:off x="1133856" y="3950208"/>
            <a:ext cx="2075688" cy="347472"/>
          </a:xfrm>
          <a:prstGeom prst="rect">
            <a:avLst/>
          </a:prstGeom>
          <a:noFill/>
        </p:spPr>
        <p:txBody>
          <a:bodyPr wrap="none" lIns="36576" rIns="36576" tIns="36576" bIns="36576" anchor="t">
            <a:spAutoFit/>
          </a:bodyPr>
          <a:lstStyle/>
          <a:p>
            <a:pPr algn="l"/>
            <a:r>
              <a:rPr sz="1000" b="0">
                <a:solidFill>
                  <a:srgbClr val="64708A"/>
                </a:solidFill>
                <a:latin typeface="Aptos"/>
              </a:rPr>
              <a:t>Structured Outputs · Draft</a:t>
            </a:r>
          </a:p>
        </p:txBody>
      </p:sp>
      <p:sp>
        <p:nvSpPr>
          <p:cNvPr id="29" name="Rounded Rectangle 28"/>
          <p:cNvSpPr/>
          <p:nvPr/>
        </p:nvSpPr>
        <p:spPr>
          <a:xfrm>
            <a:off x="3703320" y="3310128"/>
            <a:ext cx="2514600" cy="109728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03320" y="3310128"/>
            <a:ext cx="73152" cy="1097280"/>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22776" y="3493008"/>
            <a:ext cx="2130551" cy="310896"/>
          </a:xfrm>
          <a:prstGeom prst="rect">
            <a:avLst/>
          </a:prstGeom>
          <a:noFill/>
        </p:spPr>
        <p:txBody>
          <a:bodyPr wrap="none" lIns="36576" rIns="36576" tIns="36576" bIns="36576" anchor="t">
            <a:spAutoFit/>
          </a:bodyPr>
          <a:lstStyle/>
          <a:p>
            <a:pPr algn="l"/>
            <a:r>
              <a:rPr sz="1300" b="1">
                <a:solidFill>
                  <a:srgbClr val="14254A"/>
                </a:solidFill>
                <a:latin typeface="Aptos"/>
              </a:rPr>
              <a:t>MailKit / Gmail</a:t>
            </a:r>
          </a:p>
        </p:txBody>
      </p:sp>
      <p:sp>
        <p:nvSpPr>
          <p:cNvPr id="32" name="TextBox 31"/>
          <p:cNvSpPr txBox="1"/>
          <p:nvPr/>
        </p:nvSpPr>
        <p:spPr>
          <a:xfrm>
            <a:off x="3922776" y="3950208"/>
            <a:ext cx="2075688" cy="347472"/>
          </a:xfrm>
          <a:prstGeom prst="rect">
            <a:avLst/>
          </a:prstGeom>
          <a:noFill/>
        </p:spPr>
        <p:txBody>
          <a:bodyPr wrap="none" lIns="36576" rIns="36576" tIns="36576" bIns="36576" anchor="t">
            <a:spAutoFit/>
          </a:bodyPr>
          <a:lstStyle/>
          <a:p>
            <a:pPr algn="l"/>
            <a:r>
              <a:rPr sz="1000" b="0">
                <a:solidFill>
                  <a:srgbClr val="64708A"/>
                </a:solidFill>
                <a:latin typeface="Aptos"/>
              </a:rPr>
              <a:t>OTP qua SMTP TLS</a:t>
            </a:r>
          </a:p>
        </p:txBody>
      </p:sp>
      <p:sp>
        <p:nvSpPr>
          <p:cNvPr id="33" name="Rounded Rectangle 32"/>
          <p:cNvSpPr/>
          <p:nvPr/>
        </p:nvSpPr>
        <p:spPr>
          <a:xfrm>
            <a:off x="6492240" y="3310128"/>
            <a:ext cx="2514600" cy="109728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92240" y="3310128"/>
            <a:ext cx="73152" cy="1097280"/>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11696" y="3493008"/>
            <a:ext cx="2130551" cy="310896"/>
          </a:xfrm>
          <a:prstGeom prst="rect">
            <a:avLst/>
          </a:prstGeom>
          <a:noFill/>
        </p:spPr>
        <p:txBody>
          <a:bodyPr wrap="none" lIns="36576" rIns="36576" tIns="36576" bIns="36576" anchor="t">
            <a:spAutoFit/>
          </a:bodyPr>
          <a:lstStyle/>
          <a:p>
            <a:pPr algn="l"/>
            <a:r>
              <a:rPr sz="1300" b="1">
                <a:solidFill>
                  <a:srgbClr val="14254A"/>
                </a:solidFill>
                <a:latin typeface="Aptos"/>
              </a:rPr>
              <a:t>VNPAY</a:t>
            </a:r>
          </a:p>
        </p:txBody>
      </p:sp>
      <p:sp>
        <p:nvSpPr>
          <p:cNvPr id="36" name="TextBox 35"/>
          <p:cNvSpPr txBox="1"/>
          <p:nvPr/>
        </p:nvSpPr>
        <p:spPr>
          <a:xfrm>
            <a:off x="6711696" y="3950208"/>
            <a:ext cx="2075688" cy="347472"/>
          </a:xfrm>
          <a:prstGeom prst="rect">
            <a:avLst/>
          </a:prstGeom>
          <a:noFill/>
        </p:spPr>
        <p:txBody>
          <a:bodyPr wrap="none" lIns="36576" rIns="36576" tIns="36576" bIns="36576" anchor="t">
            <a:spAutoFit/>
          </a:bodyPr>
          <a:lstStyle/>
          <a:p>
            <a:pPr algn="l"/>
            <a:r>
              <a:rPr sz="1000" b="0">
                <a:solidFill>
                  <a:srgbClr val="64708A"/>
                </a:solidFill>
                <a:latin typeface="Aptos"/>
              </a:rPr>
              <a:t>HMAC-SHA512 callback</a:t>
            </a:r>
          </a:p>
        </p:txBody>
      </p:sp>
      <p:sp>
        <p:nvSpPr>
          <p:cNvPr id="37" name="Rounded Rectangle 36"/>
          <p:cNvSpPr/>
          <p:nvPr/>
        </p:nvSpPr>
        <p:spPr>
          <a:xfrm>
            <a:off x="9281160" y="3310128"/>
            <a:ext cx="1920240" cy="109728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81160" y="3310128"/>
            <a:ext cx="73152" cy="1097280"/>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00616" y="3493008"/>
            <a:ext cx="1536192" cy="310896"/>
          </a:xfrm>
          <a:prstGeom prst="rect">
            <a:avLst/>
          </a:prstGeom>
          <a:noFill/>
        </p:spPr>
        <p:txBody>
          <a:bodyPr wrap="none" lIns="36576" rIns="36576" tIns="36576" bIns="36576" anchor="t">
            <a:spAutoFit/>
          </a:bodyPr>
          <a:lstStyle/>
          <a:p>
            <a:pPr algn="l"/>
            <a:r>
              <a:rPr sz="1300" b="1">
                <a:solidFill>
                  <a:srgbClr val="14254A"/>
                </a:solidFill>
                <a:latin typeface="Aptos"/>
              </a:rPr>
              <a:t>Docker / Render</a:t>
            </a:r>
          </a:p>
        </p:txBody>
      </p:sp>
      <p:sp>
        <p:nvSpPr>
          <p:cNvPr id="40" name="TextBox 39"/>
          <p:cNvSpPr txBox="1"/>
          <p:nvPr/>
        </p:nvSpPr>
        <p:spPr>
          <a:xfrm>
            <a:off x="9500616" y="3950208"/>
            <a:ext cx="1481328" cy="347472"/>
          </a:xfrm>
          <a:prstGeom prst="rect">
            <a:avLst/>
          </a:prstGeom>
          <a:noFill/>
        </p:spPr>
        <p:txBody>
          <a:bodyPr wrap="none" lIns="36576" rIns="36576" tIns="36576" bIns="36576" anchor="t">
            <a:spAutoFit/>
          </a:bodyPr>
          <a:lstStyle/>
          <a:p>
            <a:pPr algn="l"/>
            <a:r>
              <a:rPr sz="1000" b="0">
                <a:solidFill>
                  <a:srgbClr val="64708A"/>
                </a:solidFill>
                <a:latin typeface="Aptos"/>
              </a:rPr>
              <a:t>Build và HTTPS deploy</a:t>
            </a:r>
          </a:p>
        </p:txBody>
      </p:sp>
      <p:sp>
        <p:nvSpPr>
          <p:cNvPr id="41" name="Rounded Rectangle 40"/>
          <p:cNvSpPr/>
          <p:nvPr/>
        </p:nvSpPr>
        <p:spPr>
          <a:xfrm>
            <a:off x="594360" y="4983480"/>
            <a:ext cx="10972800" cy="749808"/>
          </a:xfrm>
          <a:prstGeom prst="roundRect">
            <a:avLst/>
          </a:prstGeom>
          <a:solidFill>
            <a:srgbClr val="14254A"/>
          </a:solidFill>
          <a:ln>
            <a:solidFill>
              <a:srgbClr val="142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230368"/>
            <a:ext cx="10515600" cy="274320"/>
          </a:xfrm>
          <a:prstGeom prst="rect">
            <a:avLst/>
          </a:prstGeom>
          <a:noFill/>
        </p:spPr>
        <p:txBody>
          <a:bodyPr wrap="none" lIns="36576" rIns="36576" tIns="36576" bIns="36576" anchor="t">
            <a:spAutoFit/>
          </a:bodyPr>
          <a:lstStyle/>
          <a:p>
            <a:pPr algn="ctr"/>
            <a:r>
              <a:rPr sz="1400" b="1">
                <a:solidFill>
                  <a:srgbClr val="FFFFFF"/>
                </a:solidFill>
                <a:latin typeface="Aptos"/>
              </a:rPr>
              <a:t>Request → Validation → Authentication → Authorization → Business rule → Database → DTO</a:t>
            </a:r>
          </a:p>
        </p:txBody>
      </p:sp>
      <p:cxnSp>
        <p:nvCxnSpPr>
          <p:cNvPr id="43" name="Connector 42"/>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05 · MỤC TIÊU 1</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Quản lý sinh viên và quá trình học tập</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Cán bộ xem theo khoa; sinh viên xem dữ liệu của chính mình.</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06</a:t>
            </a:r>
          </a:p>
        </p:txBody>
      </p:sp>
      <p:sp>
        <p:nvSpPr>
          <p:cNvPr id="7" name="Rounded Rectangle 6"/>
          <p:cNvSpPr/>
          <p:nvPr/>
        </p:nvSpPr>
        <p:spPr>
          <a:xfrm>
            <a:off x="576072" y="1554480"/>
            <a:ext cx="5431536" cy="34930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8-staff-students.png"/>
          <p:cNvPicPr>
            <a:picLocks noChangeAspect="1"/>
          </p:cNvPicPr>
          <p:nvPr/>
        </p:nvPicPr>
        <p:blipFill>
          <a:blip r:embed="rId2"/>
          <a:srcRect l="1224" r="1224"/>
          <a:stretch>
            <a:fillRect/>
          </a:stretch>
        </p:blipFill>
        <p:spPr>
          <a:xfrm>
            <a:off x="594360" y="1572768"/>
            <a:ext cx="5394960" cy="3456432"/>
          </a:xfrm>
          <a:prstGeom prst="rect">
            <a:avLst/>
          </a:prstGeom>
        </p:spPr>
      </p:pic>
      <p:sp>
        <p:nvSpPr>
          <p:cNvPr id="9" name="Rounded Rectangle 8"/>
          <p:cNvSpPr/>
          <p:nvPr/>
        </p:nvSpPr>
        <p:spPr>
          <a:xfrm>
            <a:off x="6153912" y="1554480"/>
            <a:ext cx="5431536" cy="34930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2-student-progress.png"/>
          <p:cNvPicPr>
            <a:picLocks noChangeAspect="1"/>
          </p:cNvPicPr>
          <p:nvPr/>
        </p:nvPicPr>
        <p:blipFill>
          <a:blip r:embed="rId3"/>
          <a:srcRect l="1224" r="1224"/>
          <a:stretch>
            <a:fillRect/>
          </a:stretch>
        </p:blipFill>
        <p:spPr>
          <a:xfrm>
            <a:off x="6172200" y="1572768"/>
            <a:ext cx="5394960" cy="3456432"/>
          </a:xfrm>
          <a:prstGeom prst="rect">
            <a:avLst/>
          </a:prstGeom>
        </p:spPr>
      </p:pic>
      <p:sp>
        <p:nvSpPr>
          <p:cNvPr id="10" name="TextBox 9"/>
          <p:cNvSpPr txBox="1"/>
          <p:nvPr/>
        </p:nvSpPr>
        <p:spPr>
          <a:xfrm>
            <a:off x="749808" y="5230368"/>
            <a:ext cx="2194560" cy="274320"/>
          </a:xfrm>
          <a:prstGeom prst="rect">
            <a:avLst/>
          </a:prstGeom>
          <a:noFill/>
        </p:spPr>
        <p:txBody>
          <a:bodyPr wrap="none" lIns="36576" rIns="36576" tIns="36576" bIns="36576" anchor="t">
            <a:spAutoFit/>
          </a:bodyPr>
          <a:lstStyle/>
          <a:p>
            <a:pPr algn="l"/>
            <a:r>
              <a:rPr sz="1100" b="1">
                <a:solidFill>
                  <a:srgbClr val="2F5BEA"/>
                </a:solidFill>
                <a:latin typeface="Aptos"/>
              </a:rPr>
              <a:t>CÁN BỘ QUẢN LÝ</a:t>
            </a:r>
          </a:p>
        </p:txBody>
      </p:sp>
      <p:sp>
        <p:nvSpPr>
          <p:cNvPr id="11" name="TextBox 10"/>
          <p:cNvSpPr txBox="1"/>
          <p:nvPr/>
        </p:nvSpPr>
        <p:spPr>
          <a:xfrm>
            <a:off x="749808" y="5577840"/>
            <a:ext cx="4572000" cy="274320"/>
          </a:xfrm>
          <a:prstGeom prst="rect">
            <a:avLst/>
          </a:prstGeom>
          <a:noFill/>
        </p:spPr>
        <p:txBody>
          <a:bodyPr wrap="none" lIns="36576" rIns="36576" tIns="36576" bIns="36576" anchor="t">
            <a:spAutoFit/>
          </a:bodyPr>
          <a:lstStyle/>
          <a:p>
            <a:pPr algn="l"/>
            <a:r>
              <a:rPr sz="1000" b="0">
                <a:solidFill>
                  <a:srgbClr val="64708A"/>
                </a:solidFill>
                <a:latin typeface="Aptos"/>
              </a:rPr>
              <a:t>Tìm sinh viên · ngành · học kỳ · trạng thái</a:t>
            </a:r>
          </a:p>
        </p:txBody>
      </p:sp>
      <p:sp>
        <p:nvSpPr>
          <p:cNvPr id="12" name="TextBox 11"/>
          <p:cNvSpPr txBox="1"/>
          <p:nvPr/>
        </p:nvSpPr>
        <p:spPr>
          <a:xfrm>
            <a:off x="6327648" y="5230368"/>
            <a:ext cx="1828800" cy="274320"/>
          </a:xfrm>
          <a:prstGeom prst="rect">
            <a:avLst/>
          </a:prstGeom>
          <a:noFill/>
        </p:spPr>
        <p:txBody>
          <a:bodyPr wrap="none" lIns="36576" rIns="36576" tIns="36576" bIns="36576" anchor="t">
            <a:spAutoFit/>
          </a:bodyPr>
          <a:lstStyle/>
          <a:p>
            <a:pPr algn="l"/>
            <a:r>
              <a:rPr sz="1100" b="1">
                <a:solidFill>
                  <a:srgbClr val="1F9D73"/>
                </a:solidFill>
                <a:latin typeface="Aptos"/>
              </a:rPr>
              <a:t>SINH VIÊN</a:t>
            </a:r>
          </a:p>
        </p:txBody>
      </p:sp>
      <p:sp>
        <p:nvSpPr>
          <p:cNvPr id="13" name="TextBox 12"/>
          <p:cNvSpPr txBox="1"/>
          <p:nvPr/>
        </p:nvSpPr>
        <p:spPr>
          <a:xfrm>
            <a:off x="6327648" y="5577840"/>
            <a:ext cx="4663440" cy="274320"/>
          </a:xfrm>
          <a:prstGeom prst="rect">
            <a:avLst/>
          </a:prstGeom>
          <a:noFill/>
        </p:spPr>
        <p:txBody>
          <a:bodyPr wrap="none" lIns="36576" rIns="36576" tIns="36576" bIns="36576" anchor="t">
            <a:spAutoFit/>
          </a:bodyPr>
          <a:lstStyle/>
          <a:p>
            <a:pPr algn="l"/>
            <a:r>
              <a:rPr sz="1000" b="0">
                <a:solidFill>
                  <a:srgbClr val="64708A"/>
                </a:solidFill>
                <a:latin typeface="Aptos"/>
              </a:rPr>
              <a:t>Môn đang học · số bài đã chấm · điểm trung bình</a:t>
            </a:r>
          </a:p>
        </p:txBody>
      </p:sp>
      <p:cxnSp>
        <p:nvCxnSpPr>
          <p:cNvPr id="14" name="Connector 1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06 · MỤC TIÊU 1</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Học vụ, lịch và đăng ký có kiểm soát</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Đăng ký chỉ thành ghi danh sau khi Admin duyệt.</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07</a:t>
            </a:r>
          </a:p>
        </p:txBody>
      </p:sp>
      <p:sp>
        <p:nvSpPr>
          <p:cNvPr id="7" name="Rounded Rectangle 6"/>
          <p:cNvSpPr/>
          <p:nvPr/>
        </p:nvSpPr>
        <p:spPr>
          <a:xfrm>
            <a:off x="576072" y="1554480"/>
            <a:ext cx="5431536" cy="34930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0-schedule.png"/>
          <p:cNvPicPr>
            <a:picLocks noChangeAspect="1"/>
          </p:cNvPicPr>
          <p:nvPr/>
        </p:nvPicPr>
        <p:blipFill>
          <a:blip r:embed="rId2"/>
          <a:srcRect t="14706" b="14706"/>
          <a:stretch>
            <a:fillRect/>
          </a:stretch>
        </p:blipFill>
        <p:spPr>
          <a:xfrm>
            <a:off x="594360" y="1572768"/>
            <a:ext cx="5394960" cy="3456432"/>
          </a:xfrm>
          <a:prstGeom prst="rect">
            <a:avLst/>
          </a:prstGeom>
        </p:spPr>
      </p:pic>
      <p:sp>
        <p:nvSpPr>
          <p:cNvPr id="9" name="Rounded Rectangle 8"/>
          <p:cNvSpPr/>
          <p:nvPr/>
        </p:nvSpPr>
        <p:spPr>
          <a:xfrm>
            <a:off x="6153912" y="1554480"/>
            <a:ext cx="5431536" cy="34930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1-registration-review.png"/>
          <p:cNvPicPr>
            <a:picLocks noChangeAspect="1"/>
          </p:cNvPicPr>
          <p:nvPr/>
        </p:nvPicPr>
        <p:blipFill>
          <a:blip r:embed="rId3"/>
          <a:srcRect l="1224" r="1224"/>
          <a:stretch>
            <a:fillRect/>
          </a:stretch>
        </p:blipFill>
        <p:spPr>
          <a:xfrm>
            <a:off x="6172200" y="1572768"/>
            <a:ext cx="5394960" cy="3456432"/>
          </a:xfrm>
          <a:prstGeom prst="rect">
            <a:avLst/>
          </a:prstGeom>
        </p:spPr>
      </p:pic>
      <p:sp>
        <p:nvSpPr>
          <p:cNvPr id="10" name="Rounded Rectangle 9"/>
          <p:cNvSpPr/>
          <p:nvPr/>
        </p:nvSpPr>
        <p:spPr>
          <a:xfrm>
            <a:off x="749808" y="5257800"/>
            <a:ext cx="50292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5308092"/>
            <a:ext cx="356616" cy="201168"/>
          </a:xfrm>
          <a:prstGeom prst="rect">
            <a:avLst/>
          </a:prstGeom>
          <a:noFill/>
        </p:spPr>
        <p:txBody>
          <a:bodyPr wrap="none" lIns="36576" rIns="36576" tIns="36576" bIns="36576" anchor="t">
            <a:spAutoFit/>
          </a:bodyPr>
          <a:lstStyle/>
          <a:p>
            <a:pPr algn="ctr"/>
            <a:r>
              <a:rPr sz="900" b="1">
                <a:solidFill>
                  <a:srgbClr val="FFFFFF"/>
                </a:solidFill>
                <a:latin typeface="Aptos"/>
              </a:rPr>
              <a:t>01</a:t>
            </a:r>
          </a:p>
        </p:txBody>
      </p:sp>
      <p:sp>
        <p:nvSpPr>
          <p:cNvPr id="12" name="TextBox 11"/>
          <p:cNvSpPr txBox="1"/>
          <p:nvPr/>
        </p:nvSpPr>
        <p:spPr>
          <a:xfrm>
            <a:off x="1371600" y="5230368"/>
            <a:ext cx="1508760" cy="502920"/>
          </a:xfrm>
          <a:prstGeom prst="rect">
            <a:avLst/>
          </a:prstGeom>
          <a:noFill/>
        </p:spPr>
        <p:txBody>
          <a:bodyPr wrap="none" lIns="36576" rIns="36576" tIns="36576" bIns="36576" anchor="t">
            <a:spAutoFit/>
          </a:bodyPr>
          <a:lstStyle/>
          <a:p>
            <a:pPr algn="l"/>
            <a:r>
              <a:rPr sz="900" b="1">
                <a:solidFill>
                  <a:srgbClr val="14254A"/>
                </a:solidFill>
                <a:latin typeface="Aptos"/>
              </a:rPr>
              <a:t>Teacher gửi giờ có thể dạy</a:t>
            </a:r>
          </a:p>
        </p:txBody>
      </p:sp>
      <p:sp>
        <p:nvSpPr>
          <p:cNvPr id="13" name="Rounded Rectangle 12"/>
          <p:cNvSpPr/>
          <p:nvPr/>
        </p:nvSpPr>
        <p:spPr>
          <a:xfrm>
            <a:off x="2880360" y="5257800"/>
            <a:ext cx="50292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53512" y="5308092"/>
            <a:ext cx="356616" cy="201168"/>
          </a:xfrm>
          <a:prstGeom prst="rect">
            <a:avLst/>
          </a:prstGeom>
          <a:noFill/>
        </p:spPr>
        <p:txBody>
          <a:bodyPr wrap="none" lIns="36576" rIns="36576" tIns="36576" bIns="36576" anchor="t">
            <a:spAutoFit/>
          </a:bodyPr>
          <a:lstStyle/>
          <a:p>
            <a:pPr algn="ctr"/>
            <a:r>
              <a:rPr sz="900" b="1">
                <a:solidFill>
                  <a:srgbClr val="FFFFFF"/>
                </a:solidFill>
                <a:latin typeface="Aptos"/>
              </a:rPr>
              <a:t>02</a:t>
            </a:r>
          </a:p>
        </p:txBody>
      </p:sp>
      <p:sp>
        <p:nvSpPr>
          <p:cNvPr id="15" name="TextBox 14"/>
          <p:cNvSpPr txBox="1"/>
          <p:nvPr/>
        </p:nvSpPr>
        <p:spPr>
          <a:xfrm>
            <a:off x="3502152" y="5230368"/>
            <a:ext cx="1508760" cy="502920"/>
          </a:xfrm>
          <a:prstGeom prst="rect">
            <a:avLst/>
          </a:prstGeom>
          <a:noFill/>
        </p:spPr>
        <p:txBody>
          <a:bodyPr wrap="none" lIns="36576" rIns="36576" tIns="36576" bIns="36576" anchor="t">
            <a:spAutoFit/>
          </a:bodyPr>
          <a:lstStyle/>
          <a:p>
            <a:pPr algn="l"/>
            <a:r>
              <a:rPr sz="900" b="1">
                <a:solidFill>
                  <a:srgbClr val="14254A"/>
                </a:solidFill>
                <a:latin typeface="Aptos"/>
              </a:rPr>
              <a:t>Admin tạo buổi, kiểm tra trùng</a:t>
            </a:r>
          </a:p>
        </p:txBody>
      </p:sp>
      <p:sp>
        <p:nvSpPr>
          <p:cNvPr id="16" name="Rounded Rectangle 15"/>
          <p:cNvSpPr/>
          <p:nvPr/>
        </p:nvSpPr>
        <p:spPr>
          <a:xfrm>
            <a:off x="6327648" y="5257800"/>
            <a:ext cx="50292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5308092"/>
            <a:ext cx="356616" cy="201168"/>
          </a:xfrm>
          <a:prstGeom prst="rect">
            <a:avLst/>
          </a:prstGeom>
          <a:noFill/>
        </p:spPr>
        <p:txBody>
          <a:bodyPr wrap="none" lIns="36576" rIns="36576" tIns="36576" bIns="36576" anchor="t">
            <a:spAutoFit/>
          </a:bodyPr>
          <a:lstStyle/>
          <a:p>
            <a:pPr algn="ctr"/>
            <a:r>
              <a:rPr sz="900" b="1">
                <a:solidFill>
                  <a:srgbClr val="FFFFFF"/>
                </a:solidFill>
                <a:latin typeface="Aptos"/>
              </a:rPr>
              <a:t>03</a:t>
            </a:r>
          </a:p>
        </p:txBody>
      </p:sp>
      <p:sp>
        <p:nvSpPr>
          <p:cNvPr id="18" name="TextBox 17"/>
          <p:cNvSpPr txBox="1"/>
          <p:nvPr/>
        </p:nvSpPr>
        <p:spPr>
          <a:xfrm>
            <a:off x="6949440" y="5230368"/>
            <a:ext cx="1508760" cy="502920"/>
          </a:xfrm>
          <a:prstGeom prst="rect">
            <a:avLst/>
          </a:prstGeom>
          <a:noFill/>
        </p:spPr>
        <p:txBody>
          <a:bodyPr wrap="none" lIns="36576" rIns="36576" tIns="36576" bIns="36576" anchor="t">
            <a:spAutoFit/>
          </a:bodyPr>
          <a:lstStyle/>
          <a:p>
            <a:pPr algn="l"/>
            <a:r>
              <a:rPr sz="900" b="1">
                <a:solidFill>
                  <a:srgbClr val="14254A"/>
                </a:solidFill>
                <a:latin typeface="Aptos"/>
              </a:rPr>
              <a:t>Student gửi đăng ký lớp</a:t>
            </a:r>
          </a:p>
        </p:txBody>
      </p:sp>
      <p:sp>
        <p:nvSpPr>
          <p:cNvPr id="19" name="Rounded Rectangle 18"/>
          <p:cNvSpPr/>
          <p:nvPr/>
        </p:nvSpPr>
        <p:spPr>
          <a:xfrm>
            <a:off x="8458200" y="5257800"/>
            <a:ext cx="50292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31352" y="5308092"/>
            <a:ext cx="356616" cy="201168"/>
          </a:xfrm>
          <a:prstGeom prst="rect">
            <a:avLst/>
          </a:prstGeom>
          <a:noFill/>
        </p:spPr>
        <p:txBody>
          <a:bodyPr wrap="none" lIns="36576" rIns="36576" tIns="36576" bIns="36576" anchor="t">
            <a:spAutoFit/>
          </a:bodyPr>
          <a:lstStyle/>
          <a:p>
            <a:pPr algn="ctr"/>
            <a:r>
              <a:rPr sz="900" b="1">
                <a:solidFill>
                  <a:srgbClr val="FFFFFF"/>
                </a:solidFill>
                <a:latin typeface="Aptos"/>
              </a:rPr>
              <a:t>04</a:t>
            </a:r>
          </a:p>
        </p:txBody>
      </p:sp>
      <p:sp>
        <p:nvSpPr>
          <p:cNvPr id="21" name="TextBox 20"/>
          <p:cNvSpPr txBox="1"/>
          <p:nvPr/>
        </p:nvSpPr>
        <p:spPr>
          <a:xfrm>
            <a:off x="9079992" y="5230368"/>
            <a:ext cx="1508760" cy="502920"/>
          </a:xfrm>
          <a:prstGeom prst="rect">
            <a:avLst/>
          </a:prstGeom>
          <a:noFill/>
        </p:spPr>
        <p:txBody>
          <a:bodyPr wrap="none" lIns="36576" rIns="36576" tIns="36576" bIns="36576" anchor="t">
            <a:spAutoFit/>
          </a:bodyPr>
          <a:lstStyle/>
          <a:p>
            <a:pPr algn="l"/>
            <a:r>
              <a:rPr sz="900" b="1">
                <a:solidFill>
                  <a:srgbClr val="14254A"/>
                </a:solidFill>
                <a:latin typeface="Aptos"/>
              </a:rPr>
              <a:t>Admin duyệt sĩ số và lịch</a:t>
            </a:r>
          </a:p>
        </p:txBody>
      </p:sp>
      <p:cxnSp>
        <p:nvCxnSpPr>
          <p:cNvPr id="22" name="Connector 21"/>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07 · MỤC TIÊU 2</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LMS: tổ chức hoạt động dạy và học</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Bài học, file, bài tập và nộp/chấm nằm trong phạm vi lớp.</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08</a:t>
            </a:r>
          </a:p>
        </p:txBody>
      </p:sp>
      <p:sp>
        <p:nvSpPr>
          <p:cNvPr id="7" name="Rounded Rectangle 6"/>
          <p:cNvSpPr/>
          <p:nvPr/>
        </p:nvSpPr>
        <p:spPr>
          <a:xfrm>
            <a:off x="576072" y="1517904"/>
            <a:ext cx="6757416" cy="4261104"/>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class-learning.png"/>
          <p:cNvPicPr>
            <a:picLocks noChangeAspect="1"/>
          </p:cNvPicPr>
          <p:nvPr/>
        </p:nvPicPr>
        <p:blipFill>
          <a:blip r:embed="rId2"/>
          <a:srcRect l="284" r="284"/>
          <a:stretch>
            <a:fillRect/>
          </a:stretch>
        </p:blipFill>
        <p:spPr>
          <a:xfrm>
            <a:off x="594360" y="1536192"/>
            <a:ext cx="6720840" cy="4224528"/>
          </a:xfrm>
          <a:prstGeom prst="rect">
            <a:avLst/>
          </a:prstGeom>
        </p:spPr>
      </p:pic>
      <p:sp>
        <p:nvSpPr>
          <p:cNvPr id="8" name="Rounded Rectangle 7"/>
          <p:cNvSpPr/>
          <p:nvPr/>
        </p:nvSpPr>
        <p:spPr>
          <a:xfrm>
            <a:off x="7635240" y="1664208"/>
            <a:ext cx="3657600" cy="10515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35240" y="1664208"/>
            <a:ext cx="73152" cy="1051560"/>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54696" y="1847088"/>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Bài học</a:t>
            </a:r>
          </a:p>
        </p:txBody>
      </p:sp>
      <p:sp>
        <p:nvSpPr>
          <p:cNvPr id="11" name="TextBox 10"/>
          <p:cNvSpPr txBox="1"/>
          <p:nvPr/>
        </p:nvSpPr>
        <p:spPr>
          <a:xfrm>
            <a:off x="7854696" y="2304288"/>
            <a:ext cx="3218688" cy="301751"/>
          </a:xfrm>
          <a:prstGeom prst="rect">
            <a:avLst/>
          </a:prstGeom>
          <a:noFill/>
        </p:spPr>
        <p:txBody>
          <a:bodyPr wrap="none" lIns="36576" rIns="36576" tIns="36576" bIns="36576" anchor="t">
            <a:spAutoFit/>
          </a:bodyPr>
          <a:lstStyle/>
          <a:p>
            <a:pPr algn="l"/>
            <a:r>
              <a:rPr sz="1000" b="0">
                <a:solidFill>
                  <a:srgbClr val="64708A"/>
                </a:solidFill>
                <a:latin typeface="Aptos"/>
              </a:rPr>
              <a:t>Nội dung + file đính kèm + trạng thái hoàn thành</a:t>
            </a:r>
          </a:p>
        </p:txBody>
      </p:sp>
      <p:sp>
        <p:nvSpPr>
          <p:cNvPr id="12" name="Rounded Rectangle 11"/>
          <p:cNvSpPr/>
          <p:nvPr/>
        </p:nvSpPr>
        <p:spPr>
          <a:xfrm>
            <a:off x="7635240" y="2990088"/>
            <a:ext cx="3657600" cy="10515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990088"/>
            <a:ext cx="73152" cy="1051560"/>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54696" y="3172968"/>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Bài tập</a:t>
            </a:r>
          </a:p>
        </p:txBody>
      </p:sp>
      <p:sp>
        <p:nvSpPr>
          <p:cNvPr id="15" name="TextBox 14"/>
          <p:cNvSpPr txBox="1"/>
          <p:nvPr/>
        </p:nvSpPr>
        <p:spPr>
          <a:xfrm>
            <a:off x="7854696" y="3630168"/>
            <a:ext cx="3218688" cy="301751"/>
          </a:xfrm>
          <a:prstGeom prst="rect">
            <a:avLst/>
          </a:prstGeom>
          <a:noFill/>
        </p:spPr>
        <p:txBody>
          <a:bodyPr wrap="none" lIns="36576" rIns="36576" tIns="36576" bIns="36576" anchor="t">
            <a:spAutoFit/>
          </a:bodyPr>
          <a:lstStyle/>
          <a:p>
            <a:pPr algn="l"/>
            <a:r>
              <a:rPr sz="1000" b="0">
                <a:solidFill>
                  <a:srgbClr val="64708A"/>
                </a:solidFill>
                <a:latin typeface="Aptos"/>
              </a:rPr>
              <a:t>Hạn nộp + file + bài làm riêng tư</a:t>
            </a:r>
          </a:p>
        </p:txBody>
      </p:sp>
      <p:sp>
        <p:nvSpPr>
          <p:cNvPr id="16" name="Rounded Rectangle 15"/>
          <p:cNvSpPr/>
          <p:nvPr/>
        </p:nvSpPr>
        <p:spPr>
          <a:xfrm>
            <a:off x="7635240" y="4315968"/>
            <a:ext cx="3657600" cy="10515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35240" y="4315968"/>
            <a:ext cx="73152" cy="1051560"/>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4696" y="4498848"/>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Chấm điểm</a:t>
            </a:r>
          </a:p>
        </p:txBody>
      </p:sp>
      <p:sp>
        <p:nvSpPr>
          <p:cNvPr id="19" name="TextBox 18"/>
          <p:cNvSpPr txBox="1"/>
          <p:nvPr/>
        </p:nvSpPr>
        <p:spPr>
          <a:xfrm>
            <a:off x="7854696" y="4956048"/>
            <a:ext cx="3218688" cy="301751"/>
          </a:xfrm>
          <a:prstGeom prst="rect">
            <a:avLst/>
          </a:prstGeom>
          <a:noFill/>
        </p:spPr>
        <p:txBody>
          <a:bodyPr wrap="none" lIns="36576" rIns="36576" tIns="36576" bIns="36576" anchor="t">
            <a:spAutoFit/>
          </a:bodyPr>
          <a:lstStyle/>
          <a:p>
            <a:pPr algn="l"/>
            <a:r>
              <a:rPr sz="1000" b="0">
                <a:solidFill>
                  <a:srgbClr val="64708A"/>
                </a:solidFill>
                <a:latin typeface="Aptos"/>
              </a:rPr>
              <a:t>Teacher lớp đó mới xem/chấm bài nộp</a:t>
            </a:r>
          </a:p>
        </p:txBody>
      </p:sp>
      <p:cxnSp>
        <p:nvCxnSpPr>
          <p:cNvPr id="20" name="Connector 19"/>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08 · MỤC TIÊU 2</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LCMS: kho học liệu dùng chung</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Một tài nguyên liên kết nhiều môn, có nguồn và điều kiện sử dụng.</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09</a:t>
            </a:r>
          </a:p>
        </p:txBody>
      </p:sp>
      <p:sp>
        <p:nvSpPr>
          <p:cNvPr id="7" name="Rounded Rectangle 6"/>
          <p:cNvSpPr/>
          <p:nvPr/>
        </p:nvSpPr>
        <p:spPr>
          <a:xfrm>
            <a:off x="576072" y="1554480"/>
            <a:ext cx="6757416" cy="41970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teacher-resources.png"/>
          <p:cNvPicPr>
            <a:picLocks noChangeAspect="1"/>
          </p:cNvPicPr>
          <p:nvPr/>
        </p:nvPicPr>
        <p:blipFill>
          <a:blip r:embed="rId2"/>
          <a:srcRect t="476" b="476"/>
          <a:stretch>
            <a:fillRect/>
          </a:stretch>
        </p:blipFill>
        <p:spPr>
          <a:xfrm>
            <a:off x="594360" y="1572768"/>
            <a:ext cx="6720840" cy="4160520"/>
          </a:xfrm>
          <a:prstGeom prst="rect">
            <a:avLst/>
          </a:prstGeom>
        </p:spPr>
      </p:pic>
      <p:sp>
        <p:nvSpPr>
          <p:cNvPr id="8" name="Rounded Rectangle 7"/>
          <p:cNvSpPr/>
          <p:nvPr/>
        </p:nvSpPr>
        <p:spPr>
          <a:xfrm>
            <a:off x="7635240" y="1572768"/>
            <a:ext cx="365760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35240" y="1572768"/>
            <a:ext cx="73152" cy="841248"/>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54696" y="1755648"/>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Metadata</a:t>
            </a:r>
          </a:p>
        </p:txBody>
      </p:sp>
      <p:sp>
        <p:nvSpPr>
          <p:cNvPr id="11" name="TextBox 10"/>
          <p:cNvSpPr txBox="1"/>
          <p:nvPr/>
        </p:nvSpPr>
        <p:spPr>
          <a:xfrm>
            <a:off x="7854696" y="2212848"/>
            <a:ext cx="3218688" cy="91440"/>
          </a:xfrm>
          <a:prstGeom prst="rect">
            <a:avLst/>
          </a:prstGeom>
          <a:noFill/>
        </p:spPr>
        <p:txBody>
          <a:bodyPr wrap="none" lIns="36576" rIns="36576" tIns="36576" bIns="36576" anchor="t">
            <a:spAutoFit/>
          </a:bodyPr>
          <a:lstStyle/>
          <a:p>
            <a:pPr algn="l"/>
            <a:r>
              <a:rPr sz="1000" b="0">
                <a:solidFill>
                  <a:srgbClr val="64708A"/>
                </a:solidFill>
                <a:latin typeface="Aptos"/>
              </a:rPr>
              <a:t>Tác giả · nguồn · loại · license</a:t>
            </a:r>
          </a:p>
        </p:txBody>
      </p:sp>
      <p:sp>
        <p:nvSpPr>
          <p:cNvPr id="12" name="Rounded Rectangle 11"/>
          <p:cNvSpPr/>
          <p:nvPr/>
        </p:nvSpPr>
        <p:spPr>
          <a:xfrm>
            <a:off x="7635240" y="2596896"/>
            <a:ext cx="365760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35240" y="2596896"/>
            <a:ext cx="73152" cy="841248"/>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54696" y="2779776"/>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Tái sử dụng</a:t>
            </a:r>
          </a:p>
        </p:txBody>
      </p:sp>
      <p:sp>
        <p:nvSpPr>
          <p:cNvPr id="15" name="TextBox 14"/>
          <p:cNvSpPr txBox="1"/>
          <p:nvPr/>
        </p:nvSpPr>
        <p:spPr>
          <a:xfrm>
            <a:off x="7854696" y="3236976"/>
            <a:ext cx="3218688" cy="91440"/>
          </a:xfrm>
          <a:prstGeom prst="rect">
            <a:avLst/>
          </a:prstGeom>
          <a:noFill/>
        </p:spPr>
        <p:txBody>
          <a:bodyPr wrap="none" lIns="36576" rIns="36576" tIns="36576" bIns="36576" anchor="t">
            <a:spAutoFit/>
          </a:bodyPr>
          <a:lstStyle/>
          <a:p>
            <a:pPr algn="l"/>
            <a:r>
              <a:rPr sz="1000" b="0">
                <a:solidFill>
                  <a:srgbClr val="64708A"/>
                </a:solidFill>
                <a:latin typeface="Aptos"/>
              </a:rPr>
              <a:t>Nhiều môn dùng cùng một tài nguyên</a:t>
            </a:r>
          </a:p>
        </p:txBody>
      </p:sp>
      <p:sp>
        <p:nvSpPr>
          <p:cNvPr id="16" name="Rounded Rectangle 15"/>
          <p:cNvSpPr/>
          <p:nvPr/>
        </p:nvSpPr>
        <p:spPr>
          <a:xfrm>
            <a:off x="7635240" y="3621024"/>
            <a:ext cx="365760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35240" y="3621024"/>
            <a:ext cx="73152" cy="841248"/>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4696" y="3803904"/>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Chống trùng</a:t>
            </a:r>
          </a:p>
        </p:txBody>
      </p:sp>
      <p:sp>
        <p:nvSpPr>
          <p:cNvPr id="19" name="TextBox 18"/>
          <p:cNvSpPr txBox="1"/>
          <p:nvPr/>
        </p:nvSpPr>
        <p:spPr>
          <a:xfrm>
            <a:off x="7854696" y="4261104"/>
            <a:ext cx="3218688" cy="91440"/>
          </a:xfrm>
          <a:prstGeom prst="rect">
            <a:avLst/>
          </a:prstGeom>
          <a:noFill/>
        </p:spPr>
        <p:txBody>
          <a:bodyPr wrap="none" lIns="36576" rIns="36576" tIns="36576" bIns="36576" anchor="t">
            <a:spAutoFit/>
          </a:bodyPr>
          <a:lstStyle/>
          <a:p>
            <a:pPr algn="l"/>
            <a:r>
              <a:rPr sz="1000" b="0">
                <a:solidFill>
                  <a:srgbClr val="64708A"/>
                </a:solidFill>
                <a:latin typeface="Aptos"/>
              </a:rPr>
              <a:t>SHA-256 trong phạm vi chủ sở hữu</a:t>
            </a:r>
          </a:p>
        </p:txBody>
      </p:sp>
      <p:sp>
        <p:nvSpPr>
          <p:cNvPr id="20" name="Rounded Rectangle 19"/>
          <p:cNvSpPr/>
          <p:nvPr/>
        </p:nvSpPr>
        <p:spPr>
          <a:xfrm>
            <a:off x="7635240" y="4645152"/>
            <a:ext cx="365760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635240" y="4645152"/>
            <a:ext cx="73152" cy="841248"/>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54696" y="4828032"/>
            <a:ext cx="3273551" cy="310896"/>
          </a:xfrm>
          <a:prstGeom prst="rect">
            <a:avLst/>
          </a:prstGeom>
          <a:noFill/>
        </p:spPr>
        <p:txBody>
          <a:bodyPr wrap="none" lIns="36576" rIns="36576" tIns="36576" bIns="36576" anchor="t">
            <a:spAutoFit/>
          </a:bodyPr>
          <a:lstStyle/>
          <a:p>
            <a:pPr algn="l"/>
            <a:r>
              <a:rPr sz="1300" b="1">
                <a:solidFill>
                  <a:srgbClr val="14254A"/>
                </a:solidFill>
                <a:latin typeface="Aptos"/>
              </a:rPr>
              <a:t>Phiên bản</a:t>
            </a:r>
          </a:p>
        </p:txBody>
      </p:sp>
      <p:sp>
        <p:nvSpPr>
          <p:cNvPr id="23" name="TextBox 22"/>
          <p:cNvSpPr txBox="1"/>
          <p:nvPr/>
        </p:nvSpPr>
        <p:spPr>
          <a:xfrm>
            <a:off x="7854696" y="5285232"/>
            <a:ext cx="3218688" cy="91440"/>
          </a:xfrm>
          <a:prstGeom prst="rect">
            <a:avLst/>
          </a:prstGeom>
          <a:noFill/>
        </p:spPr>
        <p:txBody>
          <a:bodyPr wrap="none" lIns="36576" rIns="36576" tIns="36576" bIns="36576" anchor="t">
            <a:spAutoFit/>
          </a:bodyPr>
          <a:lstStyle/>
          <a:p>
            <a:pPr algn="l"/>
            <a:r>
              <a:rPr sz="1000" b="0">
                <a:solidFill>
                  <a:srgbClr val="64708A"/>
                </a:solidFill>
                <a:latin typeface="Aptos"/>
              </a:rPr>
              <a:t>Sửa bản công bố tạo version mới</a:t>
            </a:r>
          </a:p>
        </p:txBody>
      </p:sp>
      <p:cxnSp>
        <p:nvCxnSpPr>
          <p:cNvPr id="24" name="Connector 2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09 · MỤC TIÊU 2</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Quy trình kiểm duyệt nội dung</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Không cho tác giả tự duyệt nội dung của mình.</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10</a:t>
            </a:r>
          </a:p>
        </p:txBody>
      </p:sp>
      <p:sp>
        <p:nvSpPr>
          <p:cNvPr id="6" name="Rounded Rectangle 5"/>
          <p:cNvSpPr/>
          <p:nvPr/>
        </p:nvSpPr>
        <p:spPr>
          <a:xfrm>
            <a:off x="411480" y="1828800"/>
            <a:ext cx="1965960" cy="150876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084831"/>
            <a:ext cx="132588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35124"/>
            <a:ext cx="1179576" cy="201168"/>
          </a:xfrm>
          <a:prstGeom prst="rect">
            <a:avLst/>
          </a:prstGeom>
          <a:noFill/>
        </p:spPr>
        <p:txBody>
          <a:bodyPr wrap="none" lIns="36576" rIns="36576" tIns="36576" bIns="36576" anchor="t">
            <a:spAutoFit/>
          </a:bodyPr>
          <a:lstStyle/>
          <a:p>
            <a:pPr algn="ctr"/>
            <a:r>
              <a:rPr sz="900" b="1">
                <a:solidFill>
                  <a:srgbClr val="FFFFFF"/>
                </a:solidFill>
                <a:latin typeface="Aptos"/>
              </a:rPr>
              <a:t>DRAFT</a:t>
            </a:r>
          </a:p>
        </p:txBody>
      </p:sp>
      <p:sp>
        <p:nvSpPr>
          <p:cNvPr id="9" name="TextBox 8"/>
          <p:cNvSpPr txBox="1"/>
          <p:nvPr/>
        </p:nvSpPr>
        <p:spPr>
          <a:xfrm>
            <a:off x="621792" y="2761488"/>
            <a:ext cx="1554480" cy="365760"/>
          </a:xfrm>
          <a:prstGeom prst="rect">
            <a:avLst/>
          </a:prstGeom>
          <a:noFill/>
        </p:spPr>
        <p:txBody>
          <a:bodyPr wrap="none" lIns="36576" rIns="36576" tIns="36576" bIns="36576" anchor="t">
            <a:spAutoFit/>
          </a:bodyPr>
          <a:lstStyle/>
          <a:p>
            <a:pPr algn="ctr"/>
            <a:r>
              <a:rPr sz="1000" b="1">
                <a:solidFill>
                  <a:srgbClr val="14254A"/>
                </a:solidFill>
                <a:latin typeface="Aptos"/>
              </a:rPr>
              <a:t>Tác giả tạo/sửa</a:t>
            </a:r>
          </a:p>
        </p:txBody>
      </p:sp>
      <p:sp>
        <p:nvSpPr>
          <p:cNvPr id="10" name="Right Arrow 9"/>
          <p:cNvSpPr/>
          <p:nvPr/>
        </p:nvSpPr>
        <p:spPr>
          <a:xfrm>
            <a:off x="2395728" y="2441448"/>
            <a:ext cx="310896" cy="320040"/>
          </a:xfrm>
          <a:prstGeom prst="rightArrow">
            <a:avLst/>
          </a:prstGeom>
          <a:solidFill>
            <a:srgbClr val="C5C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0" y="1828800"/>
            <a:ext cx="1965960" cy="150876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63240" y="2084831"/>
            <a:ext cx="1325880" cy="310896"/>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36392" y="2135124"/>
            <a:ext cx="1179576" cy="201168"/>
          </a:xfrm>
          <a:prstGeom prst="rect">
            <a:avLst/>
          </a:prstGeom>
          <a:noFill/>
        </p:spPr>
        <p:txBody>
          <a:bodyPr wrap="none" lIns="36576" rIns="36576" tIns="36576" bIns="36576" anchor="t">
            <a:spAutoFit/>
          </a:bodyPr>
          <a:lstStyle/>
          <a:p>
            <a:pPr algn="ctr"/>
            <a:r>
              <a:rPr sz="900" b="1">
                <a:solidFill>
                  <a:srgbClr val="FFFFFF"/>
                </a:solidFill>
                <a:latin typeface="Aptos"/>
              </a:rPr>
              <a:t>PENDING</a:t>
            </a:r>
          </a:p>
        </p:txBody>
      </p:sp>
      <p:sp>
        <p:nvSpPr>
          <p:cNvPr id="14" name="TextBox 13"/>
          <p:cNvSpPr txBox="1"/>
          <p:nvPr/>
        </p:nvSpPr>
        <p:spPr>
          <a:xfrm>
            <a:off x="2953512" y="2761488"/>
            <a:ext cx="1554480" cy="365760"/>
          </a:xfrm>
          <a:prstGeom prst="rect">
            <a:avLst/>
          </a:prstGeom>
          <a:noFill/>
        </p:spPr>
        <p:txBody>
          <a:bodyPr wrap="none" lIns="36576" rIns="36576" tIns="36576" bIns="36576" anchor="t">
            <a:spAutoFit/>
          </a:bodyPr>
          <a:lstStyle/>
          <a:p>
            <a:pPr algn="ctr"/>
            <a:r>
              <a:rPr sz="1000" b="1">
                <a:solidFill>
                  <a:srgbClr val="14254A"/>
                </a:solidFill>
                <a:latin typeface="Aptos"/>
              </a:rPr>
              <a:t>Gửi kiểm duyệt</a:t>
            </a:r>
          </a:p>
        </p:txBody>
      </p:sp>
      <p:sp>
        <p:nvSpPr>
          <p:cNvPr id="15" name="Right Arrow 14"/>
          <p:cNvSpPr/>
          <p:nvPr/>
        </p:nvSpPr>
        <p:spPr>
          <a:xfrm>
            <a:off x="4727448" y="2441448"/>
            <a:ext cx="310896" cy="320040"/>
          </a:xfrm>
          <a:prstGeom prst="rightArrow">
            <a:avLst/>
          </a:prstGeom>
          <a:solidFill>
            <a:srgbClr val="C5C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828800"/>
            <a:ext cx="1965960" cy="150876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394959" y="2084831"/>
            <a:ext cx="1325880" cy="310896"/>
          </a:xfrm>
          <a:prstGeom prst="round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68112" y="2135124"/>
            <a:ext cx="1179576" cy="201168"/>
          </a:xfrm>
          <a:prstGeom prst="rect">
            <a:avLst/>
          </a:prstGeom>
          <a:noFill/>
        </p:spPr>
        <p:txBody>
          <a:bodyPr wrap="none" lIns="36576" rIns="36576" tIns="36576" bIns="36576" anchor="t">
            <a:spAutoFit/>
          </a:bodyPr>
          <a:lstStyle/>
          <a:p>
            <a:pPr algn="ctr"/>
            <a:r>
              <a:rPr sz="900" b="1">
                <a:solidFill>
                  <a:srgbClr val="FFFFFF"/>
                </a:solidFill>
                <a:latin typeface="Aptos"/>
              </a:rPr>
              <a:t>APPROVED</a:t>
            </a:r>
          </a:p>
        </p:txBody>
      </p:sp>
      <p:sp>
        <p:nvSpPr>
          <p:cNvPr id="19" name="TextBox 18"/>
          <p:cNvSpPr txBox="1"/>
          <p:nvPr/>
        </p:nvSpPr>
        <p:spPr>
          <a:xfrm>
            <a:off x="5285232" y="2761488"/>
            <a:ext cx="1554480" cy="365760"/>
          </a:xfrm>
          <a:prstGeom prst="rect">
            <a:avLst/>
          </a:prstGeom>
          <a:noFill/>
        </p:spPr>
        <p:txBody>
          <a:bodyPr wrap="none" lIns="36576" rIns="36576" tIns="36576" bIns="36576" anchor="t">
            <a:spAutoFit/>
          </a:bodyPr>
          <a:lstStyle/>
          <a:p>
            <a:pPr algn="ctr"/>
            <a:r>
              <a:rPr sz="1000" b="1">
                <a:solidFill>
                  <a:srgbClr val="14254A"/>
                </a:solidFill>
                <a:latin typeface="Aptos"/>
              </a:rPr>
              <a:t>Người khác phê duyệt</a:t>
            </a:r>
          </a:p>
        </p:txBody>
      </p:sp>
      <p:sp>
        <p:nvSpPr>
          <p:cNvPr id="20" name="Right Arrow 19"/>
          <p:cNvSpPr/>
          <p:nvPr/>
        </p:nvSpPr>
        <p:spPr>
          <a:xfrm>
            <a:off x="7059168" y="2441448"/>
            <a:ext cx="310896" cy="320040"/>
          </a:xfrm>
          <a:prstGeom prst="rightArrow">
            <a:avLst/>
          </a:prstGeom>
          <a:solidFill>
            <a:srgbClr val="C5C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06640" y="1828800"/>
            <a:ext cx="1965960" cy="150876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726679" y="2084831"/>
            <a:ext cx="1325880" cy="310896"/>
          </a:xfrm>
          <a:prstGeom prst="round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99831" y="2135124"/>
            <a:ext cx="1179576" cy="201168"/>
          </a:xfrm>
          <a:prstGeom prst="rect">
            <a:avLst/>
          </a:prstGeom>
          <a:noFill/>
        </p:spPr>
        <p:txBody>
          <a:bodyPr wrap="none" lIns="36576" rIns="36576" tIns="36576" bIns="36576" anchor="t">
            <a:spAutoFit/>
          </a:bodyPr>
          <a:lstStyle/>
          <a:p>
            <a:pPr algn="ctr"/>
            <a:r>
              <a:rPr sz="900" b="1">
                <a:solidFill>
                  <a:srgbClr val="FFFFFF"/>
                </a:solidFill>
                <a:latin typeface="Aptos"/>
              </a:rPr>
              <a:t>PUBLISHED</a:t>
            </a:r>
          </a:p>
        </p:txBody>
      </p:sp>
      <p:sp>
        <p:nvSpPr>
          <p:cNvPr id="24" name="TextBox 23"/>
          <p:cNvSpPr txBox="1"/>
          <p:nvPr/>
        </p:nvSpPr>
        <p:spPr>
          <a:xfrm>
            <a:off x="7616952" y="2761488"/>
            <a:ext cx="1554480" cy="365760"/>
          </a:xfrm>
          <a:prstGeom prst="rect">
            <a:avLst/>
          </a:prstGeom>
          <a:noFill/>
        </p:spPr>
        <p:txBody>
          <a:bodyPr wrap="none" lIns="36576" rIns="36576" tIns="36576" bIns="36576" anchor="t">
            <a:spAutoFit/>
          </a:bodyPr>
          <a:lstStyle/>
          <a:p>
            <a:pPr algn="ctr"/>
            <a:r>
              <a:rPr sz="1000" b="1">
                <a:solidFill>
                  <a:srgbClr val="14254A"/>
                </a:solidFill>
                <a:latin typeface="Aptos"/>
              </a:rPr>
              <a:t>Tác giả công bố</a:t>
            </a:r>
          </a:p>
        </p:txBody>
      </p:sp>
      <p:sp>
        <p:nvSpPr>
          <p:cNvPr id="25" name="Right Arrow 24"/>
          <p:cNvSpPr/>
          <p:nvPr/>
        </p:nvSpPr>
        <p:spPr>
          <a:xfrm>
            <a:off x="9390888" y="2441448"/>
            <a:ext cx="310896" cy="320040"/>
          </a:xfrm>
          <a:prstGeom prst="rightArrow">
            <a:avLst/>
          </a:prstGeom>
          <a:solidFill>
            <a:srgbClr val="C5C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38359" y="1828800"/>
            <a:ext cx="1965960" cy="150876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058399" y="2084831"/>
            <a:ext cx="1325880" cy="310896"/>
          </a:xfrm>
          <a:prstGeom prst="roundRect">
            <a:avLst/>
          </a:prstGeom>
          <a:solidFill>
            <a:srgbClr val="E7EBF3"/>
          </a:solidFill>
          <a:ln>
            <a:solidFill>
              <a:srgbClr val="E7EB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31551" y="2135124"/>
            <a:ext cx="1179576" cy="201168"/>
          </a:xfrm>
          <a:prstGeom prst="rect">
            <a:avLst/>
          </a:prstGeom>
          <a:noFill/>
        </p:spPr>
        <p:txBody>
          <a:bodyPr wrap="none" lIns="36576" rIns="36576" tIns="36576" bIns="36576" anchor="t">
            <a:spAutoFit/>
          </a:bodyPr>
          <a:lstStyle/>
          <a:p>
            <a:pPr algn="ctr"/>
            <a:r>
              <a:rPr sz="900" b="1">
                <a:solidFill>
                  <a:srgbClr val="14254A"/>
                </a:solidFill>
                <a:latin typeface="Aptos"/>
              </a:rPr>
              <a:t>ARCHIVED</a:t>
            </a:r>
          </a:p>
        </p:txBody>
      </p:sp>
      <p:sp>
        <p:nvSpPr>
          <p:cNvPr id="29" name="TextBox 28"/>
          <p:cNvSpPr txBox="1"/>
          <p:nvPr/>
        </p:nvSpPr>
        <p:spPr>
          <a:xfrm>
            <a:off x="9948672" y="2761488"/>
            <a:ext cx="1554480" cy="365760"/>
          </a:xfrm>
          <a:prstGeom prst="rect">
            <a:avLst/>
          </a:prstGeom>
          <a:noFill/>
        </p:spPr>
        <p:txBody>
          <a:bodyPr wrap="none" lIns="36576" rIns="36576" tIns="36576" bIns="36576" anchor="t">
            <a:spAutoFit/>
          </a:bodyPr>
          <a:lstStyle/>
          <a:p>
            <a:pPr algn="ctr"/>
            <a:r>
              <a:rPr sz="1000" b="1">
                <a:solidFill>
                  <a:srgbClr val="14254A"/>
                </a:solidFill>
                <a:latin typeface="Aptos"/>
              </a:rPr>
              <a:t>Giữ lịch sử</a:t>
            </a:r>
          </a:p>
        </p:txBody>
      </p:sp>
      <p:sp>
        <p:nvSpPr>
          <p:cNvPr id="30" name="Rounded Rectangle 29"/>
          <p:cNvSpPr/>
          <p:nvPr/>
        </p:nvSpPr>
        <p:spPr>
          <a:xfrm>
            <a:off x="594360" y="3977639"/>
            <a:ext cx="10972800" cy="1417320"/>
          </a:xfrm>
          <a:prstGeom prst="roundRect">
            <a:avLst/>
          </a:prstGeom>
          <a:solidFill>
            <a:srgbClr val="14254A"/>
          </a:solidFill>
          <a:ln>
            <a:solidFill>
              <a:srgbClr val="142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242816"/>
            <a:ext cx="2103120" cy="256032"/>
          </a:xfrm>
          <a:prstGeom prst="rect">
            <a:avLst/>
          </a:prstGeom>
          <a:noFill/>
        </p:spPr>
        <p:txBody>
          <a:bodyPr wrap="none" lIns="36576" rIns="36576" tIns="36576" bIns="36576" anchor="t">
            <a:spAutoFit/>
          </a:bodyPr>
          <a:lstStyle/>
          <a:p>
            <a:pPr algn="l"/>
            <a:r>
              <a:rPr sz="1000" b="1">
                <a:solidFill>
                  <a:srgbClr val="3EC6E0"/>
                </a:solidFill>
                <a:latin typeface="Aptos"/>
              </a:rPr>
              <a:t>BẰNG CHỨNG NGHIỆM THU</a:t>
            </a:r>
          </a:p>
        </p:txBody>
      </p:sp>
      <p:sp>
        <p:nvSpPr>
          <p:cNvPr id="32" name="TextBox 31"/>
          <p:cNvSpPr txBox="1"/>
          <p:nvPr/>
        </p:nvSpPr>
        <p:spPr>
          <a:xfrm>
            <a:off x="868680" y="4681728"/>
            <a:ext cx="10241280" cy="347472"/>
          </a:xfrm>
          <a:prstGeom prst="rect">
            <a:avLst/>
          </a:prstGeom>
          <a:noFill/>
        </p:spPr>
        <p:txBody>
          <a:bodyPr wrap="none" lIns="36576" rIns="36576" tIns="36576" bIns="36576" anchor="t">
            <a:spAutoFit/>
          </a:bodyPr>
          <a:lstStyle/>
          <a:p>
            <a:pPr algn="ctr"/>
            <a:r>
              <a:rPr sz="1400" b="1">
                <a:solidFill>
                  <a:srgbClr val="FFFFFF"/>
                </a:solidFill>
                <a:latin typeface="Aptos"/>
              </a:rPr>
              <a:t>Draft không hiện với Student  ·  Reviewer khác tác giả  ·  Rejected quay về sửa  ·  Version cũ vẫn truy vết</a:t>
            </a:r>
          </a:p>
        </p:txBody>
      </p:sp>
      <p:cxnSp>
        <p:nvCxnSpPr>
          <p:cNvPr id="33" name="Connector 32"/>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10 · MỤC TIÊU 2</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Ngân hàng câu hỏi và bài kiểm tra</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Câu hỏi đã duyệt mới được đưa vào quiz.</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11</a:t>
            </a:r>
          </a:p>
        </p:txBody>
      </p:sp>
      <p:sp>
        <p:nvSpPr>
          <p:cNvPr id="7" name="Rounded Rectangle 6"/>
          <p:cNvSpPr/>
          <p:nvPr/>
        </p:nvSpPr>
        <p:spPr>
          <a:xfrm>
            <a:off x="576072" y="1554480"/>
            <a:ext cx="5431536" cy="35112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ai-question-bank.png"/>
          <p:cNvPicPr>
            <a:picLocks noChangeAspect="1"/>
          </p:cNvPicPr>
          <p:nvPr/>
        </p:nvPicPr>
        <p:blipFill>
          <a:blip r:embed="rId2"/>
          <a:srcRect l="1480" r="1480"/>
          <a:stretch>
            <a:fillRect/>
          </a:stretch>
        </p:blipFill>
        <p:spPr>
          <a:xfrm>
            <a:off x="594360" y="1572768"/>
            <a:ext cx="5394960" cy="3474720"/>
          </a:xfrm>
          <a:prstGeom prst="rect">
            <a:avLst/>
          </a:prstGeom>
        </p:spPr>
      </p:pic>
      <p:sp>
        <p:nvSpPr>
          <p:cNvPr id="9" name="Rounded Rectangle 8"/>
          <p:cNvSpPr/>
          <p:nvPr/>
        </p:nvSpPr>
        <p:spPr>
          <a:xfrm>
            <a:off x="6153912" y="1554480"/>
            <a:ext cx="5431536" cy="35112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13-quizzes.png"/>
          <p:cNvPicPr>
            <a:picLocks noChangeAspect="1"/>
          </p:cNvPicPr>
          <p:nvPr/>
        </p:nvPicPr>
        <p:blipFill>
          <a:blip r:embed="rId3"/>
          <a:srcRect l="1480" r="1480"/>
          <a:stretch>
            <a:fillRect/>
          </a:stretch>
        </p:blipFill>
        <p:spPr>
          <a:xfrm>
            <a:off x="6172200" y="1572768"/>
            <a:ext cx="5394960" cy="3474720"/>
          </a:xfrm>
          <a:prstGeom prst="rect">
            <a:avLst/>
          </a:prstGeom>
        </p:spPr>
      </p:pic>
      <p:sp>
        <p:nvSpPr>
          <p:cNvPr id="10" name="TextBox 9"/>
          <p:cNvSpPr txBox="1"/>
          <p:nvPr/>
        </p:nvSpPr>
        <p:spPr>
          <a:xfrm>
            <a:off x="749808" y="5230368"/>
            <a:ext cx="2743200" cy="274320"/>
          </a:xfrm>
          <a:prstGeom prst="rect">
            <a:avLst/>
          </a:prstGeom>
          <a:noFill/>
        </p:spPr>
        <p:txBody>
          <a:bodyPr wrap="none" lIns="36576" rIns="36576" tIns="36576" bIns="36576" anchor="t">
            <a:spAutoFit/>
          </a:bodyPr>
          <a:lstStyle/>
          <a:p>
            <a:pPr algn="l"/>
            <a:r>
              <a:rPr sz="1100" b="1">
                <a:solidFill>
                  <a:srgbClr val="2F5BEA"/>
                </a:solidFill>
                <a:latin typeface="Aptos"/>
              </a:rPr>
              <a:t>NGÂN HÀNG CÂU HỎI</a:t>
            </a:r>
          </a:p>
        </p:txBody>
      </p:sp>
      <p:sp>
        <p:nvSpPr>
          <p:cNvPr id="11" name="TextBox 10"/>
          <p:cNvSpPr txBox="1"/>
          <p:nvPr/>
        </p:nvSpPr>
        <p:spPr>
          <a:xfrm>
            <a:off x="749808" y="5577840"/>
            <a:ext cx="4663440" cy="274320"/>
          </a:xfrm>
          <a:prstGeom prst="rect">
            <a:avLst/>
          </a:prstGeom>
          <a:noFill/>
        </p:spPr>
        <p:txBody>
          <a:bodyPr wrap="none" lIns="36576" rIns="36576" tIns="36576" bIns="36576" anchor="t">
            <a:spAutoFit/>
          </a:bodyPr>
          <a:lstStyle/>
          <a:p>
            <a:pPr algn="l"/>
            <a:r>
              <a:rPr sz="1000" b="0">
                <a:solidFill>
                  <a:srgbClr val="64708A"/>
                </a:solidFill>
                <a:latin typeface="Aptos"/>
              </a:rPr>
              <a:t>Chủ đề · độ khó · đáp án · giải thích · version</a:t>
            </a:r>
          </a:p>
        </p:txBody>
      </p:sp>
      <p:sp>
        <p:nvSpPr>
          <p:cNvPr id="12" name="TextBox 11"/>
          <p:cNvSpPr txBox="1"/>
          <p:nvPr/>
        </p:nvSpPr>
        <p:spPr>
          <a:xfrm>
            <a:off x="6327648" y="5230368"/>
            <a:ext cx="1097280" cy="274320"/>
          </a:xfrm>
          <a:prstGeom prst="rect">
            <a:avLst/>
          </a:prstGeom>
          <a:noFill/>
        </p:spPr>
        <p:txBody>
          <a:bodyPr wrap="none" lIns="36576" rIns="36576" tIns="36576" bIns="36576" anchor="t">
            <a:spAutoFit/>
          </a:bodyPr>
          <a:lstStyle/>
          <a:p>
            <a:pPr algn="l"/>
            <a:r>
              <a:rPr sz="1100" b="1">
                <a:solidFill>
                  <a:srgbClr val="1F9D73"/>
                </a:solidFill>
                <a:latin typeface="Aptos"/>
              </a:rPr>
              <a:t>QUIZ</a:t>
            </a:r>
          </a:p>
        </p:txBody>
      </p:sp>
      <p:sp>
        <p:nvSpPr>
          <p:cNvPr id="13" name="TextBox 12"/>
          <p:cNvSpPr txBox="1"/>
          <p:nvPr/>
        </p:nvSpPr>
        <p:spPr>
          <a:xfrm>
            <a:off x="6327648" y="5577840"/>
            <a:ext cx="4663440" cy="274320"/>
          </a:xfrm>
          <a:prstGeom prst="rect">
            <a:avLst/>
          </a:prstGeom>
          <a:noFill/>
        </p:spPr>
        <p:txBody>
          <a:bodyPr wrap="none" lIns="36576" rIns="36576" tIns="36576" bIns="36576" anchor="t">
            <a:spAutoFit/>
          </a:bodyPr>
          <a:lstStyle/>
          <a:p>
            <a:pPr algn="l"/>
            <a:r>
              <a:rPr sz="1000" b="0">
                <a:solidFill>
                  <a:srgbClr val="64708A"/>
                </a:solidFill>
                <a:latin typeface="Aptos"/>
              </a:rPr>
              <a:t>Cửa sổ thi · thời lượng · attempt · chấm tự động</a:t>
            </a:r>
          </a:p>
        </p:txBody>
      </p:sp>
      <p:cxnSp>
        <p:nvCxnSpPr>
          <p:cNvPr id="14" name="Connector 1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11 · MỤC TIÊU 2</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OpenAI hỗ trợ tạo câu hỏi nháp</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AI hỗ trợ tác giả; không thay thế người kiểm duyệt.</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12</a:t>
            </a:r>
          </a:p>
        </p:txBody>
      </p:sp>
      <p:sp>
        <p:nvSpPr>
          <p:cNvPr id="7" name="Rounded Rectangle 6"/>
          <p:cNvSpPr/>
          <p:nvPr/>
        </p:nvSpPr>
        <p:spPr>
          <a:xfrm>
            <a:off x="576072" y="1517904"/>
            <a:ext cx="4837176" cy="4352544"/>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ai-draft-form.png"/>
          <p:cNvPicPr>
            <a:picLocks noChangeAspect="1"/>
          </p:cNvPicPr>
          <p:nvPr/>
        </p:nvPicPr>
        <p:blipFill>
          <a:blip r:embed="rId2"/>
          <a:srcRect t="8021" b="8021"/>
          <a:stretch>
            <a:fillRect/>
          </a:stretch>
        </p:blipFill>
        <p:spPr>
          <a:xfrm>
            <a:off x="594360" y="1536192"/>
            <a:ext cx="4800600" cy="4315968"/>
          </a:xfrm>
          <a:prstGeom prst="rect">
            <a:avLst/>
          </a:prstGeom>
        </p:spPr>
      </p:pic>
      <p:sp>
        <p:nvSpPr>
          <p:cNvPr id="8" name="Rounded Rectangle 7"/>
          <p:cNvSpPr/>
          <p:nvPr/>
        </p:nvSpPr>
        <p:spPr>
          <a:xfrm>
            <a:off x="5760720" y="1572768"/>
            <a:ext cx="5532120" cy="7498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61888" y="1783080"/>
            <a:ext cx="45720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0" y="1833372"/>
            <a:ext cx="310896" cy="201168"/>
          </a:xfrm>
          <a:prstGeom prst="rect">
            <a:avLst/>
          </a:prstGeom>
          <a:noFill/>
        </p:spPr>
        <p:txBody>
          <a:bodyPr wrap="none" lIns="36576" rIns="36576" tIns="36576" bIns="36576" anchor="t">
            <a:spAutoFit/>
          </a:bodyPr>
          <a:lstStyle/>
          <a:p>
            <a:pPr algn="ctr"/>
            <a:r>
              <a:rPr sz="900" b="1">
                <a:solidFill>
                  <a:srgbClr val="FFFFFF"/>
                </a:solidFill>
                <a:latin typeface="Aptos"/>
              </a:rPr>
              <a:t>1</a:t>
            </a:r>
          </a:p>
        </p:txBody>
      </p:sp>
      <p:sp>
        <p:nvSpPr>
          <p:cNvPr id="11" name="TextBox 10"/>
          <p:cNvSpPr txBox="1"/>
          <p:nvPr/>
        </p:nvSpPr>
        <p:spPr>
          <a:xfrm>
            <a:off x="6629400" y="1755648"/>
            <a:ext cx="4297680" cy="256032"/>
          </a:xfrm>
          <a:prstGeom prst="rect">
            <a:avLst/>
          </a:prstGeom>
          <a:noFill/>
        </p:spPr>
        <p:txBody>
          <a:bodyPr wrap="none" lIns="36576" rIns="36576" tIns="36576" bIns="36576" anchor="t">
            <a:spAutoFit/>
          </a:bodyPr>
          <a:lstStyle/>
          <a:p>
            <a:pPr algn="l"/>
            <a:r>
              <a:rPr sz="1200" b="1">
                <a:solidFill>
                  <a:srgbClr val="14254A"/>
                </a:solidFill>
                <a:latin typeface="Aptos"/>
              </a:rPr>
              <a:t>Nhập môn · chủ đề · mục tiêu</a:t>
            </a:r>
          </a:p>
        </p:txBody>
      </p:sp>
      <p:sp>
        <p:nvSpPr>
          <p:cNvPr id="12" name="Rounded Rectangle 11"/>
          <p:cNvSpPr/>
          <p:nvPr/>
        </p:nvSpPr>
        <p:spPr>
          <a:xfrm>
            <a:off x="5760720" y="2578608"/>
            <a:ext cx="5532120" cy="7498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961888" y="2788920"/>
            <a:ext cx="457200" cy="310896"/>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0" y="2839212"/>
            <a:ext cx="310896" cy="201168"/>
          </a:xfrm>
          <a:prstGeom prst="rect">
            <a:avLst/>
          </a:prstGeom>
          <a:noFill/>
        </p:spPr>
        <p:txBody>
          <a:bodyPr wrap="none" lIns="36576" rIns="36576" tIns="36576" bIns="36576" anchor="t">
            <a:spAutoFit/>
          </a:bodyPr>
          <a:lstStyle/>
          <a:p>
            <a:pPr algn="ctr"/>
            <a:r>
              <a:rPr sz="900" b="1">
                <a:solidFill>
                  <a:srgbClr val="FFFFFF"/>
                </a:solidFill>
                <a:latin typeface="Aptos"/>
              </a:rPr>
              <a:t>2</a:t>
            </a:r>
          </a:p>
        </p:txBody>
      </p:sp>
      <p:sp>
        <p:nvSpPr>
          <p:cNvPr id="15" name="TextBox 14"/>
          <p:cNvSpPr txBox="1"/>
          <p:nvPr/>
        </p:nvSpPr>
        <p:spPr>
          <a:xfrm>
            <a:off x="6629400" y="2761488"/>
            <a:ext cx="4297680" cy="256032"/>
          </a:xfrm>
          <a:prstGeom prst="rect">
            <a:avLst/>
          </a:prstGeom>
          <a:noFill/>
        </p:spPr>
        <p:txBody>
          <a:bodyPr wrap="none" lIns="36576" rIns="36576" tIns="36576" bIns="36576" anchor="t">
            <a:spAutoFit/>
          </a:bodyPr>
          <a:lstStyle/>
          <a:p>
            <a:pPr algn="l"/>
            <a:r>
              <a:rPr sz="1200" b="1">
                <a:solidFill>
                  <a:srgbClr val="14254A"/>
                </a:solidFill>
                <a:latin typeface="Aptos"/>
              </a:rPr>
              <a:t>Responses API trả JSON Schema</a:t>
            </a:r>
          </a:p>
        </p:txBody>
      </p:sp>
      <p:sp>
        <p:nvSpPr>
          <p:cNvPr id="16" name="Rounded Rectangle 15"/>
          <p:cNvSpPr/>
          <p:nvPr/>
        </p:nvSpPr>
        <p:spPr>
          <a:xfrm>
            <a:off x="5760720" y="3584448"/>
            <a:ext cx="5532120" cy="7498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961888" y="3794760"/>
            <a:ext cx="457200" cy="310896"/>
          </a:xfrm>
          <a:prstGeom prst="round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0" y="3845052"/>
            <a:ext cx="310896" cy="201168"/>
          </a:xfrm>
          <a:prstGeom prst="rect">
            <a:avLst/>
          </a:prstGeom>
          <a:noFill/>
        </p:spPr>
        <p:txBody>
          <a:bodyPr wrap="none" lIns="36576" rIns="36576" tIns="36576" bIns="36576" anchor="t">
            <a:spAutoFit/>
          </a:bodyPr>
          <a:lstStyle/>
          <a:p>
            <a:pPr algn="ctr"/>
            <a:r>
              <a:rPr sz="900" b="1">
                <a:solidFill>
                  <a:srgbClr val="FFFFFF"/>
                </a:solidFill>
                <a:latin typeface="Aptos"/>
              </a:rPr>
              <a:t>3</a:t>
            </a:r>
          </a:p>
        </p:txBody>
      </p:sp>
      <p:sp>
        <p:nvSpPr>
          <p:cNvPr id="19" name="TextBox 18"/>
          <p:cNvSpPr txBox="1"/>
          <p:nvPr/>
        </p:nvSpPr>
        <p:spPr>
          <a:xfrm>
            <a:off x="6629400" y="3767328"/>
            <a:ext cx="4297680" cy="256032"/>
          </a:xfrm>
          <a:prstGeom prst="rect">
            <a:avLst/>
          </a:prstGeom>
          <a:noFill/>
        </p:spPr>
        <p:txBody>
          <a:bodyPr wrap="none" lIns="36576" rIns="36576" tIns="36576" bIns="36576" anchor="t">
            <a:spAutoFit/>
          </a:bodyPr>
          <a:lstStyle/>
          <a:p>
            <a:pPr algn="l"/>
            <a:r>
              <a:rPr sz="1200" b="1">
                <a:solidFill>
                  <a:srgbClr val="14254A"/>
                </a:solidFill>
                <a:latin typeface="Aptos"/>
              </a:rPr>
              <a:t>Backend validate và lưu Draft</a:t>
            </a:r>
          </a:p>
        </p:txBody>
      </p:sp>
      <p:sp>
        <p:nvSpPr>
          <p:cNvPr id="20" name="Rounded Rectangle 19"/>
          <p:cNvSpPr/>
          <p:nvPr/>
        </p:nvSpPr>
        <p:spPr>
          <a:xfrm>
            <a:off x="5760720" y="4590288"/>
            <a:ext cx="5532120" cy="749808"/>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61888" y="4800600"/>
            <a:ext cx="457200" cy="310896"/>
          </a:xfrm>
          <a:prstGeom prst="round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4850892"/>
            <a:ext cx="310896" cy="201168"/>
          </a:xfrm>
          <a:prstGeom prst="rect">
            <a:avLst/>
          </a:prstGeom>
          <a:noFill/>
        </p:spPr>
        <p:txBody>
          <a:bodyPr wrap="none" lIns="36576" rIns="36576" tIns="36576" bIns="36576" anchor="t">
            <a:spAutoFit/>
          </a:bodyPr>
          <a:lstStyle/>
          <a:p>
            <a:pPr algn="ctr"/>
            <a:r>
              <a:rPr sz="900" b="1">
                <a:solidFill>
                  <a:srgbClr val="FFFFFF"/>
                </a:solidFill>
                <a:latin typeface="Aptos"/>
              </a:rPr>
              <a:t>4</a:t>
            </a:r>
          </a:p>
        </p:txBody>
      </p:sp>
      <p:sp>
        <p:nvSpPr>
          <p:cNvPr id="23" name="TextBox 22"/>
          <p:cNvSpPr txBox="1"/>
          <p:nvPr/>
        </p:nvSpPr>
        <p:spPr>
          <a:xfrm>
            <a:off x="6629400" y="4773168"/>
            <a:ext cx="4297680" cy="256032"/>
          </a:xfrm>
          <a:prstGeom prst="rect">
            <a:avLst/>
          </a:prstGeom>
          <a:noFill/>
        </p:spPr>
        <p:txBody>
          <a:bodyPr wrap="none" lIns="36576" rIns="36576" tIns="36576" bIns="36576" anchor="t">
            <a:spAutoFit/>
          </a:bodyPr>
          <a:lstStyle/>
          <a:p>
            <a:pPr algn="l"/>
            <a:r>
              <a:rPr sz="1200" b="1">
                <a:solidFill>
                  <a:srgbClr val="14254A"/>
                </a:solidFill>
                <a:latin typeface="Aptos"/>
              </a:rPr>
              <a:t>Người khác kiểm duyệt</a:t>
            </a:r>
          </a:p>
        </p:txBody>
      </p:sp>
      <p:sp>
        <p:nvSpPr>
          <p:cNvPr id="24" name="Rounded Rectangle 23"/>
          <p:cNvSpPr/>
          <p:nvPr/>
        </p:nvSpPr>
        <p:spPr>
          <a:xfrm>
            <a:off x="5760720" y="5532120"/>
            <a:ext cx="5532120" cy="475488"/>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0" y="5669280"/>
            <a:ext cx="5166360" cy="201168"/>
          </a:xfrm>
          <a:prstGeom prst="rect">
            <a:avLst/>
          </a:prstGeom>
          <a:noFill/>
        </p:spPr>
        <p:txBody>
          <a:bodyPr wrap="none" lIns="36576" rIns="36576" tIns="36576" bIns="36576" anchor="t">
            <a:spAutoFit/>
          </a:bodyPr>
          <a:lstStyle/>
          <a:p>
            <a:pPr algn="ctr"/>
            <a:r>
              <a:rPr sz="1000" b="1">
                <a:solidFill>
                  <a:srgbClr val="14254A"/>
                </a:solidFill>
                <a:latin typeface="Aptos"/>
              </a:rPr>
              <a:t>Không gửi hồ sơ, email hoặc bài làm sinh viên sang OpenAI.</a:t>
            </a:r>
          </a:p>
        </p:txBody>
      </p:sp>
      <p:cxnSp>
        <p:nvCxnSpPr>
          <p:cNvPr id="26" name="Connector 25"/>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12 · MỤC TIÊU 3</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Hỗ trợ người học bằng ticket</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Yêu cầu có hội thoại, người xử lý, trạng thái và lịch sử.</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13</a:t>
            </a:r>
          </a:p>
        </p:txBody>
      </p:sp>
      <p:sp>
        <p:nvSpPr>
          <p:cNvPr id="7" name="Rounded Rectangle 6"/>
          <p:cNvSpPr/>
          <p:nvPr/>
        </p:nvSpPr>
        <p:spPr>
          <a:xfrm>
            <a:off x="576072" y="1536192"/>
            <a:ext cx="6665976" cy="428853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4-support.png"/>
          <p:cNvPicPr>
            <a:picLocks noChangeAspect="1"/>
          </p:cNvPicPr>
          <p:nvPr/>
        </p:nvPicPr>
        <p:blipFill>
          <a:blip r:embed="rId2"/>
          <a:srcRect l="1277" r="1277"/>
          <a:stretch>
            <a:fillRect/>
          </a:stretch>
        </p:blipFill>
        <p:spPr>
          <a:xfrm>
            <a:off x="594360" y="1554480"/>
            <a:ext cx="6629400" cy="4251960"/>
          </a:xfrm>
          <a:prstGeom prst="rect">
            <a:avLst/>
          </a:prstGeom>
        </p:spPr>
      </p:pic>
      <p:sp>
        <p:nvSpPr>
          <p:cNvPr id="8" name="Rounded Rectangle 7"/>
          <p:cNvSpPr/>
          <p:nvPr/>
        </p:nvSpPr>
        <p:spPr>
          <a:xfrm>
            <a:off x="7543800" y="1600200"/>
            <a:ext cx="3749039" cy="8229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1600200"/>
            <a:ext cx="73152" cy="822960"/>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3256" y="1783080"/>
            <a:ext cx="3364991" cy="310896"/>
          </a:xfrm>
          <a:prstGeom prst="rect">
            <a:avLst/>
          </a:prstGeom>
          <a:noFill/>
        </p:spPr>
        <p:txBody>
          <a:bodyPr wrap="none" lIns="36576" rIns="36576" tIns="36576" bIns="36576" anchor="t">
            <a:spAutoFit/>
          </a:bodyPr>
          <a:lstStyle/>
          <a:p>
            <a:pPr algn="l"/>
            <a:r>
              <a:rPr sz="1300" b="1">
                <a:solidFill>
                  <a:srgbClr val="14254A"/>
                </a:solidFill>
                <a:latin typeface="Aptos"/>
              </a:rPr>
              <a:t>Student</a:t>
            </a:r>
          </a:p>
        </p:txBody>
      </p:sp>
      <p:sp>
        <p:nvSpPr>
          <p:cNvPr id="11" name="TextBox 10"/>
          <p:cNvSpPr txBox="1"/>
          <p:nvPr/>
        </p:nvSpPr>
        <p:spPr>
          <a:xfrm>
            <a:off x="7763256" y="2240280"/>
            <a:ext cx="3310127" cy="73152"/>
          </a:xfrm>
          <a:prstGeom prst="rect">
            <a:avLst/>
          </a:prstGeom>
          <a:noFill/>
        </p:spPr>
        <p:txBody>
          <a:bodyPr wrap="none" lIns="36576" rIns="36576" tIns="36576" bIns="36576" anchor="t">
            <a:spAutoFit/>
          </a:bodyPr>
          <a:lstStyle/>
          <a:p>
            <a:pPr algn="l"/>
            <a:r>
              <a:rPr sz="1000" b="0">
                <a:solidFill>
                  <a:srgbClr val="64708A"/>
                </a:solidFill>
                <a:latin typeface="Aptos"/>
              </a:rPr>
              <a:t>Chỉ xem ticket của mình</a:t>
            </a:r>
          </a:p>
        </p:txBody>
      </p:sp>
      <p:sp>
        <p:nvSpPr>
          <p:cNvPr id="12" name="Rounded Rectangle 11"/>
          <p:cNvSpPr/>
          <p:nvPr/>
        </p:nvSpPr>
        <p:spPr>
          <a:xfrm>
            <a:off x="7543800" y="2606040"/>
            <a:ext cx="3749039" cy="8229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43800" y="2606040"/>
            <a:ext cx="73152" cy="822960"/>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3256" y="2788920"/>
            <a:ext cx="3364991" cy="310896"/>
          </a:xfrm>
          <a:prstGeom prst="rect">
            <a:avLst/>
          </a:prstGeom>
          <a:noFill/>
        </p:spPr>
        <p:txBody>
          <a:bodyPr wrap="none" lIns="36576" rIns="36576" tIns="36576" bIns="36576" anchor="t">
            <a:spAutoFit/>
          </a:bodyPr>
          <a:lstStyle/>
          <a:p>
            <a:pPr algn="l"/>
            <a:r>
              <a:rPr sz="1300" b="1">
                <a:solidFill>
                  <a:srgbClr val="14254A"/>
                </a:solidFill>
                <a:latin typeface="Aptos"/>
              </a:rPr>
              <a:t>Staff</a:t>
            </a:r>
          </a:p>
        </p:txBody>
      </p:sp>
      <p:sp>
        <p:nvSpPr>
          <p:cNvPr id="15" name="TextBox 14"/>
          <p:cNvSpPr txBox="1"/>
          <p:nvPr/>
        </p:nvSpPr>
        <p:spPr>
          <a:xfrm>
            <a:off x="7763256" y="3246120"/>
            <a:ext cx="3310127" cy="73152"/>
          </a:xfrm>
          <a:prstGeom prst="rect">
            <a:avLst/>
          </a:prstGeom>
          <a:noFill/>
        </p:spPr>
        <p:txBody>
          <a:bodyPr wrap="none" lIns="36576" rIns="36576" tIns="36576" bIns="36576" anchor="t">
            <a:spAutoFit/>
          </a:bodyPr>
          <a:lstStyle/>
          <a:p>
            <a:pPr algn="l"/>
            <a:r>
              <a:rPr sz="1000" b="0">
                <a:solidFill>
                  <a:srgbClr val="64708A"/>
                </a:solidFill>
                <a:latin typeface="Aptos"/>
              </a:rPr>
              <a:t>Chỉ xử lý ticket trong khoa</a:t>
            </a:r>
          </a:p>
        </p:txBody>
      </p:sp>
      <p:sp>
        <p:nvSpPr>
          <p:cNvPr id="16" name="Rounded Rectangle 15"/>
          <p:cNvSpPr/>
          <p:nvPr/>
        </p:nvSpPr>
        <p:spPr>
          <a:xfrm>
            <a:off x="7543800" y="3611880"/>
            <a:ext cx="3749039" cy="8229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43800" y="3611880"/>
            <a:ext cx="73152" cy="822960"/>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3256" y="3794760"/>
            <a:ext cx="3364991" cy="310896"/>
          </a:xfrm>
          <a:prstGeom prst="rect">
            <a:avLst/>
          </a:prstGeom>
          <a:noFill/>
        </p:spPr>
        <p:txBody>
          <a:bodyPr wrap="none" lIns="36576" rIns="36576" tIns="36576" bIns="36576" anchor="t">
            <a:spAutoFit/>
          </a:bodyPr>
          <a:lstStyle/>
          <a:p>
            <a:pPr algn="l"/>
            <a:r>
              <a:rPr sz="1300" b="1">
                <a:solidFill>
                  <a:srgbClr val="14254A"/>
                </a:solidFill>
                <a:latin typeface="Aptos"/>
              </a:rPr>
              <a:t>Admin</a:t>
            </a:r>
          </a:p>
        </p:txBody>
      </p:sp>
      <p:sp>
        <p:nvSpPr>
          <p:cNvPr id="19" name="TextBox 18"/>
          <p:cNvSpPr txBox="1"/>
          <p:nvPr/>
        </p:nvSpPr>
        <p:spPr>
          <a:xfrm>
            <a:off x="7763256" y="4251960"/>
            <a:ext cx="3310127" cy="73152"/>
          </a:xfrm>
          <a:prstGeom prst="rect">
            <a:avLst/>
          </a:prstGeom>
          <a:noFill/>
        </p:spPr>
        <p:txBody>
          <a:bodyPr wrap="none" lIns="36576" rIns="36576" tIns="36576" bIns="36576" anchor="t">
            <a:spAutoFit/>
          </a:bodyPr>
          <a:lstStyle/>
          <a:p>
            <a:pPr algn="l"/>
            <a:r>
              <a:rPr sz="1000" b="0">
                <a:solidFill>
                  <a:srgbClr val="64708A"/>
                </a:solidFill>
                <a:latin typeface="Aptos"/>
              </a:rPr>
              <a:t>Theo dõi toàn hệ thống</a:t>
            </a:r>
          </a:p>
        </p:txBody>
      </p:sp>
      <p:sp>
        <p:nvSpPr>
          <p:cNvPr id="20" name="Rounded Rectangle 19"/>
          <p:cNvSpPr/>
          <p:nvPr/>
        </p:nvSpPr>
        <p:spPr>
          <a:xfrm>
            <a:off x="7543800" y="4617720"/>
            <a:ext cx="3749039" cy="822960"/>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43800" y="4617720"/>
            <a:ext cx="73152" cy="822960"/>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63256" y="4800600"/>
            <a:ext cx="3364991" cy="310896"/>
          </a:xfrm>
          <a:prstGeom prst="rect">
            <a:avLst/>
          </a:prstGeom>
          <a:noFill/>
        </p:spPr>
        <p:txBody>
          <a:bodyPr wrap="none" lIns="36576" rIns="36576" tIns="36576" bIns="36576" anchor="t">
            <a:spAutoFit/>
          </a:bodyPr>
          <a:lstStyle/>
          <a:p>
            <a:pPr algn="l"/>
            <a:r>
              <a:rPr sz="1300" b="1">
                <a:solidFill>
                  <a:srgbClr val="14254A"/>
                </a:solidFill>
                <a:latin typeface="Aptos"/>
              </a:rPr>
              <a:t>Lịch sử</a:t>
            </a:r>
          </a:p>
        </p:txBody>
      </p:sp>
      <p:sp>
        <p:nvSpPr>
          <p:cNvPr id="23" name="TextBox 22"/>
          <p:cNvSpPr txBox="1"/>
          <p:nvPr/>
        </p:nvSpPr>
        <p:spPr>
          <a:xfrm>
            <a:off x="7763256" y="5257800"/>
            <a:ext cx="3310127" cy="73152"/>
          </a:xfrm>
          <a:prstGeom prst="rect">
            <a:avLst/>
          </a:prstGeom>
          <a:noFill/>
        </p:spPr>
        <p:txBody>
          <a:bodyPr wrap="none" lIns="36576" rIns="36576" tIns="36576" bIns="36576" anchor="t">
            <a:spAutoFit/>
          </a:bodyPr>
          <a:lstStyle/>
          <a:p>
            <a:pPr algn="l"/>
            <a:r>
              <a:rPr sz="1000" b="0">
                <a:solidFill>
                  <a:srgbClr val="64708A"/>
                </a:solidFill>
                <a:latin typeface="Aptos"/>
              </a:rPr>
              <a:t>Open → InProgress → Resolved</a:t>
            </a:r>
          </a:p>
        </p:txBody>
      </p:sp>
      <p:cxnSp>
        <p:nvCxnSpPr>
          <p:cNvPr id="24" name="Connector 2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13 · MỤC TIÊU 3</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Theo dõi học tập và báo cáo theo quyền</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Cùng một báo cáo nhưng phạm vi dữ liệu thay đổi theo vai trò.</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14</a:t>
            </a:r>
          </a:p>
        </p:txBody>
      </p:sp>
      <p:sp>
        <p:nvSpPr>
          <p:cNvPr id="7" name="Rounded Rectangle 6"/>
          <p:cNvSpPr/>
          <p:nvPr/>
        </p:nvSpPr>
        <p:spPr>
          <a:xfrm>
            <a:off x="576072" y="1517904"/>
            <a:ext cx="6940296" cy="4352544"/>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6-staff-report.png"/>
          <p:cNvPicPr>
            <a:picLocks noChangeAspect="1"/>
          </p:cNvPicPr>
          <p:nvPr/>
        </p:nvPicPr>
        <p:blipFill>
          <a:blip r:embed="rId2"/>
          <a:srcRect l="13" r="13"/>
          <a:stretch>
            <a:fillRect/>
          </a:stretch>
        </p:blipFill>
        <p:spPr>
          <a:xfrm>
            <a:off x="594360" y="1536192"/>
            <a:ext cx="6903720" cy="4315968"/>
          </a:xfrm>
          <a:prstGeom prst="rect">
            <a:avLst/>
          </a:prstGeom>
        </p:spPr>
      </p:pic>
      <p:sp>
        <p:nvSpPr>
          <p:cNvPr id="8" name="Rounded Rectangle 7"/>
          <p:cNvSpPr/>
          <p:nvPr/>
        </p:nvSpPr>
        <p:spPr>
          <a:xfrm>
            <a:off x="7772400" y="1572768"/>
            <a:ext cx="352044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1572768"/>
            <a:ext cx="73152" cy="841248"/>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91856" y="1755648"/>
            <a:ext cx="3136391" cy="310896"/>
          </a:xfrm>
          <a:prstGeom prst="rect">
            <a:avLst/>
          </a:prstGeom>
          <a:noFill/>
        </p:spPr>
        <p:txBody>
          <a:bodyPr wrap="none" lIns="36576" rIns="36576" tIns="36576" bIns="36576" anchor="t">
            <a:spAutoFit/>
          </a:bodyPr>
          <a:lstStyle/>
          <a:p>
            <a:pPr algn="l"/>
            <a:r>
              <a:rPr sz="1300" b="1">
                <a:solidFill>
                  <a:srgbClr val="14254A"/>
                </a:solidFill>
                <a:latin typeface="Aptos"/>
              </a:rPr>
              <a:t>Metrics</a:t>
            </a:r>
          </a:p>
        </p:txBody>
      </p:sp>
      <p:sp>
        <p:nvSpPr>
          <p:cNvPr id="11" name="TextBox 10"/>
          <p:cNvSpPr txBox="1"/>
          <p:nvPr/>
        </p:nvSpPr>
        <p:spPr>
          <a:xfrm>
            <a:off x="7991856" y="2212848"/>
            <a:ext cx="3081528" cy="91440"/>
          </a:xfrm>
          <a:prstGeom prst="rect">
            <a:avLst/>
          </a:prstGeom>
          <a:noFill/>
        </p:spPr>
        <p:txBody>
          <a:bodyPr wrap="none" lIns="36576" rIns="36576" tIns="36576" bIns="36576" anchor="t">
            <a:spAutoFit/>
          </a:bodyPr>
          <a:lstStyle/>
          <a:p>
            <a:pPr algn="l"/>
            <a:r>
              <a:rPr sz="1000" b="0">
                <a:solidFill>
                  <a:srgbClr val="64708A"/>
                </a:solidFill>
                <a:latin typeface="Aptos"/>
              </a:rPr>
              <a:t>Sinh viên · hoàn thành · điểm</a:t>
            </a:r>
          </a:p>
        </p:txBody>
      </p:sp>
      <p:sp>
        <p:nvSpPr>
          <p:cNvPr id="12" name="Rounded Rectangle 11"/>
          <p:cNvSpPr/>
          <p:nvPr/>
        </p:nvSpPr>
        <p:spPr>
          <a:xfrm>
            <a:off x="7772400" y="2596896"/>
            <a:ext cx="352044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0" y="2596896"/>
            <a:ext cx="73152" cy="841248"/>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91856" y="2779776"/>
            <a:ext cx="3136391" cy="310896"/>
          </a:xfrm>
          <a:prstGeom prst="rect">
            <a:avLst/>
          </a:prstGeom>
          <a:noFill/>
        </p:spPr>
        <p:txBody>
          <a:bodyPr wrap="none" lIns="36576" rIns="36576" tIns="36576" bIns="36576" anchor="t">
            <a:spAutoFit/>
          </a:bodyPr>
          <a:lstStyle/>
          <a:p>
            <a:pPr algn="l"/>
            <a:r>
              <a:rPr sz="1300" b="1">
                <a:solidFill>
                  <a:srgbClr val="14254A"/>
                </a:solidFill>
                <a:latin typeface="Aptos"/>
              </a:rPr>
              <a:t>Hỗ trợ</a:t>
            </a:r>
          </a:p>
        </p:txBody>
      </p:sp>
      <p:sp>
        <p:nvSpPr>
          <p:cNvPr id="15" name="TextBox 14"/>
          <p:cNvSpPr txBox="1"/>
          <p:nvPr/>
        </p:nvSpPr>
        <p:spPr>
          <a:xfrm>
            <a:off x="7991856" y="3236976"/>
            <a:ext cx="3081528" cy="91440"/>
          </a:xfrm>
          <a:prstGeom prst="rect">
            <a:avLst/>
          </a:prstGeom>
          <a:noFill/>
        </p:spPr>
        <p:txBody>
          <a:bodyPr wrap="none" lIns="36576" rIns="36576" tIns="36576" bIns="36576" anchor="t">
            <a:spAutoFit/>
          </a:bodyPr>
          <a:lstStyle/>
          <a:p>
            <a:pPr algn="l"/>
            <a:r>
              <a:rPr sz="1000" b="0">
                <a:solidFill>
                  <a:srgbClr val="64708A"/>
                </a:solidFill>
                <a:latin typeface="Aptos"/>
              </a:rPr>
              <a:t>Tổng hợp trạng thái ticket</a:t>
            </a:r>
          </a:p>
        </p:txBody>
      </p:sp>
      <p:sp>
        <p:nvSpPr>
          <p:cNvPr id="16" name="Rounded Rectangle 15"/>
          <p:cNvSpPr/>
          <p:nvPr/>
        </p:nvSpPr>
        <p:spPr>
          <a:xfrm>
            <a:off x="7772400" y="3621024"/>
            <a:ext cx="352044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0" y="3621024"/>
            <a:ext cx="73152" cy="841248"/>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91856" y="3803904"/>
            <a:ext cx="3136391" cy="310896"/>
          </a:xfrm>
          <a:prstGeom prst="rect">
            <a:avLst/>
          </a:prstGeom>
          <a:noFill/>
        </p:spPr>
        <p:txBody>
          <a:bodyPr wrap="none" lIns="36576" rIns="36576" tIns="36576" bIns="36576" anchor="t">
            <a:spAutoFit/>
          </a:bodyPr>
          <a:lstStyle/>
          <a:p>
            <a:pPr algn="l"/>
            <a:r>
              <a:rPr sz="1300" b="1">
                <a:solidFill>
                  <a:srgbClr val="14254A"/>
                </a:solidFill>
                <a:latin typeface="Aptos"/>
              </a:rPr>
              <a:t>Sự kiện</a:t>
            </a:r>
          </a:p>
        </p:txBody>
      </p:sp>
      <p:sp>
        <p:nvSpPr>
          <p:cNvPr id="19" name="TextBox 18"/>
          <p:cNvSpPr txBox="1"/>
          <p:nvPr/>
        </p:nvSpPr>
        <p:spPr>
          <a:xfrm>
            <a:off x="7991856" y="4261104"/>
            <a:ext cx="3081528" cy="91440"/>
          </a:xfrm>
          <a:prstGeom prst="rect">
            <a:avLst/>
          </a:prstGeom>
          <a:noFill/>
        </p:spPr>
        <p:txBody>
          <a:bodyPr wrap="none" lIns="36576" rIns="36576" tIns="36576" bIns="36576" anchor="t">
            <a:spAutoFit/>
          </a:bodyPr>
          <a:lstStyle/>
          <a:p>
            <a:pPr algn="l"/>
            <a:r>
              <a:rPr sz="1000" b="0">
                <a:solidFill>
                  <a:srgbClr val="64708A"/>
                </a:solidFill>
                <a:latin typeface="Aptos"/>
              </a:rPr>
              <a:t>Học · quiz · tài nguyên</a:t>
            </a:r>
          </a:p>
        </p:txBody>
      </p:sp>
      <p:sp>
        <p:nvSpPr>
          <p:cNvPr id="20" name="Rounded Rectangle 19"/>
          <p:cNvSpPr/>
          <p:nvPr/>
        </p:nvSpPr>
        <p:spPr>
          <a:xfrm>
            <a:off x="7772400" y="4645152"/>
            <a:ext cx="3520440" cy="84124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0" y="4645152"/>
            <a:ext cx="73152" cy="841248"/>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91856" y="4828032"/>
            <a:ext cx="3136391" cy="310896"/>
          </a:xfrm>
          <a:prstGeom prst="rect">
            <a:avLst/>
          </a:prstGeom>
          <a:noFill/>
        </p:spPr>
        <p:txBody>
          <a:bodyPr wrap="none" lIns="36576" rIns="36576" tIns="36576" bIns="36576" anchor="t">
            <a:spAutoFit/>
          </a:bodyPr>
          <a:lstStyle/>
          <a:p>
            <a:pPr algn="l"/>
            <a:r>
              <a:rPr sz="1300" b="1">
                <a:solidFill>
                  <a:srgbClr val="14254A"/>
                </a:solidFill>
                <a:latin typeface="Aptos"/>
              </a:rPr>
              <a:t>Xuất CSV</a:t>
            </a:r>
          </a:p>
        </p:txBody>
      </p:sp>
      <p:sp>
        <p:nvSpPr>
          <p:cNvPr id="23" name="TextBox 22"/>
          <p:cNvSpPr txBox="1"/>
          <p:nvPr/>
        </p:nvSpPr>
        <p:spPr>
          <a:xfrm>
            <a:off x="7991856" y="5285232"/>
            <a:ext cx="3081528" cy="91440"/>
          </a:xfrm>
          <a:prstGeom prst="rect">
            <a:avLst/>
          </a:prstGeom>
          <a:noFill/>
        </p:spPr>
        <p:txBody>
          <a:bodyPr wrap="none" lIns="36576" rIns="36576" tIns="36576" bIns="36576" anchor="t">
            <a:spAutoFit/>
          </a:bodyPr>
          <a:lstStyle/>
          <a:p>
            <a:pPr algn="l"/>
            <a:r>
              <a:rPr sz="1000" b="0">
                <a:solidFill>
                  <a:srgbClr val="64708A"/>
                </a:solidFill>
                <a:latin typeface="Aptos"/>
              </a:rPr>
              <a:t>Chỉ trường được phép</a:t>
            </a:r>
          </a:p>
        </p:txBody>
      </p:sp>
      <p:cxnSp>
        <p:nvCxnSpPr>
          <p:cNvPr id="24" name="Connector 2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14 · ĐỐI CHIẾU NGHIỆP VỤ</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Kế hoạch ban đầu đã được chuyển thành chức năng</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Mỗi nhóm có giao diện, API và integration test tương ứng.</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15</a:t>
            </a:r>
          </a:p>
        </p:txBody>
      </p:sp>
      <p:sp>
        <p:nvSpPr>
          <p:cNvPr id="6" name="Rounded Rectangle 5"/>
          <p:cNvSpPr/>
          <p:nvPr/>
        </p:nvSpPr>
        <p:spPr>
          <a:xfrm>
            <a:off x="594360" y="1527048"/>
            <a:ext cx="10972800" cy="566928"/>
          </a:xfrm>
          <a:prstGeom prst="roundRect">
            <a:avLst/>
          </a:prstGeom>
          <a:solidFill>
            <a:srgbClr val="FFFFFF"/>
          </a:solidFill>
          <a:ln>
            <a:solidFill>
              <a:srgbClr val="E2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82495"/>
            <a:ext cx="2331720" cy="219456"/>
          </a:xfrm>
          <a:prstGeom prst="rect">
            <a:avLst/>
          </a:prstGeom>
          <a:noFill/>
        </p:spPr>
        <p:txBody>
          <a:bodyPr wrap="none" lIns="36576" rIns="36576" tIns="36576" bIns="36576" anchor="t">
            <a:spAutoFit/>
          </a:bodyPr>
          <a:lstStyle/>
          <a:p>
            <a:pPr algn="l"/>
            <a:r>
              <a:rPr sz="1100" b="1">
                <a:solidFill>
                  <a:srgbClr val="14254A"/>
                </a:solidFill>
                <a:latin typeface="Aptos"/>
              </a:rPr>
              <a:t>Quản lý sinh viên</a:t>
            </a:r>
          </a:p>
        </p:txBody>
      </p:sp>
      <p:sp>
        <p:nvSpPr>
          <p:cNvPr id="8" name="TextBox 7"/>
          <p:cNvSpPr txBox="1"/>
          <p:nvPr/>
        </p:nvSpPr>
        <p:spPr>
          <a:xfrm>
            <a:off x="3337560" y="1682495"/>
            <a:ext cx="5852160" cy="219456"/>
          </a:xfrm>
          <a:prstGeom prst="rect">
            <a:avLst/>
          </a:prstGeom>
          <a:noFill/>
        </p:spPr>
        <p:txBody>
          <a:bodyPr wrap="none" lIns="36576" rIns="36576" tIns="36576" bIns="36576" anchor="t">
            <a:spAutoFit/>
          </a:bodyPr>
          <a:lstStyle/>
          <a:p>
            <a:pPr algn="l"/>
            <a:r>
              <a:rPr sz="1000" b="0">
                <a:solidFill>
                  <a:srgbClr val="64708A"/>
                </a:solidFill>
                <a:latin typeface="Aptos"/>
              </a:rPr>
              <a:t>Staff scope · tiến độ · học phí</a:t>
            </a:r>
          </a:p>
        </p:txBody>
      </p:sp>
      <p:sp>
        <p:nvSpPr>
          <p:cNvPr id="9" name="Rounded Rectangle 8"/>
          <p:cNvSpPr/>
          <p:nvPr/>
        </p:nvSpPr>
        <p:spPr>
          <a:xfrm>
            <a:off x="9710928" y="1655064"/>
            <a:ext cx="146304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0" y="1705356"/>
            <a:ext cx="1316736" cy="201168"/>
          </a:xfrm>
          <a:prstGeom prst="rect">
            <a:avLst/>
          </a:prstGeom>
          <a:noFill/>
        </p:spPr>
        <p:txBody>
          <a:bodyPr wrap="none" lIns="36576" rIns="36576" tIns="36576" bIns="36576" anchor="t">
            <a:spAutoFit/>
          </a:bodyPr>
          <a:lstStyle/>
          <a:p>
            <a:pPr algn="ctr"/>
            <a:r>
              <a:rPr sz="900" b="1">
                <a:solidFill>
                  <a:srgbClr val="1F9D73"/>
                </a:solidFill>
                <a:latin typeface="Aptos"/>
              </a:rPr>
              <a:t>Đạt</a:t>
            </a:r>
          </a:p>
        </p:txBody>
      </p:sp>
      <p:sp>
        <p:nvSpPr>
          <p:cNvPr id="11" name="Rounded Rectangle 10"/>
          <p:cNvSpPr/>
          <p:nvPr/>
        </p:nvSpPr>
        <p:spPr>
          <a:xfrm>
            <a:off x="594360" y="2240280"/>
            <a:ext cx="10972800" cy="566928"/>
          </a:xfrm>
          <a:prstGeom prst="roundRect">
            <a:avLst/>
          </a:prstGeom>
          <a:solidFill>
            <a:srgbClr val="FFFFFF"/>
          </a:solidFill>
          <a:ln>
            <a:solidFill>
              <a:srgbClr val="E2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395728"/>
            <a:ext cx="2331720" cy="219456"/>
          </a:xfrm>
          <a:prstGeom prst="rect">
            <a:avLst/>
          </a:prstGeom>
          <a:noFill/>
        </p:spPr>
        <p:txBody>
          <a:bodyPr wrap="none" lIns="36576" rIns="36576" tIns="36576" bIns="36576" anchor="t">
            <a:spAutoFit/>
          </a:bodyPr>
          <a:lstStyle/>
          <a:p>
            <a:pPr algn="l"/>
            <a:r>
              <a:rPr sz="1100" b="1">
                <a:solidFill>
                  <a:srgbClr val="14254A"/>
                </a:solidFill>
                <a:latin typeface="Aptos"/>
              </a:rPr>
              <a:t>LMS / lớp học</a:t>
            </a:r>
          </a:p>
        </p:txBody>
      </p:sp>
      <p:sp>
        <p:nvSpPr>
          <p:cNvPr id="13" name="TextBox 12"/>
          <p:cNvSpPr txBox="1"/>
          <p:nvPr/>
        </p:nvSpPr>
        <p:spPr>
          <a:xfrm>
            <a:off x="3337560" y="2395728"/>
            <a:ext cx="5852160" cy="219456"/>
          </a:xfrm>
          <a:prstGeom prst="rect">
            <a:avLst/>
          </a:prstGeom>
          <a:noFill/>
        </p:spPr>
        <p:txBody>
          <a:bodyPr wrap="none" lIns="36576" rIns="36576" tIns="36576" bIns="36576" anchor="t">
            <a:spAutoFit/>
          </a:bodyPr>
          <a:lstStyle/>
          <a:p>
            <a:pPr algn="l"/>
            <a:r>
              <a:rPr sz="1000" b="0">
                <a:solidFill>
                  <a:srgbClr val="64708A"/>
                </a:solidFill>
                <a:latin typeface="Aptos"/>
              </a:rPr>
              <a:t>Bài học · bài tập · lịch · đăng ký</a:t>
            </a:r>
          </a:p>
        </p:txBody>
      </p:sp>
      <p:sp>
        <p:nvSpPr>
          <p:cNvPr id="14" name="Rounded Rectangle 13"/>
          <p:cNvSpPr/>
          <p:nvPr/>
        </p:nvSpPr>
        <p:spPr>
          <a:xfrm>
            <a:off x="9710928" y="2368296"/>
            <a:ext cx="146304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0" y="2418588"/>
            <a:ext cx="1316736" cy="201168"/>
          </a:xfrm>
          <a:prstGeom prst="rect">
            <a:avLst/>
          </a:prstGeom>
          <a:noFill/>
        </p:spPr>
        <p:txBody>
          <a:bodyPr wrap="none" lIns="36576" rIns="36576" tIns="36576" bIns="36576" anchor="t">
            <a:spAutoFit/>
          </a:bodyPr>
          <a:lstStyle/>
          <a:p>
            <a:pPr algn="ctr"/>
            <a:r>
              <a:rPr sz="900" b="1">
                <a:solidFill>
                  <a:srgbClr val="1F9D73"/>
                </a:solidFill>
                <a:latin typeface="Aptos"/>
              </a:rPr>
              <a:t>Đạt</a:t>
            </a:r>
          </a:p>
        </p:txBody>
      </p:sp>
      <p:sp>
        <p:nvSpPr>
          <p:cNvPr id="16" name="Rounded Rectangle 15"/>
          <p:cNvSpPr/>
          <p:nvPr/>
        </p:nvSpPr>
        <p:spPr>
          <a:xfrm>
            <a:off x="594360" y="2953512"/>
            <a:ext cx="10972800" cy="566928"/>
          </a:xfrm>
          <a:prstGeom prst="roundRect">
            <a:avLst/>
          </a:prstGeom>
          <a:solidFill>
            <a:srgbClr val="FFFFFF"/>
          </a:solidFill>
          <a:ln>
            <a:solidFill>
              <a:srgbClr val="E2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108960"/>
            <a:ext cx="2331720" cy="219456"/>
          </a:xfrm>
          <a:prstGeom prst="rect">
            <a:avLst/>
          </a:prstGeom>
          <a:noFill/>
        </p:spPr>
        <p:txBody>
          <a:bodyPr wrap="none" lIns="36576" rIns="36576" tIns="36576" bIns="36576" anchor="t">
            <a:spAutoFit/>
          </a:bodyPr>
          <a:lstStyle/>
          <a:p>
            <a:pPr algn="l"/>
            <a:r>
              <a:rPr sz="1100" b="1">
                <a:solidFill>
                  <a:srgbClr val="14254A"/>
                </a:solidFill>
                <a:latin typeface="Aptos"/>
              </a:rPr>
              <a:t>LCMS / học liệu</a:t>
            </a:r>
          </a:p>
        </p:txBody>
      </p:sp>
      <p:sp>
        <p:nvSpPr>
          <p:cNvPr id="18" name="TextBox 17"/>
          <p:cNvSpPr txBox="1"/>
          <p:nvPr/>
        </p:nvSpPr>
        <p:spPr>
          <a:xfrm>
            <a:off x="3337560" y="3108960"/>
            <a:ext cx="5852160" cy="219456"/>
          </a:xfrm>
          <a:prstGeom prst="rect">
            <a:avLst/>
          </a:prstGeom>
          <a:noFill/>
        </p:spPr>
        <p:txBody>
          <a:bodyPr wrap="none" lIns="36576" rIns="36576" tIns="36576" bIns="36576" anchor="t">
            <a:spAutoFit/>
          </a:bodyPr>
          <a:lstStyle/>
          <a:p>
            <a:pPr algn="l"/>
            <a:r>
              <a:rPr sz="1000" b="0">
                <a:solidFill>
                  <a:srgbClr val="64708A"/>
                </a:solidFill>
                <a:latin typeface="Aptos"/>
              </a:rPr>
              <a:t>Dùng chung · version · license · review</a:t>
            </a:r>
          </a:p>
        </p:txBody>
      </p:sp>
      <p:sp>
        <p:nvSpPr>
          <p:cNvPr id="19" name="Rounded Rectangle 18"/>
          <p:cNvSpPr/>
          <p:nvPr/>
        </p:nvSpPr>
        <p:spPr>
          <a:xfrm>
            <a:off x="9710928" y="3081528"/>
            <a:ext cx="146304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3131820"/>
            <a:ext cx="1316736" cy="201168"/>
          </a:xfrm>
          <a:prstGeom prst="rect">
            <a:avLst/>
          </a:prstGeom>
          <a:noFill/>
        </p:spPr>
        <p:txBody>
          <a:bodyPr wrap="none" lIns="36576" rIns="36576" tIns="36576" bIns="36576" anchor="t">
            <a:spAutoFit/>
          </a:bodyPr>
          <a:lstStyle/>
          <a:p>
            <a:pPr algn="ctr"/>
            <a:r>
              <a:rPr sz="900" b="1">
                <a:solidFill>
                  <a:srgbClr val="1F9D73"/>
                </a:solidFill>
                <a:latin typeface="Aptos"/>
              </a:rPr>
              <a:t>Đạt</a:t>
            </a:r>
          </a:p>
        </p:txBody>
      </p:sp>
      <p:sp>
        <p:nvSpPr>
          <p:cNvPr id="21" name="Rounded Rectangle 20"/>
          <p:cNvSpPr/>
          <p:nvPr/>
        </p:nvSpPr>
        <p:spPr>
          <a:xfrm>
            <a:off x="594360" y="3666744"/>
            <a:ext cx="10972800" cy="566928"/>
          </a:xfrm>
          <a:prstGeom prst="roundRect">
            <a:avLst/>
          </a:prstGeom>
          <a:solidFill>
            <a:srgbClr val="FFFFFF"/>
          </a:solidFill>
          <a:ln>
            <a:solidFill>
              <a:srgbClr val="E2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822191"/>
            <a:ext cx="2331720" cy="219456"/>
          </a:xfrm>
          <a:prstGeom prst="rect">
            <a:avLst/>
          </a:prstGeom>
          <a:noFill/>
        </p:spPr>
        <p:txBody>
          <a:bodyPr wrap="none" lIns="36576" rIns="36576" tIns="36576" bIns="36576" anchor="t">
            <a:spAutoFit/>
          </a:bodyPr>
          <a:lstStyle/>
          <a:p>
            <a:pPr algn="l"/>
            <a:r>
              <a:rPr sz="1100" b="1">
                <a:solidFill>
                  <a:srgbClr val="14254A"/>
                </a:solidFill>
                <a:latin typeface="Aptos"/>
              </a:rPr>
              <a:t>Câu hỏi / đánh giá</a:t>
            </a:r>
          </a:p>
        </p:txBody>
      </p:sp>
      <p:sp>
        <p:nvSpPr>
          <p:cNvPr id="23" name="TextBox 22"/>
          <p:cNvSpPr txBox="1"/>
          <p:nvPr/>
        </p:nvSpPr>
        <p:spPr>
          <a:xfrm>
            <a:off x="3337560" y="3822191"/>
            <a:ext cx="5852160" cy="219456"/>
          </a:xfrm>
          <a:prstGeom prst="rect">
            <a:avLst/>
          </a:prstGeom>
          <a:noFill/>
        </p:spPr>
        <p:txBody>
          <a:bodyPr wrap="none" lIns="36576" rIns="36576" tIns="36576" bIns="36576" anchor="t">
            <a:spAutoFit/>
          </a:bodyPr>
          <a:lstStyle/>
          <a:p>
            <a:pPr algn="l"/>
            <a:r>
              <a:rPr sz="1000" b="0">
                <a:solidFill>
                  <a:srgbClr val="64708A"/>
                </a:solidFill>
                <a:latin typeface="Aptos"/>
              </a:rPr>
              <a:t>Question bank · quiz · AI Draft</a:t>
            </a:r>
          </a:p>
        </p:txBody>
      </p:sp>
      <p:sp>
        <p:nvSpPr>
          <p:cNvPr id="24" name="Rounded Rectangle 23"/>
          <p:cNvSpPr/>
          <p:nvPr/>
        </p:nvSpPr>
        <p:spPr>
          <a:xfrm>
            <a:off x="9710928" y="3794759"/>
            <a:ext cx="146304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3845051"/>
            <a:ext cx="1316736" cy="201168"/>
          </a:xfrm>
          <a:prstGeom prst="rect">
            <a:avLst/>
          </a:prstGeom>
          <a:noFill/>
        </p:spPr>
        <p:txBody>
          <a:bodyPr wrap="none" lIns="36576" rIns="36576" tIns="36576" bIns="36576" anchor="t">
            <a:spAutoFit/>
          </a:bodyPr>
          <a:lstStyle/>
          <a:p>
            <a:pPr algn="ctr"/>
            <a:r>
              <a:rPr sz="900" b="1">
                <a:solidFill>
                  <a:srgbClr val="1F9D73"/>
                </a:solidFill>
                <a:latin typeface="Aptos"/>
              </a:rPr>
              <a:t>Đạt</a:t>
            </a:r>
          </a:p>
        </p:txBody>
      </p:sp>
      <p:sp>
        <p:nvSpPr>
          <p:cNvPr id="26" name="Rounded Rectangle 25"/>
          <p:cNvSpPr/>
          <p:nvPr/>
        </p:nvSpPr>
        <p:spPr>
          <a:xfrm>
            <a:off x="594360" y="4379976"/>
            <a:ext cx="10972800" cy="566928"/>
          </a:xfrm>
          <a:prstGeom prst="roundRect">
            <a:avLst/>
          </a:prstGeom>
          <a:solidFill>
            <a:srgbClr val="FFFFFF"/>
          </a:solidFill>
          <a:ln>
            <a:solidFill>
              <a:srgbClr val="E2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535424"/>
            <a:ext cx="2331720" cy="219456"/>
          </a:xfrm>
          <a:prstGeom prst="rect">
            <a:avLst/>
          </a:prstGeom>
          <a:noFill/>
        </p:spPr>
        <p:txBody>
          <a:bodyPr wrap="none" lIns="36576" rIns="36576" tIns="36576" bIns="36576" anchor="t">
            <a:spAutoFit/>
          </a:bodyPr>
          <a:lstStyle/>
          <a:p>
            <a:pPr algn="l"/>
            <a:r>
              <a:rPr sz="1100" b="1">
                <a:solidFill>
                  <a:srgbClr val="14254A"/>
                </a:solidFill>
                <a:latin typeface="Aptos"/>
              </a:rPr>
              <a:t>Hỗ trợ người học</a:t>
            </a:r>
          </a:p>
        </p:txBody>
      </p:sp>
      <p:sp>
        <p:nvSpPr>
          <p:cNvPr id="28" name="TextBox 27"/>
          <p:cNvSpPr txBox="1"/>
          <p:nvPr/>
        </p:nvSpPr>
        <p:spPr>
          <a:xfrm>
            <a:off x="3337560" y="4535424"/>
            <a:ext cx="5852160" cy="219456"/>
          </a:xfrm>
          <a:prstGeom prst="rect">
            <a:avLst/>
          </a:prstGeom>
          <a:noFill/>
        </p:spPr>
        <p:txBody>
          <a:bodyPr wrap="none" lIns="36576" rIns="36576" tIns="36576" bIns="36576" anchor="t">
            <a:spAutoFit/>
          </a:bodyPr>
          <a:lstStyle/>
          <a:p>
            <a:pPr algn="l"/>
            <a:r>
              <a:rPr sz="1000" b="0">
                <a:solidFill>
                  <a:srgbClr val="64708A"/>
                </a:solidFill>
                <a:latin typeface="Aptos"/>
              </a:rPr>
              <a:t>Ticket · thông báo · báo cáo</a:t>
            </a:r>
          </a:p>
        </p:txBody>
      </p:sp>
      <p:sp>
        <p:nvSpPr>
          <p:cNvPr id="29" name="Rounded Rectangle 28"/>
          <p:cNvSpPr/>
          <p:nvPr/>
        </p:nvSpPr>
        <p:spPr>
          <a:xfrm>
            <a:off x="9710928" y="4507992"/>
            <a:ext cx="146304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0" y="4558283"/>
            <a:ext cx="1316736" cy="201168"/>
          </a:xfrm>
          <a:prstGeom prst="rect">
            <a:avLst/>
          </a:prstGeom>
          <a:noFill/>
        </p:spPr>
        <p:txBody>
          <a:bodyPr wrap="none" lIns="36576" rIns="36576" tIns="36576" bIns="36576" anchor="t">
            <a:spAutoFit/>
          </a:bodyPr>
          <a:lstStyle/>
          <a:p>
            <a:pPr algn="ctr"/>
            <a:r>
              <a:rPr sz="900" b="1">
                <a:solidFill>
                  <a:srgbClr val="1F9D73"/>
                </a:solidFill>
                <a:latin typeface="Aptos"/>
              </a:rPr>
              <a:t>Đạt</a:t>
            </a:r>
          </a:p>
        </p:txBody>
      </p:sp>
      <p:sp>
        <p:nvSpPr>
          <p:cNvPr id="31" name="Rounded Rectangle 30"/>
          <p:cNvSpPr/>
          <p:nvPr/>
        </p:nvSpPr>
        <p:spPr>
          <a:xfrm>
            <a:off x="594360" y="5093208"/>
            <a:ext cx="10972800" cy="566928"/>
          </a:xfrm>
          <a:prstGeom prst="roundRect">
            <a:avLst/>
          </a:prstGeom>
          <a:solidFill>
            <a:srgbClr val="FFFFFF"/>
          </a:solidFill>
          <a:ln>
            <a:solidFill>
              <a:srgbClr val="E2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48656"/>
            <a:ext cx="2331720" cy="219456"/>
          </a:xfrm>
          <a:prstGeom prst="rect">
            <a:avLst/>
          </a:prstGeom>
          <a:noFill/>
        </p:spPr>
        <p:txBody>
          <a:bodyPr wrap="none" lIns="36576" rIns="36576" tIns="36576" bIns="36576" anchor="t">
            <a:spAutoFit/>
          </a:bodyPr>
          <a:lstStyle/>
          <a:p>
            <a:pPr algn="l"/>
            <a:r>
              <a:rPr sz="1100" b="1">
                <a:solidFill>
                  <a:srgbClr val="14254A"/>
                </a:solidFill>
                <a:latin typeface="Aptos"/>
              </a:rPr>
              <a:t>Chatbot sinh viên</a:t>
            </a:r>
          </a:p>
        </p:txBody>
      </p:sp>
      <p:sp>
        <p:nvSpPr>
          <p:cNvPr id="33" name="TextBox 32"/>
          <p:cNvSpPr txBox="1"/>
          <p:nvPr/>
        </p:nvSpPr>
        <p:spPr>
          <a:xfrm>
            <a:off x="3337560" y="5248656"/>
            <a:ext cx="5852160" cy="219456"/>
          </a:xfrm>
          <a:prstGeom prst="rect">
            <a:avLst/>
          </a:prstGeom>
          <a:noFill/>
        </p:spPr>
        <p:txBody>
          <a:bodyPr wrap="none" lIns="36576" rIns="36576" tIns="36576" bIns="36576" anchor="t">
            <a:spAutoFit/>
          </a:bodyPr>
          <a:lstStyle/>
          <a:p>
            <a:pPr algn="l"/>
            <a:r>
              <a:rPr sz="1000" b="0">
                <a:solidFill>
                  <a:srgbClr val="64708A"/>
                </a:solidFill>
                <a:latin typeface="Aptos"/>
              </a:rPr>
              <a:t>Được xác định là hướng phát triển</a:t>
            </a:r>
          </a:p>
        </p:txBody>
      </p:sp>
      <p:sp>
        <p:nvSpPr>
          <p:cNvPr id="34" name="Rounded Rectangle 33"/>
          <p:cNvSpPr/>
          <p:nvPr/>
        </p:nvSpPr>
        <p:spPr>
          <a:xfrm>
            <a:off x="9710928" y="5221224"/>
            <a:ext cx="1463040" cy="310896"/>
          </a:xfrm>
          <a:prstGeom prst="roundRect">
            <a:avLst/>
          </a:prstGeom>
          <a:solidFill>
            <a:srgbClr val="FFF4DC"/>
          </a:solidFill>
          <a:ln>
            <a:solidFill>
              <a:srgbClr val="FFF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0" y="5271516"/>
            <a:ext cx="1316736" cy="201168"/>
          </a:xfrm>
          <a:prstGeom prst="rect">
            <a:avLst/>
          </a:prstGeom>
          <a:noFill/>
        </p:spPr>
        <p:txBody>
          <a:bodyPr wrap="none" lIns="36576" rIns="36576" tIns="36576" bIns="36576" anchor="t">
            <a:spAutoFit/>
          </a:bodyPr>
          <a:lstStyle/>
          <a:p>
            <a:pPr algn="ctr"/>
            <a:r>
              <a:rPr sz="900" b="1">
                <a:solidFill>
                  <a:srgbClr val="F5B942"/>
                </a:solidFill>
                <a:latin typeface="Aptos"/>
              </a:rPr>
              <a:t>Không thuộc scope</a:t>
            </a:r>
          </a:p>
        </p:txBody>
      </p:sp>
      <p:cxnSp>
        <p:nvCxnSpPr>
          <p:cNvPr id="36" name="Connector 35"/>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54A"/>
        </a:solidFill>
        <a:effectLst/>
      </p:bgPr>
    </p:bg>
    <p:spTree>
      <p:nvGrpSpPr>
        <p:cNvPr id="1" name=""/>
        <p:cNvGrpSpPr/>
        <p:nvPr/>
      </p:nvGrpSpPr>
      <p:grpSpPr/>
      <p:sp>
        <p:nvSpPr>
          <p:cNvPr id="2" name="Rounded Rectangle 1"/>
          <p:cNvSpPr/>
          <p:nvPr/>
        </p:nvSpPr>
        <p:spPr>
          <a:xfrm>
            <a:off x="658368" y="658368"/>
            <a:ext cx="1005840" cy="310896"/>
          </a:xfrm>
          <a:prstGeom prst="roundRect">
            <a:avLst/>
          </a:prstGeom>
          <a:solidFill>
            <a:srgbClr val="263B68"/>
          </a:solidFill>
          <a:ln>
            <a:solidFill>
              <a:srgbClr val="263B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19" y="708660"/>
            <a:ext cx="859536" cy="201168"/>
          </a:xfrm>
          <a:prstGeom prst="rect">
            <a:avLst/>
          </a:prstGeom>
          <a:noFill/>
        </p:spPr>
        <p:txBody>
          <a:bodyPr wrap="none" lIns="36576" rIns="36576" tIns="36576" bIns="36576" anchor="t">
            <a:spAutoFit/>
          </a:bodyPr>
          <a:lstStyle/>
          <a:p>
            <a:pPr algn="ctr"/>
            <a:r>
              <a:rPr sz="900" b="1">
                <a:solidFill>
                  <a:srgbClr val="3EC6E0"/>
                </a:solidFill>
                <a:latin typeface="Aptos"/>
              </a:rPr>
              <a:t>PHẦN II</a:t>
            </a:r>
          </a:p>
        </p:txBody>
      </p:sp>
      <p:sp>
        <p:nvSpPr>
          <p:cNvPr id="4" name="TextBox 3"/>
          <p:cNvSpPr txBox="1"/>
          <p:nvPr/>
        </p:nvSpPr>
        <p:spPr>
          <a:xfrm>
            <a:off x="658368" y="1417320"/>
            <a:ext cx="6583680" cy="621792"/>
          </a:xfrm>
          <a:prstGeom prst="rect">
            <a:avLst/>
          </a:prstGeom>
          <a:noFill/>
        </p:spPr>
        <p:txBody>
          <a:bodyPr wrap="none" lIns="36576" rIns="36576" tIns="36576" bIns="36576" anchor="t">
            <a:spAutoFit/>
          </a:bodyPr>
          <a:lstStyle/>
          <a:p>
            <a:pPr algn="l"/>
            <a:r>
              <a:rPr sz="3400" b="1">
                <a:solidFill>
                  <a:srgbClr val="FFFFFF"/>
                </a:solidFill>
                <a:latin typeface="Aptos"/>
              </a:rPr>
              <a:t>Mục tiêu bảo mật</a:t>
            </a:r>
          </a:p>
        </p:txBody>
      </p:sp>
      <p:sp>
        <p:nvSpPr>
          <p:cNvPr id="5" name="TextBox 4"/>
          <p:cNvSpPr txBox="1"/>
          <p:nvPr/>
        </p:nvSpPr>
        <p:spPr>
          <a:xfrm>
            <a:off x="685800" y="2331720"/>
            <a:ext cx="6583680" cy="914400"/>
          </a:xfrm>
          <a:prstGeom prst="rect">
            <a:avLst/>
          </a:prstGeom>
          <a:noFill/>
        </p:spPr>
        <p:txBody>
          <a:bodyPr wrap="none" lIns="36576" rIns="36576" tIns="36576" bIns="36576" anchor="t">
            <a:spAutoFit/>
          </a:bodyPr>
          <a:lstStyle/>
          <a:p>
            <a:pPr algn="l"/>
            <a:r>
              <a:rPr sz="2300" b="0">
                <a:solidFill>
                  <a:srgbClr val="C8D5F7"/>
                </a:solidFill>
                <a:latin typeface="Aptos"/>
              </a:rPr>
              <a:t>30 tiêu chí được nhóm thành 8 lớp kiểm soát
và đối chiếu bằng code + test.</a:t>
            </a:r>
          </a:p>
        </p:txBody>
      </p:sp>
      <p:sp>
        <p:nvSpPr>
          <p:cNvPr id="6" name="Rounded Rectangle 5"/>
          <p:cNvSpPr/>
          <p:nvPr/>
        </p:nvSpPr>
        <p:spPr>
          <a:xfrm>
            <a:off x="7406640" y="1051560"/>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52944" y="1252728"/>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Database &amp; least privilege</a:t>
            </a:r>
          </a:p>
        </p:txBody>
      </p:sp>
      <p:sp>
        <p:nvSpPr>
          <p:cNvPr id="8" name="Rounded Rectangle 7"/>
          <p:cNvSpPr/>
          <p:nvPr/>
        </p:nvSpPr>
        <p:spPr>
          <a:xfrm>
            <a:off x="9555480" y="1051560"/>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01784" y="1252728"/>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Authentication &amp; authorization</a:t>
            </a:r>
          </a:p>
        </p:txBody>
      </p:sp>
      <p:sp>
        <p:nvSpPr>
          <p:cNvPr id="10" name="Rounded Rectangle 9"/>
          <p:cNvSpPr/>
          <p:nvPr/>
        </p:nvSpPr>
        <p:spPr>
          <a:xfrm>
            <a:off x="7406640" y="2221991"/>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52944" y="2423160"/>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Web/API security</a:t>
            </a:r>
          </a:p>
        </p:txBody>
      </p:sp>
      <p:sp>
        <p:nvSpPr>
          <p:cNvPr id="12" name="Rounded Rectangle 11"/>
          <p:cNvSpPr/>
          <p:nvPr/>
        </p:nvSpPr>
        <p:spPr>
          <a:xfrm>
            <a:off x="9555480" y="2221991"/>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01784" y="2423160"/>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Password &amp; OTP</a:t>
            </a:r>
          </a:p>
        </p:txBody>
      </p:sp>
      <p:sp>
        <p:nvSpPr>
          <p:cNvPr id="14" name="Rounded Rectangle 13"/>
          <p:cNvSpPr/>
          <p:nvPr/>
        </p:nvSpPr>
        <p:spPr>
          <a:xfrm>
            <a:off x="7406640" y="3392424"/>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52944" y="3593592"/>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Personal data &amp; IDOR</a:t>
            </a:r>
          </a:p>
        </p:txBody>
      </p:sp>
      <p:sp>
        <p:nvSpPr>
          <p:cNvPr id="16" name="Rounded Rectangle 15"/>
          <p:cNvSpPr/>
          <p:nvPr/>
        </p:nvSpPr>
        <p:spPr>
          <a:xfrm>
            <a:off x="9555480" y="3392424"/>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01784" y="3593592"/>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Upload &amp; GridFS</a:t>
            </a:r>
          </a:p>
        </p:txBody>
      </p:sp>
      <p:sp>
        <p:nvSpPr>
          <p:cNvPr id="18" name="Rounded Rectangle 17"/>
          <p:cNvSpPr/>
          <p:nvPr/>
        </p:nvSpPr>
        <p:spPr>
          <a:xfrm>
            <a:off x="7406640" y="4562856"/>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52944" y="4764024"/>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Audit &amp; error handling</a:t>
            </a:r>
          </a:p>
        </p:txBody>
      </p:sp>
      <p:sp>
        <p:nvSpPr>
          <p:cNvPr id="20" name="Rounded Rectangle 19"/>
          <p:cNvSpPr/>
          <p:nvPr/>
        </p:nvSpPr>
        <p:spPr>
          <a:xfrm>
            <a:off x="9555480" y="4562856"/>
            <a:ext cx="1874519" cy="822960"/>
          </a:xfrm>
          <a:prstGeom prst="roundRect">
            <a:avLst/>
          </a:prstGeom>
          <a:solidFill>
            <a:srgbClr val="1D3974"/>
          </a:solidFill>
          <a:ln>
            <a:solidFill>
              <a:srgbClr val="3352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01784" y="4764024"/>
            <a:ext cx="1572768" cy="438912"/>
          </a:xfrm>
          <a:prstGeom prst="rect">
            <a:avLst/>
          </a:prstGeom>
          <a:noFill/>
        </p:spPr>
        <p:txBody>
          <a:bodyPr wrap="none" lIns="36576" rIns="36576" tIns="36576" bIns="36576" anchor="t">
            <a:spAutoFit/>
          </a:bodyPr>
          <a:lstStyle/>
          <a:p>
            <a:pPr algn="ctr"/>
            <a:r>
              <a:rPr sz="1000" b="1">
                <a:solidFill>
                  <a:srgbClr val="FFFFFF"/>
                </a:solidFill>
                <a:latin typeface="Aptos"/>
              </a:rPr>
              <a:t>Availability &amp; dependency</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15 · BẢO MẬT</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Defense in depth</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Không một lớp đơn lẻ quyết định an toàn của hệ thống.</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17</a:t>
            </a:r>
          </a:p>
        </p:txBody>
      </p:sp>
      <p:sp>
        <p:nvSpPr>
          <p:cNvPr id="6" name="Rounded Rectangle 5"/>
          <p:cNvSpPr/>
          <p:nvPr/>
        </p:nvSpPr>
        <p:spPr>
          <a:xfrm>
            <a:off x="640080" y="1572768"/>
            <a:ext cx="5166360" cy="1005840"/>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865376"/>
            <a:ext cx="457200" cy="228600"/>
          </a:xfrm>
          <a:prstGeom prst="rect">
            <a:avLst/>
          </a:prstGeom>
          <a:noFill/>
        </p:spPr>
        <p:txBody>
          <a:bodyPr wrap="none" lIns="36576" rIns="36576" tIns="36576" bIns="36576" anchor="t">
            <a:spAutoFit/>
          </a:bodyPr>
          <a:lstStyle/>
          <a:p>
            <a:pPr algn="l"/>
            <a:r>
              <a:rPr sz="1100" b="1">
                <a:solidFill>
                  <a:srgbClr val="FFFFFF"/>
                </a:solidFill>
                <a:latin typeface="Aptos"/>
              </a:rPr>
              <a:t>01</a:t>
            </a:r>
          </a:p>
        </p:txBody>
      </p:sp>
      <p:sp>
        <p:nvSpPr>
          <p:cNvPr id="8" name="TextBox 7"/>
          <p:cNvSpPr txBox="1"/>
          <p:nvPr/>
        </p:nvSpPr>
        <p:spPr>
          <a:xfrm>
            <a:off x="1463040" y="1755648"/>
            <a:ext cx="1600200" cy="256032"/>
          </a:xfrm>
          <a:prstGeom prst="rect">
            <a:avLst/>
          </a:prstGeom>
          <a:noFill/>
        </p:spPr>
        <p:txBody>
          <a:bodyPr wrap="none" lIns="36576" rIns="36576" tIns="36576" bIns="36576" anchor="t">
            <a:spAutoFit/>
          </a:bodyPr>
          <a:lstStyle/>
          <a:p>
            <a:pPr algn="l"/>
            <a:r>
              <a:rPr sz="1100" b="1">
                <a:solidFill>
                  <a:srgbClr val="FFFFFF"/>
                </a:solidFill>
                <a:latin typeface="Aptos"/>
              </a:rPr>
              <a:t>SESSION</a:t>
            </a:r>
          </a:p>
        </p:txBody>
      </p:sp>
      <p:sp>
        <p:nvSpPr>
          <p:cNvPr id="9" name="TextBox 8"/>
          <p:cNvSpPr txBox="1"/>
          <p:nvPr/>
        </p:nvSpPr>
        <p:spPr>
          <a:xfrm>
            <a:off x="3154680" y="1773936"/>
            <a:ext cx="2331720" cy="457200"/>
          </a:xfrm>
          <a:prstGeom prst="rect">
            <a:avLst/>
          </a:prstGeom>
          <a:noFill/>
        </p:spPr>
        <p:txBody>
          <a:bodyPr wrap="none" lIns="36576" rIns="36576" tIns="36576" bIns="36576" anchor="t">
            <a:spAutoFit/>
          </a:bodyPr>
          <a:lstStyle/>
          <a:p>
            <a:pPr algn="l"/>
            <a:r>
              <a:rPr sz="1000" b="0">
                <a:solidFill>
                  <a:srgbClr val="FFFFFF"/>
                </a:solidFill>
                <a:latin typeface="Aptos"/>
              </a:rPr>
              <a:t>Cookie HttpOnly · Secure · SameSite</a:t>
            </a:r>
          </a:p>
        </p:txBody>
      </p:sp>
      <p:sp>
        <p:nvSpPr>
          <p:cNvPr id="10" name="Rounded Rectangle 9"/>
          <p:cNvSpPr/>
          <p:nvPr/>
        </p:nvSpPr>
        <p:spPr>
          <a:xfrm>
            <a:off x="6172200" y="1572768"/>
            <a:ext cx="5166360" cy="1005840"/>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1865376"/>
            <a:ext cx="457200" cy="228600"/>
          </a:xfrm>
          <a:prstGeom prst="rect">
            <a:avLst/>
          </a:prstGeom>
          <a:noFill/>
        </p:spPr>
        <p:txBody>
          <a:bodyPr wrap="none" lIns="36576" rIns="36576" tIns="36576" bIns="36576" anchor="t">
            <a:spAutoFit/>
          </a:bodyPr>
          <a:lstStyle/>
          <a:p>
            <a:pPr algn="l"/>
            <a:r>
              <a:rPr sz="1100" b="1">
                <a:solidFill>
                  <a:srgbClr val="FFFFFF"/>
                </a:solidFill>
                <a:latin typeface="Aptos"/>
              </a:rPr>
              <a:t>02</a:t>
            </a:r>
          </a:p>
        </p:txBody>
      </p:sp>
      <p:sp>
        <p:nvSpPr>
          <p:cNvPr id="12" name="TextBox 11"/>
          <p:cNvSpPr txBox="1"/>
          <p:nvPr/>
        </p:nvSpPr>
        <p:spPr>
          <a:xfrm>
            <a:off x="6995160" y="1755648"/>
            <a:ext cx="1600200" cy="256032"/>
          </a:xfrm>
          <a:prstGeom prst="rect">
            <a:avLst/>
          </a:prstGeom>
          <a:noFill/>
        </p:spPr>
        <p:txBody>
          <a:bodyPr wrap="none" lIns="36576" rIns="36576" tIns="36576" bIns="36576" anchor="t">
            <a:spAutoFit/>
          </a:bodyPr>
          <a:lstStyle/>
          <a:p>
            <a:pPr algn="l"/>
            <a:r>
              <a:rPr sz="1100" b="1">
                <a:solidFill>
                  <a:srgbClr val="FFFFFF"/>
                </a:solidFill>
                <a:latin typeface="Aptos"/>
              </a:rPr>
              <a:t>REQUEST</a:t>
            </a:r>
          </a:p>
        </p:txBody>
      </p:sp>
      <p:sp>
        <p:nvSpPr>
          <p:cNvPr id="13" name="TextBox 12"/>
          <p:cNvSpPr txBox="1"/>
          <p:nvPr/>
        </p:nvSpPr>
        <p:spPr>
          <a:xfrm>
            <a:off x="8686800" y="1773936"/>
            <a:ext cx="2331720" cy="457200"/>
          </a:xfrm>
          <a:prstGeom prst="rect">
            <a:avLst/>
          </a:prstGeom>
          <a:noFill/>
        </p:spPr>
        <p:txBody>
          <a:bodyPr wrap="none" lIns="36576" rIns="36576" tIns="36576" bIns="36576" anchor="t">
            <a:spAutoFit/>
          </a:bodyPr>
          <a:lstStyle/>
          <a:p>
            <a:pPr algn="l"/>
            <a:r>
              <a:rPr sz="1000" b="0">
                <a:solidFill>
                  <a:srgbClr val="FFFFFF"/>
                </a:solidFill>
                <a:latin typeface="Aptos"/>
              </a:rPr>
              <a:t>CSRF · validation · rate limit</a:t>
            </a:r>
          </a:p>
        </p:txBody>
      </p:sp>
      <p:sp>
        <p:nvSpPr>
          <p:cNvPr id="14" name="Rounded Rectangle 13"/>
          <p:cNvSpPr/>
          <p:nvPr/>
        </p:nvSpPr>
        <p:spPr>
          <a:xfrm>
            <a:off x="640080" y="2898648"/>
            <a:ext cx="5166360" cy="1005840"/>
          </a:xfrm>
          <a:prstGeom prst="round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3191256"/>
            <a:ext cx="457200" cy="228600"/>
          </a:xfrm>
          <a:prstGeom prst="rect">
            <a:avLst/>
          </a:prstGeom>
          <a:noFill/>
        </p:spPr>
        <p:txBody>
          <a:bodyPr wrap="none" lIns="36576" rIns="36576" tIns="36576" bIns="36576" anchor="t">
            <a:spAutoFit/>
          </a:bodyPr>
          <a:lstStyle/>
          <a:p>
            <a:pPr algn="l"/>
            <a:r>
              <a:rPr sz="1100" b="1">
                <a:solidFill>
                  <a:srgbClr val="FFFFFF"/>
                </a:solidFill>
                <a:latin typeface="Aptos"/>
              </a:rPr>
              <a:t>03</a:t>
            </a:r>
          </a:p>
        </p:txBody>
      </p:sp>
      <p:sp>
        <p:nvSpPr>
          <p:cNvPr id="16" name="TextBox 15"/>
          <p:cNvSpPr txBox="1"/>
          <p:nvPr/>
        </p:nvSpPr>
        <p:spPr>
          <a:xfrm>
            <a:off x="1463040" y="3081528"/>
            <a:ext cx="1600200" cy="256032"/>
          </a:xfrm>
          <a:prstGeom prst="rect">
            <a:avLst/>
          </a:prstGeom>
          <a:noFill/>
        </p:spPr>
        <p:txBody>
          <a:bodyPr wrap="none" lIns="36576" rIns="36576" tIns="36576" bIns="36576" anchor="t">
            <a:spAutoFit/>
          </a:bodyPr>
          <a:lstStyle/>
          <a:p>
            <a:pPr algn="l"/>
            <a:r>
              <a:rPr sz="1100" b="1">
                <a:solidFill>
                  <a:srgbClr val="FFFFFF"/>
                </a:solidFill>
                <a:latin typeface="Aptos"/>
              </a:rPr>
              <a:t>AUTHORIZATION</a:t>
            </a:r>
          </a:p>
        </p:txBody>
      </p:sp>
      <p:sp>
        <p:nvSpPr>
          <p:cNvPr id="17" name="TextBox 16"/>
          <p:cNvSpPr txBox="1"/>
          <p:nvPr/>
        </p:nvSpPr>
        <p:spPr>
          <a:xfrm>
            <a:off x="3154680" y="3099816"/>
            <a:ext cx="2331720" cy="457200"/>
          </a:xfrm>
          <a:prstGeom prst="rect">
            <a:avLst/>
          </a:prstGeom>
          <a:noFill/>
        </p:spPr>
        <p:txBody>
          <a:bodyPr wrap="none" lIns="36576" rIns="36576" tIns="36576" bIns="36576" anchor="t">
            <a:spAutoFit/>
          </a:bodyPr>
          <a:lstStyle/>
          <a:p>
            <a:pPr algn="l"/>
            <a:r>
              <a:rPr sz="1000" b="0">
                <a:solidFill>
                  <a:srgbClr val="FFFFFF"/>
                </a:solidFill>
                <a:latin typeface="Aptos"/>
              </a:rPr>
              <a:t>Role · permission · scope</a:t>
            </a:r>
          </a:p>
        </p:txBody>
      </p:sp>
      <p:sp>
        <p:nvSpPr>
          <p:cNvPr id="18" name="Rounded Rectangle 17"/>
          <p:cNvSpPr/>
          <p:nvPr/>
        </p:nvSpPr>
        <p:spPr>
          <a:xfrm>
            <a:off x="6172200" y="2898648"/>
            <a:ext cx="5166360" cy="1005840"/>
          </a:xfrm>
          <a:prstGeom prst="round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3191256"/>
            <a:ext cx="457200" cy="228600"/>
          </a:xfrm>
          <a:prstGeom prst="rect">
            <a:avLst/>
          </a:prstGeom>
          <a:noFill/>
        </p:spPr>
        <p:txBody>
          <a:bodyPr wrap="none" lIns="36576" rIns="36576" tIns="36576" bIns="36576" anchor="t">
            <a:spAutoFit/>
          </a:bodyPr>
          <a:lstStyle/>
          <a:p>
            <a:pPr algn="l"/>
            <a:r>
              <a:rPr sz="1100" b="1">
                <a:solidFill>
                  <a:srgbClr val="FFFFFF"/>
                </a:solidFill>
                <a:latin typeface="Aptos"/>
              </a:rPr>
              <a:t>04</a:t>
            </a:r>
          </a:p>
        </p:txBody>
      </p:sp>
      <p:sp>
        <p:nvSpPr>
          <p:cNvPr id="20" name="TextBox 19"/>
          <p:cNvSpPr txBox="1"/>
          <p:nvPr/>
        </p:nvSpPr>
        <p:spPr>
          <a:xfrm>
            <a:off x="6995160" y="3081528"/>
            <a:ext cx="1600200" cy="256032"/>
          </a:xfrm>
          <a:prstGeom prst="rect">
            <a:avLst/>
          </a:prstGeom>
          <a:noFill/>
        </p:spPr>
        <p:txBody>
          <a:bodyPr wrap="none" lIns="36576" rIns="36576" tIns="36576" bIns="36576" anchor="t">
            <a:spAutoFit/>
          </a:bodyPr>
          <a:lstStyle/>
          <a:p>
            <a:pPr algn="l"/>
            <a:r>
              <a:rPr sz="1100" b="1">
                <a:solidFill>
                  <a:srgbClr val="FFFFFF"/>
                </a:solidFill>
                <a:latin typeface="Aptos"/>
              </a:rPr>
              <a:t>DATA</a:t>
            </a:r>
          </a:p>
        </p:txBody>
      </p:sp>
      <p:sp>
        <p:nvSpPr>
          <p:cNvPr id="21" name="TextBox 20"/>
          <p:cNvSpPr txBox="1"/>
          <p:nvPr/>
        </p:nvSpPr>
        <p:spPr>
          <a:xfrm>
            <a:off x="8686800" y="3099816"/>
            <a:ext cx="2331720" cy="457200"/>
          </a:xfrm>
          <a:prstGeom prst="rect">
            <a:avLst/>
          </a:prstGeom>
          <a:noFill/>
        </p:spPr>
        <p:txBody>
          <a:bodyPr wrap="none" lIns="36576" rIns="36576" tIns="36576" bIns="36576" anchor="t">
            <a:spAutoFit/>
          </a:bodyPr>
          <a:lstStyle/>
          <a:p>
            <a:pPr algn="l"/>
            <a:r>
              <a:rPr sz="1000" b="0">
                <a:solidFill>
                  <a:srgbClr val="FFFFFF"/>
                </a:solidFill>
                <a:latin typeface="Aptos"/>
              </a:rPr>
              <a:t>Typed query · DTO · no-store</a:t>
            </a:r>
          </a:p>
        </p:txBody>
      </p:sp>
      <p:sp>
        <p:nvSpPr>
          <p:cNvPr id="22" name="Rounded Rectangle 21"/>
          <p:cNvSpPr/>
          <p:nvPr/>
        </p:nvSpPr>
        <p:spPr>
          <a:xfrm>
            <a:off x="640080" y="4224528"/>
            <a:ext cx="5166360" cy="1005840"/>
          </a:xfrm>
          <a:prstGeom prst="roundRect">
            <a:avLst/>
          </a:prstGeom>
          <a:solidFill>
            <a:srgbClr val="D84A5B"/>
          </a:solidFill>
          <a:ln>
            <a:solidFill>
              <a:srgbClr val="D84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7" y="4517136"/>
            <a:ext cx="457200" cy="228600"/>
          </a:xfrm>
          <a:prstGeom prst="rect">
            <a:avLst/>
          </a:prstGeom>
          <a:noFill/>
        </p:spPr>
        <p:txBody>
          <a:bodyPr wrap="none" lIns="36576" rIns="36576" tIns="36576" bIns="36576" anchor="t">
            <a:spAutoFit/>
          </a:bodyPr>
          <a:lstStyle/>
          <a:p>
            <a:pPr algn="l"/>
            <a:r>
              <a:rPr sz="1100" b="1">
                <a:solidFill>
                  <a:srgbClr val="FFFFFF"/>
                </a:solidFill>
                <a:latin typeface="Aptos"/>
              </a:rPr>
              <a:t>05</a:t>
            </a:r>
          </a:p>
        </p:txBody>
      </p:sp>
      <p:sp>
        <p:nvSpPr>
          <p:cNvPr id="24" name="TextBox 23"/>
          <p:cNvSpPr txBox="1"/>
          <p:nvPr/>
        </p:nvSpPr>
        <p:spPr>
          <a:xfrm>
            <a:off x="1463040" y="4407408"/>
            <a:ext cx="1600200" cy="256032"/>
          </a:xfrm>
          <a:prstGeom prst="rect">
            <a:avLst/>
          </a:prstGeom>
          <a:noFill/>
        </p:spPr>
        <p:txBody>
          <a:bodyPr wrap="none" lIns="36576" rIns="36576" tIns="36576" bIns="36576" anchor="t">
            <a:spAutoFit/>
          </a:bodyPr>
          <a:lstStyle/>
          <a:p>
            <a:pPr algn="l"/>
            <a:r>
              <a:rPr sz="1100" b="1">
                <a:solidFill>
                  <a:srgbClr val="FFFFFF"/>
                </a:solidFill>
                <a:latin typeface="Aptos"/>
              </a:rPr>
              <a:t>FILE</a:t>
            </a:r>
          </a:p>
        </p:txBody>
      </p:sp>
      <p:sp>
        <p:nvSpPr>
          <p:cNvPr id="25" name="TextBox 24"/>
          <p:cNvSpPr txBox="1"/>
          <p:nvPr/>
        </p:nvSpPr>
        <p:spPr>
          <a:xfrm>
            <a:off x="3154680" y="4425696"/>
            <a:ext cx="2331720" cy="457200"/>
          </a:xfrm>
          <a:prstGeom prst="rect">
            <a:avLst/>
          </a:prstGeom>
          <a:noFill/>
        </p:spPr>
        <p:txBody>
          <a:bodyPr wrap="none" lIns="36576" rIns="36576" tIns="36576" bIns="36576" anchor="t">
            <a:spAutoFit/>
          </a:bodyPr>
          <a:lstStyle/>
          <a:p>
            <a:pPr algn="l"/>
            <a:r>
              <a:rPr sz="1000" b="0">
                <a:solidFill>
                  <a:srgbClr val="FFFFFF"/>
                </a:solidFill>
                <a:latin typeface="Aptos"/>
              </a:rPr>
              <a:t>Signature · GridFS · ownership</a:t>
            </a:r>
          </a:p>
        </p:txBody>
      </p:sp>
      <p:sp>
        <p:nvSpPr>
          <p:cNvPr id="26" name="Rounded Rectangle 25"/>
          <p:cNvSpPr/>
          <p:nvPr/>
        </p:nvSpPr>
        <p:spPr>
          <a:xfrm>
            <a:off x="6172200" y="4224528"/>
            <a:ext cx="5166360" cy="1005840"/>
          </a:xfrm>
          <a:prstGeom prst="roundRect">
            <a:avLst/>
          </a:prstGeom>
          <a:solidFill>
            <a:srgbClr val="14254A"/>
          </a:solidFill>
          <a:ln>
            <a:solidFill>
              <a:srgbClr val="142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73368" y="4517136"/>
            <a:ext cx="457200" cy="228600"/>
          </a:xfrm>
          <a:prstGeom prst="rect">
            <a:avLst/>
          </a:prstGeom>
          <a:noFill/>
        </p:spPr>
        <p:txBody>
          <a:bodyPr wrap="none" lIns="36576" rIns="36576" tIns="36576" bIns="36576" anchor="t">
            <a:spAutoFit/>
          </a:bodyPr>
          <a:lstStyle/>
          <a:p>
            <a:pPr algn="l"/>
            <a:r>
              <a:rPr sz="1100" b="1">
                <a:solidFill>
                  <a:srgbClr val="FFFFFF"/>
                </a:solidFill>
                <a:latin typeface="Aptos"/>
              </a:rPr>
              <a:t>06</a:t>
            </a:r>
          </a:p>
        </p:txBody>
      </p:sp>
      <p:sp>
        <p:nvSpPr>
          <p:cNvPr id="28" name="TextBox 27"/>
          <p:cNvSpPr txBox="1"/>
          <p:nvPr/>
        </p:nvSpPr>
        <p:spPr>
          <a:xfrm>
            <a:off x="6995160" y="4407408"/>
            <a:ext cx="1600200" cy="256032"/>
          </a:xfrm>
          <a:prstGeom prst="rect">
            <a:avLst/>
          </a:prstGeom>
          <a:noFill/>
        </p:spPr>
        <p:txBody>
          <a:bodyPr wrap="none" lIns="36576" rIns="36576" tIns="36576" bIns="36576" anchor="t">
            <a:spAutoFit/>
          </a:bodyPr>
          <a:lstStyle/>
          <a:p>
            <a:pPr algn="l"/>
            <a:r>
              <a:rPr sz="1100" b="1">
                <a:solidFill>
                  <a:srgbClr val="FFFFFF"/>
                </a:solidFill>
                <a:latin typeface="Aptos"/>
              </a:rPr>
              <a:t>OPERATIONS</a:t>
            </a:r>
          </a:p>
        </p:txBody>
      </p:sp>
      <p:sp>
        <p:nvSpPr>
          <p:cNvPr id="29" name="TextBox 28"/>
          <p:cNvSpPr txBox="1"/>
          <p:nvPr/>
        </p:nvSpPr>
        <p:spPr>
          <a:xfrm>
            <a:off x="8686800" y="4425696"/>
            <a:ext cx="2331720" cy="457200"/>
          </a:xfrm>
          <a:prstGeom prst="rect">
            <a:avLst/>
          </a:prstGeom>
          <a:noFill/>
        </p:spPr>
        <p:txBody>
          <a:bodyPr wrap="none" lIns="36576" rIns="36576" tIns="36576" bIns="36576" anchor="t">
            <a:spAutoFit/>
          </a:bodyPr>
          <a:lstStyle/>
          <a:p>
            <a:pPr algn="l"/>
            <a:r>
              <a:rPr sz="1000" b="0">
                <a:solidFill>
                  <a:srgbClr val="FFFFFF"/>
                </a:solidFill>
                <a:latin typeface="Aptos"/>
              </a:rPr>
              <a:t>Audit · health · backup</a:t>
            </a:r>
          </a:p>
        </p:txBody>
      </p:sp>
      <p:sp>
        <p:nvSpPr>
          <p:cNvPr id="30" name="Rounded Rectangle 29"/>
          <p:cNvSpPr/>
          <p:nvPr/>
        </p:nvSpPr>
        <p:spPr>
          <a:xfrm>
            <a:off x="640080" y="5650992"/>
            <a:ext cx="10927080" cy="438912"/>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79008"/>
            <a:ext cx="10561320" cy="201168"/>
          </a:xfrm>
          <a:prstGeom prst="rect">
            <a:avLst/>
          </a:prstGeom>
          <a:noFill/>
        </p:spPr>
        <p:txBody>
          <a:bodyPr wrap="none" lIns="36576" rIns="36576" tIns="36576" bIns="36576" anchor="t">
            <a:spAutoFit/>
          </a:bodyPr>
          <a:lstStyle/>
          <a:p>
            <a:pPr algn="ctr"/>
            <a:r>
              <a:rPr sz="900" b="1">
                <a:solidFill>
                  <a:srgbClr val="14254A"/>
                </a:solidFill>
                <a:latin typeface="Aptos"/>
              </a:rPr>
              <a:t>Thiếu role → 403  ·  Sai dữ liệu → 400  ·  Chưa đăng nhập → 401  ·  Lỗi hệ thống → response an toàn + request ID</a:t>
            </a:r>
          </a:p>
        </p:txBody>
      </p:sp>
      <p:cxnSp>
        <p:nvCxnSpPr>
          <p:cNvPr id="32" name="Connector 31"/>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16 · BẢO MẬT</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Xác thực và phân quyền nhiều lớp</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Tương ứng tiêu chí 1, 3, 9, 16, 18, 21 và 22.</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18</a:t>
            </a:r>
          </a:p>
        </p:txBody>
      </p:sp>
      <p:sp>
        <p:nvSpPr>
          <p:cNvPr id="7" name="Rounded Rectangle 6"/>
          <p:cNvSpPr/>
          <p:nvPr/>
        </p:nvSpPr>
        <p:spPr>
          <a:xfrm>
            <a:off x="576072" y="1554480"/>
            <a:ext cx="5522976" cy="424281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5-permissions.png"/>
          <p:cNvPicPr>
            <a:picLocks noChangeAspect="1"/>
          </p:cNvPicPr>
          <p:nvPr/>
        </p:nvPicPr>
        <p:blipFill>
          <a:blip r:embed="rId2"/>
          <a:srcRect l="9239" r="9239"/>
          <a:stretch>
            <a:fillRect/>
          </a:stretch>
        </p:blipFill>
        <p:spPr>
          <a:xfrm>
            <a:off x="594360" y="1572768"/>
            <a:ext cx="5486400" cy="4206240"/>
          </a:xfrm>
          <a:prstGeom prst="rect">
            <a:avLst/>
          </a:prstGeom>
        </p:spPr>
      </p:pic>
      <p:sp>
        <p:nvSpPr>
          <p:cNvPr id="9" name="Rounded Rectangle 8"/>
          <p:cNvSpPr/>
          <p:nvPr/>
        </p:nvSpPr>
        <p:spPr>
          <a:xfrm>
            <a:off x="6336792" y="1554480"/>
            <a:ext cx="5248656" cy="424281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auth.png"/>
          <p:cNvPicPr>
            <a:picLocks noChangeAspect="1"/>
          </p:cNvPicPr>
          <p:nvPr/>
        </p:nvPicPr>
        <p:blipFill>
          <a:blip r:embed="rId3"/>
          <a:srcRect l="22009" r="22009"/>
          <a:stretch>
            <a:fillRect/>
          </a:stretch>
        </p:blipFill>
        <p:spPr>
          <a:xfrm>
            <a:off x="6355080" y="1572768"/>
            <a:ext cx="5212080" cy="4206240"/>
          </a:xfrm>
          <a:prstGeom prst="rect">
            <a:avLst/>
          </a:prstGeom>
        </p:spPr>
      </p:pic>
      <p:sp>
        <p:nvSpPr>
          <p:cNvPr id="10" name="Rounded Rectangle 9"/>
          <p:cNvSpPr/>
          <p:nvPr/>
        </p:nvSpPr>
        <p:spPr>
          <a:xfrm>
            <a:off x="804672" y="1783080"/>
            <a:ext cx="1691640" cy="310896"/>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833372"/>
            <a:ext cx="1545336" cy="201168"/>
          </a:xfrm>
          <a:prstGeom prst="rect">
            <a:avLst/>
          </a:prstGeom>
          <a:noFill/>
        </p:spPr>
        <p:txBody>
          <a:bodyPr wrap="none" lIns="36576" rIns="36576" tIns="36576" bIns="36576" anchor="t">
            <a:spAutoFit/>
          </a:bodyPr>
          <a:lstStyle/>
          <a:p>
            <a:pPr algn="ctr"/>
            <a:r>
              <a:rPr sz="900" b="1">
                <a:solidFill>
                  <a:srgbClr val="FFFFFF"/>
                </a:solidFill>
                <a:latin typeface="Aptos"/>
              </a:rPr>
              <a:t>GIAO DIỆN PHÂN QUYỀN</a:t>
            </a:r>
          </a:p>
        </p:txBody>
      </p:sp>
      <p:sp>
        <p:nvSpPr>
          <p:cNvPr id="12" name="Rounded Rectangle 11"/>
          <p:cNvSpPr/>
          <p:nvPr/>
        </p:nvSpPr>
        <p:spPr>
          <a:xfrm>
            <a:off x="6565392" y="1783080"/>
            <a:ext cx="1874519" cy="310896"/>
          </a:xfrm>
          <a:prstGeom prst="round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38544" y="1833372"/>
            <a:ext cx="1728216" cy="201168"/>
          </a:xfrm>
          <a:prstGeom prst="rect">
            <a:avLst/>
          </a:prstGeom>
          <a:noFill/>
        </p:spPr>
        <p:txBody>
          <a:bodyPr wrap="none" lIns="36576" rIns="36576" tIns="36576" bIns="36576" anchor="t">
            <a:spAutoFit/>
          </a:bodyPr>
          <a:lstStyle/>
          <a:p>
            <a:pPr algn="ctr"/>
            <a:r>
              <a:rPr sz="900" b="1">
                <a:solidFill>
                  <a:srgbClr val="FFFFFF"/>
                </a:solidFill>
                <a:latin typeface="Aptos"/>
              </a:rPr>
              <a:t>SERVER POLICY + RATE LIMIT</a:t>
            </a:r>
          </a:p>
        </p:txBody>
      </p:sp>
      <p:cxnSp>
        <p:nvCxnSpPr>
          <p:cNvPr id="14" name="Connector 1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254A"/>
        </a:solidFill>
        <a:effectLst/>
      </p:bgPr>
    </p:bg>
    <p:spTree>
      <p:nvGrpSpPr>
        <p:cNvPr id="1" name=""/>
        <p:cNvGrpSpPr/>
        <p:nvPr/>
      </p:nvGrpSpPr>
      <p:grpSpPr/>
      <p:sp>
        <p:nvSpPr>
          <p:cNvPr id="2" name="TextBox 1"/>
          <p:cNvSpPr txBox="1"/>
          <p:nvPr/>
        </p:nvSpPr>
        <p:spPr>
          <a:xfrm>
            <a:off x="594360" y="384048"/>
            <a:ext cx="3657600" cy="256032"/>
          </a:xfrm>
          <a:prstGeom prst="rect">
            <a:avLst/>
          </a:prstGeom>
          <a:noFill/>
        </p:spPr>
        <p:txBody>
          <a:bodyPr wrap="none" lIns="36576" rIns="36576" tIns="36576" bIns="36576" anchor="t">
            <a:spAutoFit/>
          </a:bodyPr>
          <a:lstStyle/>
          <a:p>
            <a:pPr algn="l"/>
            <a:r>
              <a:rPr sz="900" b="1">
                <a:solidFill>
                  <a:srgbClr val="3EC6E0"/>
                </a:solidFill>
                <a:latin typeface="Aptos"/>
              </a:rPr>
              <a:t>CODE WALKTHROUGH · DATA SCOPE</a:t>
            </a:r>
          </a:p>
        </p:txBody>
      </p:sp>
      <p:sp>
        <p:nvSpPr>
          <p:cNvPr id="3" name="TextBox 2"/>
          <p:cNvSpPr txBox="1"/>
          <p:nvPr/>
        </p:nvSpPr>
        <p:spPr>
          <a:xfrm>
            <a:off x="594360" y="777240"/>
            <a:ext cx="8229600" cy="475488"/>
          </a:xfrm>
          <a:prstGeom prst="rect">
            <a:avLst/>
          </a:prstGeom>
          <a:noFill/>
        </p:spPr>
        <p:txBody>
          <a:bodyPr wrap="none" lIns="36576" rIns="36576" tIns="36576" bIns="36576" anchor="t">
            <a:spAutoFit/>
          </a:bodyPr>
          <a:lstStyle/>
          <a:p>
            <a:pPr algn="l"/>
            <a:r>
              <a:rPr sz="2600" b="1">
                <a:solidFill>
                  <a:srgbClr val="FFFFFF"/>
                </a:solidFill>
                <a:latin typeface="Aptos"/>
              </a:rPr>
              <a:t>Không lấy dữ liệu chỉ vì client gửi một ID</a:t>
            </a:r>
          </a:p>
        </p:txBody>
      </p:sp>
      <p:sp>
        <p:nvSpPr>
          <p:cNvPr id="5" name="Rounded Rectangle 4"/>
          <p:cNvSpPr/>
          <p:nvPr/>
        </p:nvSpPr>
        <p:spPr>
          <a:xfrm>
            <a:off x="576072" y="1426464"/>
            <a:ext cx="7306056" cy="460857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de-scope.png"/>
          <p:cNvPicPr>
            <a:picLocks noChangeAspect="1"/>
          </p:cNvPicPr>
          <p:nvPr/>
        </p:nvPicPr>
        <p:blipFill>
          <a:blip r:embed="rId2"/>
          <a:srcRect t="6064" b="6064"/>
          <a:stretch>
            <a:fillRect/>
          </a:stretch>
        </p:blipFill>
        <p:spPr>
          <a:xfrm>
            <a:off x="594360" y="1444752"/>
            <a:ext cx="7269480" cy="4572000"/>
          </a:xfrm>
          <a:prstGeom prst="rect">
            <a:avLst/>
          </a:prstGeom>
        </p:spPr>
      </p:pic>
      <p:sp>
        <p:nvSpPr>
          <p:cNvPr id="6" name="Rounded Rectangle 5"/>
          <p:cNvSpPr/>
          <p:nvPr/>
        </p:nvSpPr>
        <p:spPr>
          <a:xfrm>
            <a:off x="8183879" y="1508760"/>
            <a:ext cx="3401568"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79" y="1508760"/>
            <a:ext cx="73152" cy="877824"/>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03336" y="1691639"/>
            <a:ext cx="3017520" cy="310896"/>
          </a:xfrm>
          <a:prstGeom prst="rect">
            <a:avLst/>
          </a:prstGeom>
          <a:noFill/>
        </p:spPr>
        <p:txBody>
          <a:bodyPr wrap="none" lIns="36576" rIns="36576" tIns="36576" bIns="36576" anchor="t">
            <a:spAutoFit/>
          </a:bodyPr>
          <a:lstStyle/>
          <a:p>
            <a:pPr algn="l"/>
            <a:r>
              <a:rPr sz="1300" b="1">
                <a:solidFill>
                  <a:srgbClr val="14254A"/>
                </a:solidFill>
                <a:latin typeface="Aptos"/>
              </a:rPr>
              <a:t>Teacher</a:t>
            </a:r>
          </a:p>
        </p:txBody>
      </p:sp>
      <p:sp>
        <p:nvSpPr>
          <p:cNvPr id="9" name="TextBox 8"/>
          <p:cNvSpPr txBox="1"/>
          <p:nvPr/>
        </p:nvSpPr>
        <p:spPr>
          <a:xfrm>
            <a:off x="8403336" y="2148839"/>
            <a:ext cx="2962656" cy="128016"/>
          </a:xfrm>
          <a:prstGeom prst="rect">
            <a:avLst/>
          </a:prstGeom>
          <a:noFill/>
        </p:spPr>
        <p:txBody>
          <a:bodyPr wrap="none" lIns="36576" rIns="36576" tIns="36576" bIns="36576" anchor="t">
            <a:spAutoFit/>
          </a:bodyPr>
          <a:lstStyle/>
          <a:p>
            <a:pPr algn="l"/>
            <a:r>
              <a:rPr sz="1000" b="0">
                <a:solidFill>
                  <a:srgbClr val="64708A"/>
                </a:solidFill>
                <a:latin typeface="Aptos"/>
              </a:rPr>
              <a:t>TeacherId phải đúng phân công</a:t>
            </a:r>
          </a:p>
        </p:txBody>
      </p:sp>
      <p:sp>
        <p:nvSpPr>
          <p:cNvPr id="10" name="Rounded Rectangle 9"/>
          <p:cNvSpPr/>
          <p:nvPr/>
        </p:nvSpPr>
        <p:spPr>
          <a:xfrm>
            <a:off x="8183879" y="2587752"/>
            <a:ext cx="3401568"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83879" y="2587752"/>
            <a:ext cx="73152" cy="877824"/>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3336" y="2770632"/>
            <a:ext cx="3017520" cy="310896"/>
          </a:xfrm>
          <a:prstGeom prst="rect">
            <a:avLst/>
          </a:prstGeom>
          <a:noFill/>
        </p:spPr>
        <p:txBody>
          <a:bodyPr wrap="none" lIns="36576" rIns="36576" tIns="36576" bIns="36576" anchor="t">
            <a:spAutoFit/>
          </a:bodyPr>
          <a:lstStyle/>
          <a:p>
            <a:pPr algn="l"/>
            <a:r>
              <a:rPr sz="1300" b="1">
                <a:solidFill>
                  <a:srgbClr val="14254A"/>
                </a:solidFill>
                <a:latin typeface="Aptos"/>
              </a:rPr>
              <a:t>Student</a:t>
            </a:r>
          </a:p>
        </p:txBody>
      </p:sp>
      <p:sp>
        <p:nvSpPr>
          <p:cNvPr id="13" name="TextBox 12"/>
          <p:cNvSpPr txBox="1"/>
          <p:nvPr/>
        </p:nvSpPr>
        <p:spPr>
          <a:xfrm>
            <a:off x="8403336" y="3227832"/>
            <a:ext cx="2962656" cy="128016"/>
          </a:xfrm>
          <a:prstGeom prst="rect">
            <a:avLst/>
          </a:prstGeom>
          <a:noFill/>
        </p:spPr>
        <p:txBody>
          <a:bodyPr wrap="none" lIns="36576" rIns="36576" tIns="36576" bIns="36576" anchor="t">
            <a:spAutoFit/>
          </a:bodyPr>
          <a:lstStyle/>
          <a:p>
            <a:pPr algn="l"/>
            <a:r>
              <a:rPr sz="1000" b="0">
                <a:solidFill>
                  <a:srgbClr val="64708A"/>
                </a:solidFill>
                <a:latin typeface="Aptos"/>
              </a:rPr>
              <a:t>StudentIds / enrollment phải chứa chính chủ</a:t>
            </a:r>
          </a:p>
        </p:txBody>
      </p:sp>
      <p:sp>
        <p:nvSpPr>
          <p:cNvPr id="14" name="Rounded Rectangle 13"/>
          <p:cNvSpPr/>
          <p:nvPr/>
        </p:nvSpPr>
        <p:spPr>
          <a:xfrm>
            <a:off x="8183879" y="3666744"/>
            <a:ext cx="3401568"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3666744"/>
            <a:ext cx="73152" cy="877824"/>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03336" y="3849624"/>
            <a:ext cx="3017520" cy="310896"/>
          </a:xfrm>
          <a:prstGeom prst="rect">
            <a:avLst/>
          </a:prstGeom>
          <a:noFill/>
        </p:spPr>
        <p:txBody>
          <a:bodyPr wrap="none" lIns="36576" rIns="36576" tIns="36576" bIns="36576" anchor="t">
            <a:spAutoFit/>
          </a:bodyPr>
          <a:lstStyle/>
          <a:p>
            <a:pPr algn="l"/>
            <a:r>
              <a:rPr sz="1300" b="1">
                <a:solidFill>
                  <a:srgbClr val="14254A"/>
                </a:solidFill>
                <a:latin typeface="Aptos"/>
              </a:rPr>
              <a:t>Staff</a:t>
            </a:r>
          </a:p>
        </p:txBody>
      </p:sp>
      <p:sp>
        <p:nvSpPr>
          <p:cNvPr id="17" name="TextBox 16"/>
          <p:cNvSpPr txBox="1"/>
          <p:nvPr/>
        </p:nvSpPr>
        <p:spPr>
          <a:xfrm>
            <a:off x="8403336" y="4306824"/>
            <a:ext cx="2962656" cy="128016"/>
          </a:xfrm>
          <a:prstGeom prst="rect">
            <a:avLst/>
          </a:prstGeom>
          <a:noFill/>
        </p:spPr>
        <p:txBody>
          <a:bodyPr wrap="none" lIns="36576" rIns="36576" tIns="36576" bIns="36576" anchor="t">
            <a:spAutoFit/>
          </a:bodyPr>
          <a:lstStyle/>
          <a:p>
            <a:pPr algn="l"/>
            <a:r>
              <a:rPr sz="1000" b="0">
                <a:solidFill>
                  <a:srgbClr val="64708A"/>
                </a:solidFill>
                <a:latin typeface="Aptos"/>
              </a:rPr>
              <a:t>DepartmentId phải đúng khoa được giao</a:t>
            </a:r>
          </a:p>
        </p:txBody>
      </p:sp>
      <p:sp>
        <p:nvSpPr>
          <p:cNvPr id="18" name="Rounded Rectangle 17"/>
          <p:cNvSpPr/>
          <p:nvPr/>
        </p:nvSpPr>
        <p:spPr>
          <a:xfrm>
            <a:off x="8183879" y="4745736"/>
            <a:ext cx="3401568"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4745736"/>
            <a:ext cx="73152" cy="877824"/>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03336" y="4928616"/>
            <a:ext cx="3017520" cy="310896"/>
          </a:xfrm>
          <a:prstGeom prst="rect">
            <a:avLst/>
          </a:prstGeom>
          <a:noFill/>
        </p:spPr>
        <p:txBody>
          <a:bodyPr wrap="none" lIns="36576" rIns="36576" tIns="36576" bIns="36576" anchor="t">
            <a:spAutoFit/>
          </a:bodyPr>
          <a:lstStyle/>
          <a:p>
            <a:pPr algn="l"/>
            <a:r>
              <a:rPr sz="1300" b="1">
                <a:solidFill>
                  <a:srgbClr val="14254A"/>
                </a:solidFill>
                <a:latin typeface="Aptos"/>
              </a:rPr>
              <a:t>Admin</a:t>
            </a:r>
          </a:p>
        </p:txBody>
      </p:sp>
      <p:sp>
        <p:nvSpPr>
          <p:cNvPr id="21" name="TextBox 20"/>
          <p:cNvSpPr txBox="1"/>
          <p:nvPr/>
        </p:nvSpPr>
        <p:spPr>
          <a:xfrm>
            <a:off x="8403336" y="5385816"/>
            <a:ext cx="2962656" cy="128016"/>
          </a:xfrm>
          <a:prstGeom prst="rect">
            <a:avLst/>
          </a:prstGeom>
          <a:noFill/>
        </p:spPr>
        <p:txBody>
          <a:bodyPr wrap="none" lIns="36576" rIns="36576" tIns="36576" bIns="36576" anchor="t">
            <a:spAutoFit/>
          </a:bodyPr>
          <a:lstStyle/>
          <a:p>
            <a:pPr algn="l"/>
            <a:r>
              <a:rPr sz="1000" b="0">
                <a:solidFill>
                  <a:srgbClr val="64708A"/>
                </a:solidFill>
                <a:latin typeface="Aptos"/>
              </a:rPr>
              <a:t>Bypass chức năng nhưng vẫn audit</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17 · BẢO MẬT</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Mật khẩu, khóa tài khoản và OTP</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Tương ứng tiêu chí 8, 9 và 17.</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20</a:t>
            </a:r>
          </a:p>
        </p:txBody>
      </p:sp>
      <p:sp>
        <p:nvSpPr>
          <p:cNvPr id="7" name="Rounded Rectangle 6"/>
          <p:cNvSpPr/>
          <p:nvPr/>
        </p:nvSpPr>
        <p:spPr>
          <a:xfrm>
            <a:off x="576072" y="1536192"/>
            <a:ext cx="4288536" cy="433425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login.png"/>
          <p:cNvPicPr>
            <a:picLocks noChangeAspect="1"/>
          </p:cNvPicPr>
          <p:nvPr/>
        </p:nvPicPr>
        <p:blipFill>
          <a:blip r:embed="rId2"/>
          <a:srcRect l="19082" r="19082"/>
          <a:stretch>
            <a:fillRect/>
          </a:stretch>
        </p:blipFill>
        <p:spPr>
          <a:xfrm>
            <a:off x="594360" y="1554480"/>
            <a:ext cx="4251960" cy="4297680"/>
          </a:xfrm>
          <a:prstGeom prst="rect">
            <a:avLst/>
          </a:prstGeom>
        </p:spPr>
      </p:pic>
      <p:sp>
        <p:nvSpPr>
          <p:cNvPr id="9" name="Rounded Rectangle 8"/>
          <p:cNvSpPr/>
          <p:nvPr/>
        </p:nvSpPr>
        <p:spPr>
          <a:xfrm>
            <a:off x="5148072" y="1536192"/>
            <a:ext cx="6437376" cy="433425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password.png"/>
          <p:cNvPicPr>
            <a:picLocks noChangeAspect="1"/>
          </p:cNvPicPr>
          <p:nvPr/>
        </p:nvPicPr>
        <p:blipFill>
          <a:blip r:embed="rId3"/>
          <a:srcRect l="12248" r="12248"/>
          <a:stretch>
            <a:fillRect/>
          </a:stretch>
        </p:blipFill>
        <p:spPr>
          <a:xfrm>
            <a:off x="5166360" y="1554480"/>
            <a:ext cx="6400800" cy="4297680"/>
          </a:xfrm>
          <a:prstGeom prst="rect">
            <a:avLst/>
          </a:prstGeom>
        </p:spPr>
      </p:pic>
      <p:sp>
        <p:nvSpPr>
          <p:cNvPr id="10" name="Rounded Rectangle 9"/>
          <p:cNvSpPr/>
          <p:nvPr/>
        </p:nvSpPr>
        <p:spPr>
          <a:xfrm>
            <a:off x="777240" y="5925312"/>
            <a:ext cx="109728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5975604"/>
            <a:ext cx="950976" cy="201168"/>
          </a:xfrm>
          <a:prstGeom prst="rect">
            <a:avLst/>
          </a:prstGeom>
          <a:noFill/>
        </p:spPr>
        <p:txBody>
          <a:bodyPr wrap="none" lIns="36576" rIns="36576" tIns="36576" bIns="36576" anchor="t">
            <a:spAutoFit/>
          </a:bodyPr>
          <a:lstStyle/>
          <a:p>
            <a:pPr algn="ctr"/>
            <a:r>
              <a:rPr sz="900" b="1">
                <a:solidFill>
                  <a:srgbClr val="2F5BEA"/>
                </a:solidFill>
                <a:latin typeface="Aptos"/>
              </a:rPr>
              <a:t>BCrypt + salt</a:t>
            </a:r>
          </a:p>
        </p:txBody>
      </p:sp>
      <p:sp>
        <p:nvSpPr>
          <p:cNvPr id="12" name="Rounded Rectangle 11"/>
          <p:cNvSpPr/>
          <p:nvPr/>
        </p:nvSpPr>
        <p:spPr>
          <a:xfrm>
            <a:off x="2057400" y="5925312"/>
            <a:ext cx="109728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30552" y="5975604"/>
            <a:ext cx="950976" cy="201168"/>
          </a:xfrm>
          <a:prstGeom prst="rect">
            <a:avLst/>
          </a:prstGeom>
          <a:noFill/>
        </p:spPr>
        <p:txBody>
          <a:bodyPr wrap="none" lIns="36576" rIns="36576" tIns="36576" bIns="36576" anchor="t">
            <a:spAutoFit/>
          </a:bodyPr>
          <a:lstStyle/>
          <a:p>
            <a:pPr algn="ctr"/>
            <a:r>
              <a:rPr sz="900" b="1">
                <a:solidFill>
                  <a:srgbClr val="2F5BEA"/>
                </a:solidFill>
                <a:latin typeface="Aptos"/>
              </a:rPr>
              <a:t>5 hash lịch sử</a:t>
            </a:r>
          </a:p>
        </p:txBody>
      </p:sp>
      <p:sp>
        <p:nvSpPr>
          <p:cNvPr id="14" name="Rounded Rectangle 13"/>
          <p:cNvSpPr/>
          <p:nvPr/>
        </p:nvSpPr>
        <p:spPr>
          <a:xfrm>
            <a:off x="5486400" y="5925312"/>
            <a:ext cx="109728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59552" y="5975604"/>
            <a:ext cx="950976" cy="201168"/>
          </a:xfrm>
          <a:prstGeom prst="rect">
            <a:avLst/>
          </a:prstGeom>
          <a:noFill/>
        </p:spPr>
        <p:txBody>
          <a:bodyPr wrap="none" lIns="36576" rIns="36576" tIns="36576" bIns="36576" anchor="t">
            <a:spAutoFit/>
          </a:bodyPr>
          <a:lstStyle/>
          <a:p>
            <a:pPr algn="ctr"/>
            <a:r>
              <a:rPr sz="900" b="1">
                <a:solidFill>
                  <a:srgbClr val="2F5BEA"/>
                </a:solidFill>
                <a:latin typeface="Aptos"/>
              </a:rPr>
              <a:t>CAS update</a:t>
            </a:r>
          </a:p>
        </p:txBody>
      </p:sp>
      <p:sp>
        <p:nvSpPr>
          <p:cNvPr id="16" name="Rounded Rectangle 15"/>
          <p:cNvSpPr/>
          <p:nvPr/>
        </p:nvSpPr>
        <p:spPr>
          <a:xfrm>
            <a:off x="6720840" y="5925312"/>
            <a:ext cx="109728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93992" y="5975604"/>
            <a:ext cx="950976" cy="201168"/>
          </a:xfrm>
          <a:prstGeom prst="rect">
            <a:avLst/>
          </a:prstGeom>
          <a:noFill/>
        </p:spPr>
        <p:txBody>
          <a:bodyPr wrap="none" lIns="36576" rIns="36576" tIns="36576" bIns="36576" anchor="t">
            <a:spAutoFit/>
          </a:bodyPr>
          <a:lstStyle/>
          <a:p>
            <a:pPr algn="ctr"/>
            <a:r>
              <a:rPr sz="900" b="1">
                <a:solidFill>
                  <a:srgbClr val="2F5BEA"/>
                </a:solidFill>
                <a:latin typeface="Aptos"/>
              </a:rPr>
              <a:t>Hủy phiên cũ</a:t>
            </a:r>
          </a:p>
        </p:txBody>
      </p:sp>
      <p:sp>
        <p:nvSpPr>
          <p:cNvPr id="18" name="Rounded Rectangle 17"/>
          <p:cNvSpPr/>
          <p:nvPr/>
        </p:nvSpPr>
        <p:spPr>
          <a:xfrm>
            <a:off x="8046720" y="5925312"/>
            <a:ext cx="109728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2" y="5975604"/>
            <a:ext cx="950976" cy="201168"/>
          </a:xfrm>
          <a:prstGeom prst="rect">
            <a:avLst/>
          </a:prstGeom>
          <a:noFill/>
        </p:spPr>
        <p:txBody>
          <a:bodyPr wrap="none" lIns="36576" rIns="36576" tIns="36576" bIns="36576" anchor="t">
            <a:spAutoFit/>
          </a:bodyPr>
          <a:lstStyle/>
          <a:p>
            <a:pPr algn="ctr"/>
            <a:r>
              <a:rPr sz="900" b="1">
                <a:solidFill>
                  <a:srgbClr val="2F5BEA"/>
                </a:solidFill>
                <a:latin typeface="Aptos"/>
              </a:rPr>
              <a:t>OTP 10 phút</a:t>
            </a:r>
          </a:p>
        </p:txBody>
      </p:sp>
      <p:sp>
        <p:nvSpPr>
          <p:cNvPr id="20" name="Rounded Rectangle 19"/>
          <p:cNvSpPr/>
          <p:nvPr/>
        </p:nvSpPr>
        <p:spPr>
          <a:xfrm>
            <a:off x="9372600" y="5925312"/>
            <a:ext cx="109728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45752" y="5975604"/>
            <a:ext cx="950976" cy="201168"/>
          </a:xfrm>
          <a:prstGeom prst="rect">
            <a:avLst/>
          </a:prstGeom>
          <a:noFill/>
        </p:spPr>
        <p:txBody>
          <a:bodyPr wrap="none" lIns="36576" rIns="36576" tIns="36576" bIns="36576" anchor="t">
            <a:spAutoFit/>
          </a:bodyPr>
          <a:lstStyle/>
          <a:p>
            <a:pPr algn="ctr"/>
            <a:r>
              <a:rPr sz="900" b="1">
                <a:solidFill>
                  <a:srgbClr val="2F5BEA"/>
                </a:solidFill>
                <a:latin typeface="Aptos"/>
              </a:rPr>
              <a:t>5 lượt/giờ</a:t>
            </a:r>
          </a:p>
        </p:txBody>
      </p:sp>
      <p:cxnSp>
        <p:nvCxnSpPr>
          <p:cNvPr id="22" name="Connector 21"/>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254A"/>
        </a:solidFill>
        <a:effectLst/>
      </p:bgPr>
    </p:bg>
    <p:spTree>
      <p:nvGrpSpPr>
        <p:cNvPr id="1" name=""/>
        <p:cNvGrpSpPr/>
        <p:nvPr/>
      </p:nvGrpSpPr>
      <p:grpSpPr/>
      <p:sp>
        <p:nvSpPr>
          <p:cNvPr id="2" name="TextBox 1"/>
          <p:cNvSpPr txBox="1"/>
          <p:nvPr/>
        </p:nvSpPr>
        <p:spPr>
          <a:xfrm>
            <a:off x="594360" y="384048"/>
            <a:ext cx="3657600" cy="256032"/>
          </a:xfrm>
          <a:prstGeom prst="rect">
            <a:avLst/>
          </a:prstGeom>
          <a:noFill/>
        </p:spPr>
        <p:txBody>
          <a:bodyPr wrap="none" lIns="36576" rIns="36576" tIns="36576" bIns="36576" anchor="t">
            <a:spAutoFit/>
          </a:bodyPr>
          <a:lstStyle/>
          <a:p>
            <a:pPr algn="l"/>
            <a:r>
              <a:rPr sz="900" b="1">
                <a:solidFill>
                  <a:srgbClr val="3EC6E0"/>
                </a:solidFill>
                <a:latin typeface="Aptos"/>
              </a:rPr>
              <a:t>CODE WALKTHROUGH · WEB / API</a:t>
            </a:r>
          </a:p>
        </p:txBody>
      </p:sp>
      <p:sp>
        <p:nvSpPr>
          <p:cNvPr id="3" name="TextBox 2"/>
          <p:cNvSpPr txBox="1"/>
          <p:nvPr/>
        </p:nvSpPr>
        <p:spPr>
          <a:xfrm>
            <a:off x="594360" y="777240"/>
            <a:ext cx="8229600" cy="475488"/>
          </a:xfrm>
          <a:prstGeom prst="rect">
            <a:avLst/>
          </a:prstGeom>
          <a:noFill/>
        </p:spPr>
        <p:txBody>
          <a:bodyPr wrap="none" lIns="36576" rIns="36576" tIns="36576" bIns="36576" anchor="t">
            <a:spAutoFit/>
          </a:bodyPr>
          <a:lstStyle/>
          <a:p>
            <a:pPr algn="l"/>
            <a:r>
              <a:rPr sz="2600" b="1">
                <a:solidFill>
                  <a:srgbClr val="FFFFFF"/>
                </a:solidFill>
                <a:latin typeface="Aptos"/>
              </a:rPr>
              <a:t>CSRF, XSS, NoSQL injection và lỗi an toàn</a:t>
            </a:r>
          </a:p>
        </p:txBody>
      </p:sp>
      <p:sp>
        <p:nvSpPr>
          <p:cNvPr id="5" name="Rounded Rectangle 4"/>
          <p:cNvSpPr/>
          <p:nvPr/>
        </p:nvSpPr>
        <p:spPr>
          <a:xfrm>
            <a:off x="576072" y="1399032"/>
            <a:ext cx="7168896" cy="46542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de-websecurity.png"/>
          <p:cNvPicPr>
            <a:picLocks noChangeAspect="1"/>
          </p:cNvPicPr>
          <p:nvPr/>
        </p:nvPicPr>
        <p:blipFill>
          <a:blip r:embed="rId2"/>
          <a:srcRect t="2586" b="2586"/>
          <a:stretch>
            <a:fillRect/>
          </a:stretch>
        </p:blipFill>
        <p:spPr>
          <a:xfrm>
            <a:off x="594360" y="1417320"/>
            <a:ext cx="7132320" cy="4617720"/>
          </a:xfrm>
          <a:prstGeom prst="rect">
            <a:avLst/>
          </a:prstGeom>
        </p:spPr>
      </p:pic>
      <p:sp>
        <p:nvSpPr>
          <p:cNvPr id="6" name="Rounded Rectangle 5"/>
          <p:cNvSpPr/>
          <p:nvPr/>
        </p:nvSpPr>
        <p:spPr>
          <a:xfrm>
            <a:off x="8046720" y="1490472"/>
            <a:ext cx="3547872"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46720" y="1490472"/>
            <a:ext cx="73152" cy="877824"/>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66176" y="1673351"/>
            <a:ext cx="3163823" cy="310896"/>
          </a:xfrm>
          <a:prstGeom prst="rect">
            <a:avLst/>
          </a:prstGeom>
          <a:noFill/>
        </p:spPr>
        <p:txBody>
          <a:bodyPr wrap="none" lIns="36576" rIns="36576" tIns="36576" bIns="36576" anchor="t">
            <a:spAutoFit/>
          </a:bodyPr>
          <a:lstStyle/>
          <a:p>
            <a:pPr algn="l"/>
            <a:r>
              <a:rPr sz="1300" b="1">
                <a:solidFill>
                  <a:srgbClr val="14254A"/>
                </a:solidFill>
                <a:latin typeface="Aptos"/>
              </a:rPr>
              <a:t>CSRF</a:t>
            </a:r>
          </a:p>
        </p:txBody>
      </p:sp>
      <p:sp>
        <p:nvSpPr>
          <p:cNvPr id="9" name="TextBox 8"/>
          <p:cNvSpPr txBox="1"/>
          <p:nvPr/>
        </p:nvSpPr>
        <p:spPr>
          <a:xfrm>
            <a:off x="8266176" y="2130552"/>
            <a:ext cx="3108960" cy="128016"/>
          </a:xfrm>
          <a:prstGeom prst="rect">
            <a:avLst/>
          </a:prstGeom>
          <a:noFill/>
        </p:spPr>
        <p:txBody>
          <a:bodyPr wrap="none" lIns="36576" rIns="36576" tIns="36576" bIns="36576" anchor="t">
            <a:spAutoFit/>
          </a:bodyPr>
          <a:lstStyle/>
          <a:p>
            <a:pPr algn="l"/>
            <a:r>
              <a:rPr sz="1000" b="0">
                <a:solidFill>
                  <a:srgbClr val="64708A"/>
                </a:solidFill>
                <a:latin typeface="Aptos"/>
              </a:rPr>
              <a:t>Mutation browser bắt buộc token</a:t>
            </a:r>
          </a:p>
        </p:txBody>
      </p:sp>
      <p:sp>
        <p:nvSpPr>
          <p:cNvPr id="10" name="Rounded Rectangle 9"/>
          <p:cNvSpPr/>
          <p:nvPr/>
        </p:nvSpPr>
        <p:spPr>
          <a:xfrm>
            <a:off x="8046720" y="2569463"/>
            <a:ext cx="3547872"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2569463"/>
            <a:ext cx="73152" cy="877824"/>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66176" y="2752344"/>
            <a:ext cx="3163823" cy="310896"/>
          </a:xfrm>
          <a:prstGeom prst="rect">
            <a:avLst/>
          </a:prstGeom>
          <a:noFill/>
        </p:spPr>
        <p:txBody>
          <a:bodyPr wrap="none" lIns="36576" rIns="36576" tIns="36576" bIns="36576" anchor="t">
            <a:spAutoFit/>
          </a:bodyPr>
          <a:lstStyle/>
          <a:p>
            <a:pPr algn="l"/>
            <a:r>
              <a:rPr sz="1300" b="1">
                <a:solidFill>
                  <a:srgbClr val="14254A"/>
                </a:solidFill>
                <a:latin typeface="Aptos"/>
              </a:rPr>
              <a:t>XSS</a:t>
            </a:r>
          </a:p>
        </p:txBody>
      </p:sp>
      <p:sp>
        <p:nvSpPr>
          <p:cNvPr id="13" name="TextBox 12"/>
          <p:cNvSpPr txBox="1"/>
          <p:nvPr/>
        </p:nvSpPr>
        <p:spPr>
          <a:xfrm>
            <a:off x="8266176" y="3209544"/>
            <a:ext cx="3108960" cy="128016"/>
          </a:xfrm>
          <a:prstGeom prst="rect">
            <a:avLst/>
          </a:prstGeom>
          <a:noFill/>
        </p:spPr>
        <p:txBody>
          <a:bodyPr wrap="none" lIns="36576" rIns="36576" tIns="36576" bIns="36576" anchor="t">
            <a:spAutoFit/>
          </a:bodyPr>
          <a:lstStyle/>
          <a:p>
            <a:pPr algn="l"/>
            <a:r>
              <a:rPr sz="1000" b="0">
                <a:solidFill>
                  <a:srgbClr val="64708A"/>
                </a:solidFill>
                <a:latin typeface="Aptos"/>
              </a:rPr>
              <a:t>React escape; không Html.Raw</a:t>
            </a:r>
          </a:p>
        </p:txBody>
      </p:sp>
      <p:sp>
        <p:nvSpPr>
          <p:cNvPr id="14" name="Rounded Rectangle 13"/>
          <p:cNvSpPr/>
          <p:nvPr/>
        </p:nvSpPr>
        <p:spPr>
          <a:xfrm>
            <a:off x="8046720" y="3648456"/>
            <a:ext cx="3547872"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3648456"/>
            <a:ext cx="73152" cy="877824"/>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6" y="3831335"/>
            <a:ext cx="3163823" cy="310896"/>
          </a:xfrm>
          <a:prstGeom prst="rect">
            <a:avLst/>
          </a:prstGeom>
          <a:noFill/>
        </p:spPr>
        <p:txBody>
          <a:bodyPr wrap="none" lIns="36576" rIns="36576" tIns="36576" bIns="36576" anchor="t">
            <a:spAutoFit/>
          </a:bodyPr>
          <a:lstStyle/>
          <a:p>
            <a:pPr algn="l"/>
            <a:r>
              <a:rPr sz="1300" b="1">
                <a:solidFill>
                  <a:srgbClr val="14254A"/>
                </a:solidFill>
                <a:latin typeface="Aptos"/>
              </a:rPr>
              <a:t>NoSQL injection</a:t>
            </a:r>
          </a:p>
        </p:txBody>
      </p:sp>
      <p:sp>
        <p:nvSpPr>
          <p:cNvPr id="17" name="TextBox 16"/>
          <p:cNvSpPr txBox="1"/>
          <p:nvPr/>
        </p:nvSpPr>
        <p:spPr>
          <a:xfrm>
            <a:off x="8266176" y="4288536"/>
            <a:ext cx="3108960" cy="128016"/>
          </a:xfrm>
          <a:prstGeom prst="rect">
            <a:avLst/>
          </a:prstGeom>
          <a:noFill/>
        </p:spPr>
        <p:txBody>
          <a:bodyPr wrap="none" lIns="36576" rIns="36576" tIns="36576" bIns="36576" anchor="t">
            <a:spAutoFit/>
          </a:bodyPr>
          <a:lstStyle/>
          <a:p>
            <a:pPr algn="l"/>
            <a:r>
              <a:rPr sz="1000" b="0">
                <a:solidFill>
                  <a:srgbClr val="64708A"/>
                </a:solidFill>
                <a:latin typeface="Aptos"/>
              </a:rPr>
              <a:t>Typed filter; không nhận raw BSON</a:t>
            </a:r>
          </a:p>
        </p:txBody>
      </p:sp>
      <p:sp>
        <p:nvSpPr>
          <p:cNvPr id="18" name="Rounded Rectangle 17"/>
          <p:cNvSpPr/>
          <p:nvPr/>
        </p:nvSpPr>
        <p:spPr>
          <a:xfrm>
            <a:off x="8046720" y="4727448"/>
            <a:ext cx="3547872" cy="877824"/>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4727448"/>
            <a:ext cx="73152" cy="877824"/>
          </a:xfrm>
          <a:prstGeom prst="rect">
            <a:avLst/>
          </a:prstGeom>
          <a:solidFill>
            <a:srgbClr val="D84A5B"/>
          </a:solidFill>
          <a:ln>
            <a:solidFill>
              <a:srgbClr val="D84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6" y="4910328"/>
            <a:ext cx="3163823" cy="310896"/>
          </a:xfrm>
          <a:prstGeom prst="rect">
            <a:avLst/>
          </a:prstGeom>
          <a:noFill/>
        </p:spPr>
        <p:txBody>
          <a:bodyPr wrap="none" lIns="36576" rIns="36576" tIns="36576" bIns="36576" anchor="t">
            <a:spAutoFit/>
          </a:bodyPr>
          <a:lstStyle/>
          <a:p>
            <a:pPr algn="l"/>
            <a:r>
              <a:rPr sz="1300" b="1">
                <a:solidFill>
                  <a:srgbClr val="14254A"/>
                </a:solidFill>
                <a:latin typeface="Aptos"/>
              </a:rPr>
              <a:t>Error</a:t>
            </a:r>
          </a:p>
        </p:txBody>
      </p:sp>
      <p:sp>
        <p:nvSpPr>
          <p:cNvPr id="21" name="TextBox 20"/>
          <p:cNvSpPr txBox="1"/>
          <p:nvPr/>
        </p:nvSpPr>
        <p:spPr>
          <a:xfrm>
            <a:off x="8266176" y="5367528"/>
            <a:ext cx="3108960" cy="128016"/>
          </a:xfrm>
          <a:prstGeom prst="rect">
            <a:avLst/>
          </a:prstGeom>
          <a:noFill/>
        </p:spPr>
        <p:txBody>
          <a:bodyPr wrap="none" lIns="36576" rIns="36576" tIns="36576" bIns="36576" anchor="t">
            <a:spAutoFit/>
          </a:bodyPr>
          <a:lstStyle/>
          <a:p>
            <a:pPr algn="l"/>
            <a:r>
              <a:rPr sz="1000" b="0">
                <a:solidFill>
                  <a:srgbClr val="64708A"/>
                </a:solidFill>
                <a:latin typeface="Aptos"/>
              </a:rPr>
              <a:t>Production không trả stack/secret</a:t>
            </a:r>
          </a:p>
        </p:txBody>
      </p:sp>
    </p:spTree>
  </p:cSld>
  <p:clrMapOvr>
    <a:masterClrMapping/>
  </p:clrMapOvr>
  <p:transition spd="med">
    <p:wipe dir="r"/>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18 · BẢO MẬT</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Upload và GridFS</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Tương ứng tiêu chí 14, 29 và 30.</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22</a:t>
            </a:r>
          </a:p>
        </p:txBody>
      </p:sp>
      <p:sp>
        <p:nvSpPr>
          <p:cNvPr id="7" name="Rounded Rectangle 6"/>
          <p:cNvSpPr/>
          <p:nvPr/>
        </p:nvSpPr>
        <p:spPr>
          <a:xfrm>
            <a:off x="576072" y="1554480"/>
            <a:ext cx="5157216" cy="41970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teacher-resources.png"/>
          <p:cNvPicPr>
            <a:picLocks noChangeAspect="1"/>
          </p:cNvPicPr>
          <p:nvPr/>
        </p:nvPicPr>
        <p:blipFill>
          <a:blip r:embed="rId2"/>
          <a:srcRect l="11538" r="11538"/>
          <a:stretch>
            <a:fillRect/>
          </a:stretch>
        </p:blipFill>
        <p:spPr>
          <a:xfrm>
            <a:off x="594360" y="1572768"/>
            <a:ext cx="5120640" cy="4160520"/>
          </a:xfrm>
          <a:prstGeom prst="rect">
            <a:avLst/>
          </a:prstGeom>
        </p:spPr>
      </p:pic>
      <p:sp>
        <p:nvSpPr>
          <p:cNvPr id="9" name="Rounded Rectangle 8"/>
          <p:cNvSpPr/>
          <p:nvPr/>
        </p:nvSpPr>
        <p:spPr>
          <a:xfrm>
            <a:off x="5971032" y="1554480"/>
            <a:ext cx="5614416" cy="41970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upload.png"/>
          <p:cNvPicPr>
            <a:picLocks noChangeAspect="1"/>
          </p:cNvPicPr>
          <p:nvPr/>
        </p:nvPicPr>
        <p:blipFill>
          <a:blip r:embed="rId3"/>
          <a:srcRect l="21197" r="21197"/>
          <a:stretch>
            <a:fillRect/>
          </a:stretch>
        </p:blipFill>
        <p:spPr>
          <a:xfrm>
            <a:off x="5989320" y="1572768"/>
            <a:ext cx="5577840" cy="4160520"/>
          </a:xfrm>
          <a:prstGeom prst="rect">
            <a:avLst/>
          </a:prstGeom>
        </p:spPr>
      </p:pic>
      <p:sp>
        <p:nvSpPr>
          <p:cNvPr id="10" name="Rounded Rectangle 9"/>
          <p:cNvSpPr/>
          <p:nvPr/>
        </p:nvSpPr>
        <p:spPr>
          <a:xfrm>
            <a:off x="749808"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5929883"/>
            <a:ext cx="813816" cy="201168"/>
          </a:xfrm>
          <a:prstGeom prst="rect">
            <a:avLst/>
          </a:prstGeom>
          <a:noFill/>
        </p:spPr>
        <p:txBody>
          <a:bodyPr wrap="none" lIns="36576" rIns="36576" tIns="36576" bIns="36576" anchor="t">
            <a:spAutoFit/>
          </a:bodyPr>
          <a:lstStyle/>
          <a:p>
            <a:pPr algn="ctr"/>
            <a:r>
              <a:rPr sz="900" b="1">
                <a:solidFill>
                  <a:srgbClr val="2F5BEA"/>
                </a:solidFill>
                <a:latin typeface="Aptos"/>
              </a:rPr>
              <a:t>≤ 25 MB</a:t>
            </a:r>
          </a:p>
        </p:txBody>
      </p:sp>
      <p:sp>
        <p:nvSpPr>
          <p:cNvPr id="12" name="Rounded Rectangle 11"/>
          <p:cNvSpPr/>
          <p:nvPr/>
        </p:nvSpPr>
        <p:spPr>
          <a:xfrm>
            <a:off x="1874519"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5929883"/>
            <a:ext cx="813816" cy="201168"/>
          </a:xfrm>
          <a:prstGeom prst="rect">
            <a:avLst/>
          </a:prstGeom>
          <a:noFill/>
        </p:spPr>
        <p:txBody>
          <a:bodyPr wrap="none" lIns="36576" rIns="36576" tIns="36576" bIns="36576" anchor="t">
            <a:spAutoFit/>
          </a:bodyPr>
          <a:lstStyle/>
          <a:p>
            <a:pPr algn="ctr"/>
            <a:r>
              <a:rPr sz="900" b="1">
                <a:solidFill>
                  <a:srgbClr val="3EC6E0"/>
                </a:solidFill>
                <a:latin typeface="Aptos"/>
              </a:rPr>
              <a:t>≤ 5 file</a:t>
            </a:r>
          </a:p>
        </p:txBody>
      </p:sp>
      <p:sp>
        <p:nvSpPr>
          <p:cNvPr id="14" name="Rounded Rectangle 13"/>
          <p:cNvSpPr/>
          <p:nvPr/>
        </p:nvSpPr>
        <p:spPr>
          <a:xfrm>
            <a:off x="2971800"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44952" y="5929883"/>
            <a:ext cx="813816" cy="201168"/>
          </a:xfrm>
          <a:prstGeom prst="rect">
            <a:avLst/>
          </a:prstGeom>
          <a:noFill/>
        </p:spPr>
        <p:txBody>
          <a:bodyPr wrap="none" lIns="36576" rIns="36576" tIns="36576" bIns="36576" anchor="t">
            <a:spAutoFit/>
          </a:bodyPr>
          <a:lstStyle/>
          <a:p>
            <a:pPr algn="ctr"/>
            <a:r>
              <a:rPr sz="900" b="1">
                <a:solidFill>
                  <a:srgbClr val="F5B942"/>
                </a:solidFill>
                <a:latin typeface="Aptos"/>
              </a:rPr>
              <a:t>Magic bytes</a:t>
            </a:r>
          </a:p>
        </p:txBody>
      </p:sp>
      <p:sp>
        <p:nvSpPr>
          <p:cNvPr id="16" name="Rounded Rectangle 15"/>
          <p:cNvSpPr/>
          <p:nvPr/>
        </p:nvSpPr>
        <p:spPr>
          <a:xfrm>
            <a:off x="4224528"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5929883"/>
            <a:ext cx="813816" cy="201168"/>
          </a:xfrm>
          <a:prstGeom prst="rect">
            <a:avLst/>
          </a:prstGeom>
          <a:noFill/>
        </p:spPr>
        <p:txBody>
          <a:bodyPr wrap="none" lIns="36576" rIns="36576" tIns="36576" bIns="36576" anchor="t">
            <a:spAutoFit/>
          </a:bodyPr>
          <a:lstStyle/>
          <a:p>
            <a:pPr algn="ctr"/>
            <a:r>
              <a:rPr sz="900" b="1">
                <a:solidFill>
                  <a:srgbClr val="1F9D73"/>
                </a:solidFill>
                <a:latin typeface="Aptos"/>
              </a:rPr>
              <a:t>Ownership</a:t>
            </a:r>
          </a:p>
        </p:txBody>
      </p:sp>
      <p:sp>
        <p:nvSpPr>
          <p:cNvPr id="18" name="Rounded Rectangle 17"/>
          <p:cNvSpPr/>
          <p:nvPr/>
        </p:nvSpPr>
        <p:spPr>
          <a:xfrm>
            <a:off x="6400800"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5929883"/>
            <a:ext cx="813816" cy="201168"/>
          </a:xfrm>
          <a:prstGeom prst="rect">
            <a:avLst/>
          </a:prstGeom>
          <a:noFill/>
        </p:spPr>
        <p:txBody>
          <a:bodyPr wrap="none" lIns="36576" rIns="36576" tIns="36576" bIns="36576" anchor="t">
            <a:spAutoFit/>
          </a:bodyPr>
          <a:lstStyle/>
          <a:p>
            <a:pPr algn="ctr"/>
            <a:r>
              <a:rPr sz="900" b="1">
                <a:solidFill>
                  <a:srgbClr val="2F5BEA"/>
                </a:solidFill>
                <a:latin typeface="Aptos"/>
              </a:rPr>
              <a:t>Ngoài webroot</a:t>
            </a:r>
          </a:p>
        </p:txBody>
      </p:sp>
      <p:sp>
        <p:nvSpPr>
          <p:cNvPr id="20" name="Rounded Rectangle 19"/>
          <p:cNvSpPr/>
          <p:nvPr/>
        </p:nvSpPr>
        <p:spPr>
          <a:xfrm>
            <a:off x="7863840"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36992" y="5929883"/>
            <a:ext cx="813816" cy="201168"/>
          </a:xfrm>
          <a:prstGeom prst="rect">
            <a:avLst/>
          </a:prstGeom>
          <a:noFill/>
        </p:spPr>
        <p:txBody>
          <a:bodyPr wrap="none" lIns="36576" rIns="36576" tIns="36576" bIns="36576" anchor="t">
            <a:spAutoFit/>
          </a:bodyPr>
          <a:lstStyle/>
          <a:p>
            <a:pPr algn="ctr"/>
            <a:r>
              <a:rPr sz="900" b="1">
                <a:solidFill>
                  <a:srgbClr val="3EC6E0"/>
                </a:solidFill>
                <a:latin typeface="Aptos"/>
              </a:rPr>
              <a:t>ObjectId</a:t>
            </a:r>
          </a:p>
        </p:txBody>
      </p:sp>
      <p:sp>
        <p:nvSpPr>
          <p:cNvPr id="22" name="Rounded Rectangle 21"/>
          <p:cNvSpPr/>
          <p:nvPr/>
        </p:nvSpPr>
        <p:spPr>
          <a:xfrm>
            <a:off x="8915400"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88552" y="5929883"/>
            <a:ext cx="813816" cy="201168"/>
          </a:xfrm>
          <a:prstGeom prst="rect">
            <a:avLst/>
          </a:prstGeom>
          <a:noFill/>
        </p:spPr>
        <p:txBody>
          <a:bodyPr wrap="none" lIns="36576" rIns="36576" tIns="36576" bIns="36576" anchor="t">
            <a:spAutoFit/>
          </a:bodyPr>
          <a:lstStyle/>
          <a:p>
            <a:pPr algn="ctr"/>
            <a:r>
              <a:rPr sz="900" b="1">
                <a:solidFill>
                  <a:srgbClr val="F5B942"/>
                </a:solidFill>
                <a:latin typeface="Aptos"/>
              </a:rPr>
              <a:t>SHA-256</a:t>
            </a:r>
          </a:p>
        </p:txBody>
      </p:sp>
      <p:sp>
        <p:nvSpPr>
          <p:cNvPr id="24" name="Rounded Rectangle 23"/>
          <p:cNvSpPr/>
          <p:nvPr/>
        </p:nvSpPr>
        <p:spPr>
          <a:xfrm>
            <a:off x="10104120" y="5879592"/>
            <a:ext cx="960120" cy="310896"/>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77272" y="5929883"/>
            <a:ext cx="813816" cy="201168"/>
          </a:xfrm>
          <a:prstGeom prst="rect">
            <a:avLst/>
          </a:prstGeom>
          <a:noFill/>
        </p:spPr>
        <p:txBody>
          <a:bodyPr wrap="none" lIns="36576" rIns="36576" tIns="36576" bIns="36576" anchor="t">
            <a:spAutoFit/>
          </a:bodyPr>
          <a:lstStyle/>
          <a:p>
            <a:pPr algn="ctr"/>
            <a:r>
              <a:rPr sz="900" b="1">
                <a:solidFill>
                  <a:srgbClr val="D84A5B"/>
                </a:solidFill>
                <a:latin typeface="Aptos"/>
              </a:rPr>
              <a:t>Audit reject</a:t>
            </a:r>
          </a:p>
        </p:txBody>
      </p:sp>
      <p:cxnSp>
        <p:nvCxnSpPr>
          <p:cNvPr id="26" name="Connector 25"/>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19 · BẢO MẬT</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Nhật ký, giám sát và lỗi</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Tương ứng tiêu chí 5, 8, 15, 20 và 23.</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23</a:t>
            </a:r>
          </a:p>
        </p:txBody>
      </p:sp>
      <p:sp>
        <p:nvSpPr>
          <p:cNvPr id="7" name="Rounded Rectangle 6"/>
          <p:cNvSpPr/>
          <p:nvPr/>
        </p:nvSpPr>
        <p:spPr>
          <a:xfrm>
            <a:off x="576072" y="1554480"/>
            <a:ext cx="5568696" cy="41970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6-activity-logs.png"/>
          <p:cNvPicPr>
            <a:picLocks noChangeAspect="1"/>
          </p:cNvPicPr>
          <p:nvPr/>
        </p:nvPicPr>
        <p:blipFill>
          <a:blip r:embed="rId2"/>
          <a:srcRect l="8448" r="8448"/>
          <a:stretch>
            <a:fillRect/>
          </a:stretch>
        </p:blipFill>
        <p:spPr>
          <a:xfrm>
            <a:off x="594360" y="1572768"/>
            <a:ext cx="5532120" cy="4160520"/>
          </a:xfrm>
          <a:prstGeom prst="rect">
            <a:avLst/>
          </a:prstGeom>
        </p:spPr>
      </p:pic>
      <p:sp>
        <p:nvSpPr>
          <p:cNvPr id="9" name="Rounded Rectangle 8"/>
          <p:cNvSpPr/>
          <p:nvPr/>
        </p:nvSpPr>
        <p:spPr>
          <a:xfrm>
            <a:off x="6382512" y="1554480"/>
            <a:ext cx="5202936" cy="4197096"/>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de-audit.png"/>
          <p:cNvPicPr>
            <a:picLocks noChangeAspect="1"/>
          </p:cNvPicPr>
          <p:nvPr/>
        </p:nvPicPr>
        <p:blipFill>
          <a:blip r:embed="rId3"/>
          <a:srcRect l="27667" r="27667"/>
          <a:stretch>
            <a:fillRect/>
          </a:stretch>
        </p:blipFill>
        <p:spPr>
          <a:xfrm>
            <a:off x="6400800" y="1572768"/>
            <a:ext cx="5166360" cy="4160520"/>
          </a:xfrm>
          <a:prstGeom prst="rect">
            <a:avLst/>
          </a:prstGeom>
        </p:spPr>
      </p:pic>
      <p:sp>
        <p:nvSpPr>
          <p:cNvPr id="10" name="TextBox 9"/>
          <p:cNvSpPr txBox="1"/>
          <p:nvPr/>
        </p:nvSpPr>
        <p:spPr>
          <a:xfrm>
            <a:off x="768096" y="5879592"/>
            <a:ext cx="1188720" cy="228600"/>
          </a:xfrm>
          <a:prstGeom prst="rect">
            <a:avLst/>
          </a:prstGeom>
          <a:noFill/>
        </p:spPr>
        <p:txBody>
          <a:bodyPr wrap="none" lIns="36576" rIns="36576" tIns="36576" bIns="36576" anchor="t">
            <a:spAutoFit/>
          </a:bodyPr>
          <a:lstStyle/>
          <a:p>
            <a:pPr algn="l"/>
            <a:r>
              <a:rPr sz="1000" b="1">
                <a:solidFill>
                  <a:srgbClr val="2F5BEA"/>
                </a:solidFill>
                <a:latin typeface="Aptos"/>
              </a:rPr>
              <a:t>ActivityLog</a:t>
            </a:r>
          </a:p>
        </p:txBody>
      </p:sp>
      <p:sp>
        <p:nvSpPr>
          <p:cNvPr id="11" name="TextBox 10"/>
          <p:cNvSpPr txBox="1"/>
          <p:nvPr/>
        </p:nvSpPr>
        <p:spPr>
          <a:xfrm>
            <a:off x="1874519" y="5879592"/>
            <a:ext cx="3108960" cy="228600"/>
          </a:xfrm>
          <a:prstGeom prst="rect">
            <a:avLst/>
          </a:prstGeom>
          <a:noFill/>
        </p:spPr>
        <p:txBody>
          <a:bodyPr wrap="none" lIns="36576" rIns="36576" tIns="36576" bIns="36576" anchor="t">
            <a:spAutoFit/>
          </a:bodyPr>
          <a:lstStyle/>
          <a:p>
            <a:pPr algn="l"/>
            <a:r>
              <a:rPr sz="900" b="0">
                <a:solidFill>
                  <a:srgbClr val="64708A"/>
                </a:solidFill>
                <a:latin typeface="Aptos"/>
              </a:rPr>
              <a:t>login · password · IP · user agent</a:t>
            </a:r>
          </a:p>
        </p:txBody>
      </p:sp>
      <p:sp>
        <p:nvSpPr>
          <p:cNvPr id="12" name="TextBox 11"/>
          <p:cNvSpPr txBox="1"/>
          <p:nvPr/>
        </p:nvSpPr>
        <p:spPr>
          <a:xfrm>
            <a:off x="6537960" y="5879592"/>
            <a:ext cx="1371600" cy="228600"/>
          </a:xfrm>
          <a:prstGeom prst="rect">
            <a:avLst/>
          </a:prstGeom>
          <a:noFill/>
        </p:spPr>
        <p:txBody>
          <a:bodyPr wrap="none" lIns="36576" rIns="36576" tIns="36576" bIns="36576" anchor="t">
            <a:spAutoFit/>
          </a:bodyPr>
          <a:lstStyle/>
          <a:p>
            <a:pPr algn="l"/>
            <a:r>
              <a:rPr sz="1000" b="1">
                <a:solidFill>
                  <a:srgbClr val="1F9D73"/>
                </a:solidFill>
                <a:latin typeface="Aptos"/>
              </a:rPr>
              <a:t>LearningEvent</a:t>
            </a:r>
          </a:p>
        </p:txBody>
      </p:sp>
      <p:sp>
        <p:nvSpPr>
          <p:cNvPr id="13" name="TextBox 12"/>
          <p:cNvSpPr txBox="1"/>
          <p:nvPr/>
        </p:nvSpPr>
        <p:spPr>
          <a:xfrm>
            <a:off x="7909560" y="5879592"/>
            <a:ext cx="3200400" cy="228600"/>
          </a:xfrm>
          <a:prstGeom prst="rect">
            <a:avLst/>
          </a:prstGeom>
          <a:noFill/>
        </p:spPr>
        <p:txBody>
          <a:bodyPr wrap="none" lIns="36576" rIns="36576" tIns="36576" bIns="36576" anchor="t">
            <a:spAutoFit/>
          </a:bodyPr>
          <a:lstStyle/>
          <a:p>
            <a:pPr algn="l"/>
            <a:r>
              <a:rPr sz="900" b="0">
                <a:solidFill>
                  <a:srgbClr val="64708A"/>
                </a:solidFill>
                <a:latin typeface="Aptos"/>
              </a:rPr>
              <a:t>resource · quiz · support · AI</a:t>
            </a:r>
          </a:p>
        </p:txBody>
      </p:sp>
      <p:cxnSp>
        <p:nvCxnSpPr>
          <p:cNvPr id="14" name="Connector 1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20 · BẢO MẬT DỮ LIỆU</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SQL Server trong đề và MongoDB trong dự án</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Đạt mục tiêu tương đương; không tuyên bố dùng tính năng SQL Server.</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24</a:t>
            </a:r>
          </a:p>
        </p:txBody>
      </p:sp>
      <p:sp>
        <p:nvSpPr>
          <p:cNvPr id="6" name="Rounded Rectangle 5"/>
          <p:cNvSpPr/>
          <p:nvPr/>
        </p:nvSpPr>
        <p:spPr>
          <a:xfrm>
            <a:off x="594360" y="1508760"/>
            <a:ext cx="10972800" cy="566928"/>
          </a:xfrm>
          <a:prstGeom prst="roundRect">
            <a:avLst/>
          </a:prstGeom>
          <a:solidFill>
            <a:srgbClr val="FFFFFF"/>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64207"/>
            <a:ext cx="2286000" cy="219456"/>
          </a:xfrm>
          <a:prstGeom prst="rect">
            <a:avLst/>
          </a:prstGeom>
          <a:noFill/>
        </p:spPr>
        <p:txBody>
          <a:bodyPr wrap="none" lIns="36576" rIns="36576" tIns="36576" bIns="36576" anchor="t">
            <a:spAutoFit/>
          </a:bodyPr>
          <a:lstStyle/>
          <a:p>
            <a:pPr algn="l"/>
            <a:r>
              <a:rPr sz="1100" b="1">
                <a:solidFill>
                  <a:srgbClr val="14254A"/>
                </a:solidFill>
                <a:latin typeface="Aptos"/>
              </a:rPr>
              <a:t>Least privilege</a:t>
            </a:r>
          </a:p>
        </p:txBody>
      </p:sp>
      <p:sp>
        <p:nvSpPr>
          <p:cNvPr id="8" name="TextBox 7"/>
          <p:cNvSpPr txBox="1"/>
          <p:nvPr/>
        </p:nvSpPr>
        <p:spPr>
          <a:xfrm>
            <a:off x="3154680" y="1664207"/>
            <a:ext cx="5394960" cy="219456"/>
          </a:xfrm>
          <a:prstGeom prst="rect">
            <a:avLst/>
          </a:prstGeom>
          <a:noFill/>
        </p:spPr>
        <p:txBody>
          <a:bodyPr wrap="none" lIns="36576" rIns="36576" tIns="36576" bIns="36576" anchor="t">
            <a:spAutoFit/>
          </a:bodyPr>
          <a:lstStyle/>
          <a:p>
            <a:pPr algn="l"/>
            <a:r>
              <a:rPr sz="1000" b="0">
                <a:solidFill>
                  <a:srgbClr val="64708A"/>
                </a:solidFill>
                <a:latin typeface="Aptos"/>
              </a:rPr>
              <a:t>Atlas database user + application RBAC</a:t>
            </a:r>
          </a:p>
        </p:txBody>
      </p:sp>
      <p:sp>
        <p:nvSpPr>
          <p:cNvPr id="9" name="Rounded Rectangle 8"/>
          <p:cNvSpPr/>
          <p:nvPr/>
        </p:nvSpPr>
        <p:spPr>
          <a:xfrm>
            <a:off x="9006840" y="1636776"/>
            <a:ext cx="2240280" cy="310896"/>
          </a:xfrm>
          <a:prstGeom prst="roundRect">
            <a:avLst/>
          </a:prstGeom>
          <a:solidFill>
            <a:srgbClr val="FFF4DC"/>
          </a:solidFill>
          <a:ln>
            <a:solidFill>
              <a:srgbClr val="FFF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79992" y="1687068"/>
            <a:ext cx="2093976" cy="201168"/>
          </a:xfrm>
          <a:prstGeom prst="rect">
            <a:avLst/>
          </a:prstGeom>
          <a:noFill/>
        </p:spPr>
        <p:txBody>
          <a:bodyPr wrap="none" lIns="36576" rIns="36576" tIns="36576" bIns="36576" anchor="t">
            <a:spAutoFit/>
          </a:bodyPr>
          <a:lstStyle/>
          <a:p>
            <a:pPr algn="ctr"/>
            <a:r>
              <a:rPr sz="900" b="1">
                <a:solidFill>
                  <a:srgbClr val="A66B00"/>
                </a:solidFill>
                <a:latin typeface="Aptos"/>
              </a:rPr>
              <a:t>Cần cấu hình Atlas</a:t>
            </a:r>
          </a:p>
        </p:txBody>
      </p:sp>
      <p:sp>
        <p:nvSpPr>
          <p:cNvPr id="11" name="Rounded Rectangle 10"/>
          <p:cNvSpPr/>
          <p:nvPr/>
        </p:nvSpPr>
        <p:spPr>
          <a:xfrm>
            <a:off x="594360" y="2221991"/>
            <a:ext cx="10972800" cy="566928"/>
          </a:xfrm>
          <a:prstGeom prst="roundRect">
            <a:avLst/>
          </a:prstGeom>
          <a:solidFill>
            <a:srgbClr val="FFFFFF"/>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377439"/>
            <a:ext cx="2286000" cy="219456"/>
          </a:xfrm>
          <a:prstGeom prst="rect">
            <a:avLst/>
          </a:prstGeom>
          <a:noFill/>
        </p:spPr>
        <p:txBody>
          <a:bodyPr wrap="none" lIns="36576" rIns="36576" tIns="36576" bIns="36576" anchor="t">
            <a:spAutoFit/>
          </a:bodyPr>
          <a:lstStyle/>
          <a:p>
            <a:pPr algn="l"/>
            <a:r>
              <a:rPr sz="1100" b="1">
                <a:solidFill>
                  <a:srgbClr val="14254A"/>
                </a:solidFill>
                <a:latin typeface="Aptos"/>
              </a:rPr>
              <a:t>Row-Level Security</a:t>
            </a:r>
          </a:p>
        </p:txBody>
      </p:sp>
      <p:sp>
        <p:nvSpPr>
          <p:cNvPr id="13" name="TextBox 12"/>
          <p:cNvSpPr txBox="1"/>
          <p:nvPr/>
        </p:nvSpPr>
        <p:spPr>
          <a:xfrm>
            <a:off x="3154680" y="2377439"/>
            <a:ext cx="5394960" cy="219456"/>
          </a:xfrm>
          <a:prstGeom prst="rect">
            <a:avLst/>
          </a:prstGeom>
          <a:noFill/>
        </p:spPr>
        <p:txBody>
          <a:bodyPr wrap="none" lIns="36576" rIns="36576" tIns="36576" bIns="36576" anchor="t">
            <a:spAutoFit/>
          </a:bodyPr>
          <a:lstStyle/>
          <a:p>
            <a:pPr algn="l"/>
            <a:r>
              <a:rPr sz="1000" b="0">
                <a:solidFill>
                  <a:srgbClr val="64708A"/>
                </a:solidFill>
                <a:latin typeface="Aptos"/>
              </a:rPr>
              <a:t>Scope theo lớp/khoa/chính chủ trong service</a:t>
            </a:r>
          </a:p>
        </p:txBody>
      </p:sp>
      <p:sp>
        <p:nvSpPr>
          <p:cNvPr id="14" name="Rounded Rectangle 13"/>
          <p:cNvSpPr/>
          <p:nvPr/>
        </p:nvSpPr>
        <p:spPr>
          <a:xfrm>
            <a:off x="9006840" y="2350008"/>
            <a:ext cx="224028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9992" y="2400300"/>
            <a:ext cx="2093976" cy="201168"/>
          </a:xfrm>
          <a:prstGeom prst="rect">
            <a:avLst/>
          </a:prstGeom>
          <a:noFill/>
        </p:spPr>
        <p:txBody>
          <a:bodyPr wrap="none" lIns="36576" rIns="36576" tIns="36576" bIns="36576" anchor="t">
            <a:spAutoFit/>
          </a:bodyPr>
          <a:lstStyle/>
          <a:p>
            <a:pPr algn="ctr"/>
            <a:r>
              <a:rPr sz="900" b="1">
                <a:solidFill>
                  <a:srgbClr val="1F9D73"/>
                </a:solidFill>
                <a:latin typeface="Aptos"/>
              </a:rPr>
              <a:t>Đã code + test</a:t>
            </a:r>
          </a:p>
        </p:txBody>
      </p:sp>
      <p:sp>
        <p:nvSpPr>
          <p:cNvPr id="16" name="Rounded Rectangle 15"/>
          <p:cNvSpPr/>
          <p:nvPr/>
        </p:nvSpPr>
        <p:spPr>
          <a:xfrm>
            <a:off x="594360" y="2935224"/>
            <a:ext cx="10972800" cy="566928"/>
          </a:xfrm>
          <a:prstGeom prst="roundRect">
            <a:avLst/>
          </a:prstGeom>
          <a:solidFill>
            <a:srgbClr val="FFFFFF"/>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090672"/>
            <a:ext cx="2286000" cy="219456"/>
          </a:xfrm>
          <a:prstGeom prst="rect">
            <a:avLst/>
          </a:prstGeom>
          <a:noFill/>
        </p:spPr>
        <p:txBody>
          <a:bodyPr wrap="none" lIns="36576" rIns="36576" tIns="36576" bIns="36576" anchor="t">
            <a:spAutoFit/>
          </a:bodyPr>
          <a:lstStyle/>
          <a:p>
            <a:pPr algn="l"/>
            <a:r>
              <a:rPr sz="1100" b="1">
                <a:solidFill>
                  <a:srgbClr val="14254A"/>
                </a:solidFill>
                <a:latin typeface="Aptos"/>
              </a:rPr>
              <a:t>Dynamic Data Masking</a:t>
            </a:r>
          </a:p>
        </p:txBody>
      </p:sp>
      <p:sp>
        <p:nvSpPr>
          <p:cNvPr id="18" name="TextBox 17"/>
          <p:cNvSpPr txBox="1"/>
          <p:nvPr/>
        </p:nvSpPr>
        <p:spPr>
          <a:xfrm>
            <a:off x="3154680" y="3090672"/>
            <a:ext cx="5394960" cy="219456"/>
          </a:xfrm>
          <a:prstGeom prst="rect">
            <a:avLst/>
          </a:prstGeom>
          <a:noFill/>
        </p:spPr>
        <p:txBody>
          <a:bodyPr wrap="none" lIns="36576" rIns="36576" tIns="36576" bIns="36576" anchor="t">
            <a:spAutoFit/>
          </a:bodyPr>
          <a:lstStyle/>
          <a:p>
            <a:pPr algn="l"/>
            <a:r>
              <a:rPr sz="1000" b="0">
                <a:solidFill>
                  <a:srgbClr val="64708A"/>
                </a:solidFill>
                <a:latin typeface="Aptos"/>
              </a:rPr>
              <a:t>DTO ẩn trường, report theo role</a:t>
            </a:r>
          </a:p>
        </p:txBody>
      </p:sp>
      <p:sp>
        <p:nvSpPr>
          <p:cNvPr id="19" name="Rounded Rectangle 18"/>
          <p:cNvSpPr/>
          <p:nvPr/>
        </p:nvSpPr>
        <p:spPr>
          <a:xfrm>
            <a:off x="9006840" y="3063240"/>
            <a:ext cx="224028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9992" y="3113532"/>
            <a:ext cx="2093976" cy="201168"/>
          </a:xfrm>
          <a:prstGeom prst="rect">
            <a:avLst/>
          </a:prstGeom>
          <a:noFill/>
        </p:spPr>
        <p:txBody>
          <a:bodyPr wrap="none" lIns="36576" rIns="36576" tIns="36576" bIns="36576" anchor="t">
            <a:spAutoFit/>
          </a:bodyPr>
          <a:lstStyle/>
          <a:p>
            <a:pPr algn="ctr"/>
            <a:r>
              <a:rPr sz="900" b="1">
                <a:solidFill>
                  <a:srgbClr val="1F9D73"/>
                </a:solidFill>
                <a:latin typeface="Aptos"/>
              </a:rPr>
              <a:t>Đã code + test</a:t>
            </a:r>
          </a:p>
        </p:txBody>
      </p:sp>
      <p:sp>
        <p:nvSpPr>
          <p:cNvPr id="21" name="Rounded Rectangle 20"/>
          <p:cNvSpPr/>
          <p:nvPr/>
        </p:nvSpPr>
        <p:spPr>
          <a:xfrm>
            <a:off x="594360" y="3648456"/>
            <a:ext cx="10972800" cy="566928"/>
          </a:xfrm>
          <a:prstGeom prst="roundRect">
            <a:avLst/>
          </a:prstGeom>
          <a:solidFill>
            <a:srgbClr val="FFFFFF"/>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803904"/>
            <a:ext cx="2286000" cy="219456"/>
          </a:xfrm>
          <a:prstGeom prst="rect">
            <a:avLst/>
          </a:prstGeom>
          <a:noFill/>
        </p:spPr>
        <p:txBody>
          <a:bodyPr wrap="none" lIns="36576" rIns="36576" tIns="36576" bIns="36576" anchor="t">
            <a:spAutoFit/>
          </a:bodyPr>
          <a:lstStyle/>
          <a:p>
            <a:pPr algn="l"/>
            <a:r>
              <a:rPr sz="1100" b="1">
                <a:solidFill>
                  <a:srgbClr val="14254A"/>
                </a:solidFill>
                <a:latin typeface="Aptos"/>
              </a:rPr>
              <a:t>SQL Audit</a:t>
            </a:r>
          </a:p>
        </p:txBody>
      </p:sp>
      <p:sp>
        <p:nvSpPr>
          <p:cNvPr id="23" name="TextBox 22"/>
          <p:cNvSpPr txBox="1"/>
          <p:nvPr/>
        </p:nvSpPr>
        <p:spPr>
          <a:xfrm>
            <a:off x="3154680" y="3803904"/>
            <a:ext cx="5394960" cy="219456"/>
          </a:xfrm>
          <a:prstGeom prst="rect">
            <a:avLst/>
          </a:prstGeom>
          <a:noFill/>
        </p:spPr>
        <p:txBody>
          <a:bodyPr wrap="none" lIns="36576" rIns="36576" tIns="36576" bIns="36576" anchor="t">
            <a:spAutoFit/>
          </a:bodyPr>
          <a:lstStyle/>
          <a:p>
            <a:pPr algn="l"/>
            <a:r>
              <a:rPr sz="1000" b="0">
                <a:solidFill>
                  <a:srgbClr val="64708A"/>
                </a:solidFill>
                <a:latin typeface="Aptos"/>
              </a:rPr>
              <a:t>ActivityLog/LearningEvent + Atlas Audit</a:t>
            </a:r>
          </a:p>
        </p:txBody>
      </p:sp>
      <p:sp>
        <p:nvSpPr>
          <p:cNvPr id="24" name="Rounded Rectangle 23"/>
          <p:cNvSpPr/>
          <p:nvPr/>
        </p:nvSpPr>
        <p:spPr>
          <a:xfrm>
            <a:off x="9006840" y="3776472"/>
            <a:ext cx="2240280" cy="310896"/>
          </a:xfrm>
          <a:prstGeom prst="roundRect">
            <a:avLst/>
          </a:prstGeom>
          <a:solidFill>
            <a:srgbClr val="FFF4DC"/>
          </a:solidFill>
          <a:ln>
            <a:solidFill>
              <a:srgbClr val="FFF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79992" y="3826763"/>
            <a:ext cx="2093976" cy="201168"/>
          </a:xfrm>
          <a:prstGeom prst="rect">
            <a:avLst/>
          </a:prstGeom>
          <a:noFill/>
        </p:spPr>
        <p:txBody>
          <a:bodyPr wrap="none" lIns="36576" rIns="36576" tIns="36576" bIns="36576" anchor="t">
            <a:spAutoFit/>
          </a:bodyPr>
          <a:lstStyle/>
          <a:p>
            <a:pPr algn="ctr"/>
            <a:r>
              <a:rPr sz="900" b="1">
                <a:solidFill>
                  <a:srgbClr val="A66B00"/>
                </a:solidFill>
                <a:latin typeface="Aptos"/>
              </a:rPr>
              <a:t>Một phần ngoài source</a:t>
            </a:r>
          </a:p>
        </p:txBody>
      </p:sp>
      <p:sp>
        <p:nvSpPr>
          <p:cNvPr id="26" name="Rounded Rectangle 25"/>
          <p:cNvSpPr/>
          <p:nvPr/>
        </p:nvSpPr>
        <p:spPr>
          <a:xfrm>
            <a:off x="594360" y="4361688"/>
            <a:ext cx="10972800" cy="566928"/>
          </a:xfrm>
          <a:prstGeom prst="roundRect">
            <a:avLst/>
          </a:prstGeom>
          <a:solidFill>
            <a:srgbClr val="FFFFFF"/>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517136"/>
            <a:ext cx="2286000" cy="219456"/>
          </a:xfrm>
          <a:prstGeom prst="rect">
            <a:avLst/>
          </a:prstGeom>
          <a:noFill/>
        </p:spPr>
        <p:txBody>
          <a:bodyPr wrap="none" lIns="36576" rIns="36576" tIns="36576" bIns="36576" anchor="t">
            <a:spAutoFit/>
          </a:bodyPr>
          <a:lstStyle/>
          <a:p>
            <a:pPr algn="l"/>
            <a:r>
              <a:rPr sz="1100" b="1">
                <a:solidFill>
                  <a:srgbClr val="14254A"/>
                </a:solidFill>
                <a:latin typeface="Aptos"/>
              </a:rPr>
              <a:t>TDE</a:t>
            </a:r>
          </a:p>
        </p:txBody>
      </p:sp>
      <p:sp>
        <p:nvSpPr>
          <p:cNvPr id="28" name="TextBox 27"/>
          <p:cNvSpPr txBox="1"/>
          <p:nvPr/>
        </p:nvSpPr>
        <p:spPr>
          <a:xfrm>
            <a:off x="3154680" y="4517136"/>
            <a:ext cx="5394960" cy="219456"/>
          </a:xfrm>
          <a:prstGeom prst="rect">
            <a:avLst/>
          </a:prstGeom>
          <a:noFill/>
        </p:spPr>
        <p:txBody>
          <a:bodyPr wrap="none" lIns="36576" rIns="36576" tIns="36576" bIns="36576" anchor="t">
            <a:spAutoFit/>
          </a:bodyPr>
          <a:lstStyle/>
          <a:p>
            <a:pPr algn="l"/>
            <a:r>
              <a:rPr sz="1000" b="0">
                <a:solidFill>
                  <a:srgbClr val="64708A"/>
                </a:solidFill>
                <a:latin typeface="Aptos"/>
              </a:rPr>
              <a:t>Atlas TLS + encryption at rest</a:t>
            </a:r>
          </a:p>
        </p:txBody>
      </p:sp>
      <p:sp>
        <p:nvSpPr>
          <p:cNvPr id="29" name="Rounded Rectangle 28"/>
          <p:cNvSpPr/>
          <p:nvPr/>
        </p:nvSpPr>
        <p:spPr>
          <a:xfrm>
            <a:off x="9006840" y="4489703"/>
            <a:ext cx="2240280" cy="310896"/>
          </a:xfrm>
          <a:prstGeom prst="roundRect">
            <a:avLst/>
          </a:prstGeom>
          <a:solidFill>
            <a:srgbClr val="E8F8F3"/>
          </a:solidFill>
          <a:ln>
            <a:solidFill>
              <a:srgbClr val="E8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9992" y="4539995"/>
            <a:ext cx="2093976" cy="201168"/>
          </a:xfrm>
          <a:prstGeom prst="rect">
            <a:avLst/>
          </a:prstGeom>
          <a:noFill/>
        </p:spPr>
        <p:txBody>
          <a:bodyPr wrap="none" lIns="36576" rIns="36576" tIns="36576" bIns="36576" anchor="t">
            <a:spAutoFit/>
          </a:bodyPr>
          <a:lstStyle/>
          <a:p>
            <a:pPr algn="ctr"/>
            <a:r>
              <a:rPr sz="900" b="1">
                <a:solidFill>
                  <a:srgbClr val="1F9D73"/>
                </a:solidFill>
                <a:latin typeface="Aptos"/>
              </a:rPr>
              <a:t>Atlas quản lý</a:t>
            </a:r>
          </a:p>
        </p:txBody>
      </p:sp>
      <p:sp>
        <p:nvSpPr>
          <p:cNvPr id="31" name="Rounded Rectangle 30"/>
          <p:cNvSpPr/>
          <p:nvPr/>
        </p:nvSpPr>
        <p:spPr>
          <a:xfrm>
            <a:off x="594360" y="5074920"/>
            <a:ext cx="10972800" cy="566928"/>
          </a:xfrm>
          <a:prstGeom prst="roundRect">
            <a:avLst/>
          </a:prstGeom>
          <a:solidFill>
            <a:srgbClr val="FFFFFF"/>
          </a:solidFill>
          <a:ln>
            <a:solidFill>
              <a:srgbClr val="E1E6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30368"/>
            <a:ext cx="2286000" cy="219456"/>
          </a:xfrm>
          <a:prstGeom prst="rect">
            <a:avLst/>
          </a:prstGeom>
          <a:noFill/>
        </p:spPr>
        <p:txBody>
          <a:bodyPr wrap="none" lIns="36576" rIns="36576" tIns="36576" bIns="36576" anchor="t">
            <a:spAutoFit/>
          </a:bodyPr>
          <a:lstStyle/>
          <a:p>
            <a:pPr algn="l"/>
            <a:r>
              <a:rPr sz="1100" b="1">
                <a:solidFill>
                  <a:srgbClr val="14254A"/>
                </a:solidFill>
                <a:latin typeface="Aptos"/>
              </a:rPr>
              <a:t>Backup .bak</a:t>
            </a:r>
          </a:p>
        </p:txBody>
      </p:sp>
      <p:sp>
        <p:nvSpPr>
          <p:cNvPr id="33" name="TextBox 32"/>
          <p:cNvSpPr txBox="1"/>
          <p:nvPr/>
        </p:nvSpPr>
        <p:spPr>
          <a:xfrm>
            <a:off x="3154680" y="5230368"/>
            <a:ext cx="5394960" cy="219456"/>
          </a:xfrm>
          <a:prstGeom prst="rect">
            <a:avLst/>
          </a:prstGeom>
          <a:noFill/>
        </p:spPr>
        <p:txBody>
          <a:bodyPr wrap="none" lIns="36576" rIns="36576" tIns="36576" bIns="36576" anchor="t">
            <a:spAutoFit/>
          </a:bodyPr>
          <a:lstStyle/>
          <a:p>
            <a:pPr algn="l"/>
            <a:r>
              <a:rPr sz="1000" b="0">
                <a:solidFill>
                  <a:srgbClr val="64708A"/>
                </a:solidFill>
                <a:latin typeface="Aptos"/>
              </a:rPr>
              <a:t>Cloud Backup/PITR + mongodump/restore</a:t>
            </a:r>
          </a:p>
        </p:txBody>
      </p:sp>
      <p:sp>
        <p:nvSpPr>
          <p:cNvPr id="34" name="Rounded Rectangle 33"/>
          <p:cNvSpPr/>
          <p:nvPr/>
        </p:nvSpPr>
        <p:spPr>
          <a:xfrm>
            <a:off x="9006840" y="5202936"/>
            <a:ext cx="2240280" cy="310896"/>
          </a:xfrm>
          <a:prstGeom prst="roundRect">
            <a:avLst/>
          </a:prstGeom>
          <a:solidFill>
            <a:srgbClr val="FFF4DC"/>
          </a:solidFill>
          <a:ln>
            <a:solidFill>
              <a:srgbClr val="FFF4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79992" y="5253228"/>
            <a:ext cx="2093976" cy="201168"/>
          </a:xfrm>
          <a:prstGeom prst="rect">
            <a:avLst/>
          </a:prstGeom>
          <a:noFill/>
        </p:spPr>
        <p:txBody>
          <a:bodyPr wrap="none" lIns="36576" rIns="36576" tIns="36576" bIns="36576" anchor="t">
            <a:spAutoFit/>
          </a:bodyPr>
          <a:lstStyle/>
          <a:p>
            <a:pPr algn="ctr"/>
            <a:r>
              <a:rPr sz="900" b="1">
                <a:solidFill>
                  <a:srgbClr val="A66B00"/>
                </a:solidFill>
                <a:latin typeface="Aptos"/>
              </a:rPr>
              <a:t>Cần restore thử</a:t>
            </a:r>
          </a:p>
        </p:txBody>
      </p:sp>
      <p:cxnSp>
        <p:nvCxnSpPr>
          <p:cNvPr id="36" name="Connector 35"/>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21 · VẬN HÀNH</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Sẵn sàng, hiệu năng và phụ thuộc</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Tương ứng tiêu chí 24, 26, 27, 28 và 29.</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25</a:t>
            </a:r>
          </a:p>
        </p:txBody>
      </p:sp>
      <p:sp>
        <p:nvSpPr>
          <p:cNvPr id="6" name="Rounded Rectangle 5"/>
          <p:cNvSpPr/>
          <p:nvPr/>
        </p:nvSpPr>
        <p:spPr>
          <a:xfrm>
            <a:off x="594360" y="1600200"/>
            <a:ext cx="3429000" cy="157276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00200"/>
            <a:ext cx="73152" cy="1572768"/>
          </a:xfrm>
          <a:prstGeom prst="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1783080"/>
            <a:ext cx="3044951" cy="310896"/>
          </a:xfrm>
          <a:prstGeom prst="rect">
            <a:avLst/>
          </a:prstGeom>
          <a:noFill/>
        </p:spPr>
        <p:txBody>
          <a:bodyPr wrap="none" lIns="36576" rIns="36576" tIns="36576" bIns="36576" anchor="t">
            <a:spAutoFit/>
          </a:bodyPr>
          <a:lstStyle/>
          <a:p>
            <a:pPr algn="l"/>
            <a:r>
              <a:rPr sz="1300" b="1">
                <a:solidFill>
                  <a:srgbClr val="14254A"/>
                </a:solidFill>
                <a:latin typeface="Aptos"/>
              </a:rPr>
              <a:t>Health check</a:t>
            </a:r>
          </a:p>
        </p:txBody>
      </p:sp>
      <p:sp>
        <p:nvSpPr>
          <p:cNvPr id="9" name="TextBox 8"/>
          <p:cNvSpPr txBox="1"/>
          <p:nvPr/>
        </p:nvSpPr>
        <p:spPr>
          <a:xfrm>
            <a:off x="813816" y="2240280"/>
            <a:ext cx="2990088" cy="822960"/>
          </a:xfrm>
          <a:prstGeom prst="rect">
            <a:avLst/>
          </a:prstGeom>
          <a:noFill/>
        </p:spPr>
        <p:txBody>
          <a:bodyPr wrap="none" lIns="36576" rIns="36576" tIns="36576" bIns="36576" anchor="t">
            <a:spAutoFit/>
          </a:bodyPr>
          <a:lstStyle/>
          <a:p>
            <a:pPr algn="l"/>
            <a:r>
              <a:rPr sz="1000" b="0">
                <a:solidFill>
                  <a:srgbClr val="64708A"/>
                </a:solidFill>
                <a:latin typeface="Aptos"/>
              </a:rPr>
              <a:t>/health/live · /health/ready</a:t>
            </a:r>
          </a:p>
        </p:txBody>
      </p:sp>
      <p:sp>
        <p:nvSpPr>
          <p:cNvPr id="10" name="Rounded Rectangle 9"/>
          <p:cNvSpPr/>
          <p:nvPr/>
        </p:nvSpPr>
        <p:spPr>
          <a:xfrm>
            <a:off x="4325112" y="1600200"/>
            <a:ext cx="3429000" cy="157276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5112" y="1600200"/>
            <a:ext cx="73152" cy="1572768"/>
          </a:xfrm>
          <a:prstGeom prst="rect">
            <a:avLst/>
          </a:prstGeom>
          <a:solidFill>
            <a:srgbClr val="3EC6E0"/>
          </a:solidFill>
          <a:ln>
            <a:solidFill>
              <a:srgbClr val="3EC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83080"/>
            <a:ext cx="3044951" cy="310896"/>
          </a:xfrm>
          <a:prstGeom prst="rect">
            <a:avLst/>
          </a:prstGeom>
          <a:noFill/>
        </p:spPr>
        <p:txBody>
          <a:bodyPr wrap="none" lIns="36576" rIns="36576" tIns="36576" bIns="36576" anchor="t">
            <a:spAutoFit/>
          </a:bodyPr>
          <a:lstStyle/>
          <a:p>
            <a:pPr algn="l"/>
            <a:r>
              <a:rPr sz="1300" b="1">
                <a:solidFill>
                  <a:srgbClr val="14254A"/>
                </a:solidFill>
                <a:latin typeface="Aptos"/>
              </a:rPr>
              <a:t>Rate limit</a:t>
            </a:r>
          </a:p>
        </p:txBody>
      </p:sp>
      <p:sp>
        <p:nvSpPr>
          <p:cNvPr id="13" name="TextBox 12"/>
          <p:cNvSpPr txBox="1"/>
          <p:nvPr/>
        </p:nvSpPr>
        <p:spPr>
          <a:xfrm>
            <a:off x="4544568" y="2240280"/>
            <a:ext cx="2990088" cy="822960"/>
          </a:xfrm>
          <a:prstGeom prst="rect">
            <a:avLst/>
          </a:prstGeom>
          <a:noFill/>
        </p:spPr>
        <p:txBody>
          <a:bodyPr wrap="none" lIns="36576" rIns="36576" tIns="36576" bIns="36576" anchor="t">
            <a:spAutoFit/>
          </a:bodyPr>
          <a:lstStyle/>
          <a:p>
            <a:pPr algn="l"/>
            <a:r>
              <a:rPr sz="1000" b="0">
                <a:solidFill>
                  <a:srgbClr val="64708A"/>
                </a:solidFill>
                <a:latin typeface="Aptos"/>
              </a:rPr>
              <a:t>Login · OTP · OpenAI</a:t>
            </a:r>
          </a:p>
        </p:txBody>
      </p:sp>
      <p:sp>
        <p:nvSpPr>
          <p:cNvPr id="14" name="Rounded Rectangle 13"/>
          <p:cNvSpPr/>
          <p:nvPr/>
        </p:nvSpPr>
        <p:spPr>
          <a:xfrm>
            <a:off x="8055864" y="1600200"/>
            <a:ext cx="3429000" cy="157276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5864" y="1600200"/>
            <a:ext cx="73152" cy="1572768"/>
          </a:xfrm>
          <a:prstGeom prst="rect">
            <a:avLst/>
          </a:prstGeom>
          <a:solidFill>
            <a:srgbClr val="1F9D73"/>
          </a:solidFill>
          <a:ln>
            <a:solidFill>
              <a:srgbClr val="1F9D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783080"/>
            <a:ext cx="3044951" cy="310896"/>
          </a:xfrm>
          <a:prstGeom prst="rect">
            <a:avLst/>
          </a:prstGeom>
          <a:noFill/>
        </p:spPr>
        <p:txBody>
          <a:bodyPr wrap="none" lIns="36576" rIns="36576" tIns="36576" bIns="36576" anchor="t">
            <a:spAutoFit/>
          </a:bodyPr>
          <a:lstStyle/>
          <a:p>
            <a:pPr algn="l"/>
            <a:r>
              <a:rPr sz="1300" b="1">
                <a:solidFill>
                  <a:srgbClr val="14254A"/>
                </a:solidFill>
                <a:latin typeface="Aptos"/>
              </a:rPr>
              <a:t>Index</a:t>
            </a:r>
          </a:p>
        </p:txBody>
      </p:sp>
      <p:sp>
        <p:nvSpPr>
          <p:cNvPr id="17" name="TextBox 16"/>
          <p:cNvSpPr txBox="1"/>
          <p:nvPr/>
        </p:nvSpPr>
        <p:spPr>
          <a:xfrm>
            <a:off x="8275320" y="2240280"/>
            <a:ext cx="2990088" cy="822960"/>
          </a:xfrm>
          <a:prstGeom prst="rect">
            <a:avLst/>
          </a:prstGeom>
          <a:noFill/>
        </p:spPr>
        <p:txBody>
          <a:bodyPr wrap="none" lIns="36576" rIns="36576" tIns="36576" bIns="36576" anchor="t">
            <a:spAutoFit/>
          </a:bodyPr>
          <a:lstStyle/>
          <a:p>
            <a:pPr algn="l"/>
            <a:r>
              <a:rPr sz="1000" b="0">
                <a:solidFill>
                  <a:srgbClr val="64708A"/>
                </a:solidFill>
                <a:latin typeface="Aptos"/>
              </a:rPr>
              <a:t>Email · enrollment · event · log</a:t>
            </a:r>
          </a:p>
        </p:txBody>
      </p:sp>
      <p:sp>
        <p:nvSpPr>
          <p:cNvPr id="18" name="Rounded Rectangle 17"/>
          <p:cNvSpPr/>
          <p:nvPr/>
        </p:nvSpPr>
        <p:spPr>
          <a:xfrm>
            <a:off x="594360" y="3566160"/>
            <a:ext cx="3429000" cy="157276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566160"/>
            <a:ext cx="73152" cy="1572768"/>
          </a:xfrm>
          <a:prstGeom prst="rect">
            <a:avLst/>
          </a:prstGeom>
          <a:solidFill>
            <a:srgbClr val="F5B942"/>
          </a:solidFill>
          <a:ln>
            <a:solidFill>
              <a:srgbClr val="F5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3749039"/>
            <a:ext cx="3044951" cy="310896"/>
          </a:xfrm>
          <a:prstGeom prst="rect">
            <a:avLst/>
          </a:prstGeom>
          <a:noFill/>
        </p:spPr>
        <p:txBody>
          <a:bodyPr wrap="none" lIns="36576" rIns="36576" tIns="36576" bIns="36576" anchor="t">
            <a:spAutoFit/>
          </a:bodyPr>
          <a:lstStyle/>
          <a:p>
            <a:pPr algn="l"/>
            <a:r>
              <a:rPr sz="1300" b="1">
                <a:solidFill>
                  <a:srgbClr val="14254A"/>
                </a:solidFill>
                <a:latin typeface="Aptos"/>
              </a:rPr>
              <a:t>Pagination</a:t>
            </a:r>
          </a:p>
        </p:txBody>
      </p:sp>
      <p:sp>
        <p:nvSpPr>
          <p:cNvPr id="21" name="TextBox 20"/>
          <p:cNvSpPr txBox="1"/>
          <p:nvPr/>
        </p:nvSpPr>
        <p:spPr>
          <a:xfrm>
            <a:off x="813816" y="4206240"/>
            <a:ext cx="2990088" cy="822960"/>
          </a:xfrm>
          <a:prstGeom prst="rect">
            <a:avLst/>
          </a:prstGeom>
          <a:noFill/>
        </p:spPr>
        <p:txBody>
          <a:bodyPr wrap="none" lIns="36576" rIns="36576" tIns="36576" bIns="36576" anchor="t">
            <a:spAutoFit/>
          </a:bodyPr>
          <a:lstStyle/>
          <a:p>
            <a:pPr algn="l"/>
            <a:r>
              <a:rPr sz="1000" b="0">
                <a:solidFill>
                  <a:srgbClr val="64708A"/>
                </a:solidFill>
                <a:latin typeface="Aptos"/>
              </a:rPr>
              <a:t>10 / 20 / 50 và giới hạn API</a:t>
            </a:r>
          </a:p>
        </p:txBody>
      </p:sp>
      <p:sp>
        <p:nvSpPr>
          <p:cNvPr id="22" name="Rounded Rectangle 21"/>
          <p:cNvSpPr/>
          <p:nvPr/>
        </p:nvSpPr>
        <p:spPr>
          <a:xfrm>
            <a:off x="4325112" y="3566160"/>
            <a:ext cx="3429000" cy="157276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25112" y="3566160"/>
            <a:ext cx="73152" cy="1572768"/>
          </a:xfrm>
          <a:prstGeom prst="rect">
            <a:avLst/>
          </a:prstGeom>
          <a:solidFill>
            <a:srgbClr val="D84A5B"/>
          </a:solidFill>
          <a:ln>
            <a:solidFill>
              <a:srgbClr val="D84A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3749039"/>
            <a:ext cx="3044951" cy="310896"/>
          </a:xfrm>
          <a:prstGeom prst="rect">
            <a:avLst/>
          </a:prstGeom>
          <a:noFill/>
        </p:spPr>
        <p:txBody>
          <a:bodyPr wrap="none" lIns="36576" rIns="36576" tIns="36576" bIns="36576" anchor="t">
            <a:spAutoFit/>
          </a:bodyPr>
          <a:lstStyle/>
          <a:p>
            <a:pPr algn="l"/>
            <a:r>
              <a:rPr sz="1300" b="1">
                <a:solidFill>
                  <a:srgbClr val="14254A"/>
                </a:solidFill>
                <a:latin typeface="Aptos"/>
              </a:rPr>
              <a:t>Backup</a:t>
            </a:r>
          </a:p>
        </p:txBody>
      </p:sp>
      <p:sp>
        <p:nvSpPr>
          <p:cNvPr id="25" name="TextBox 24"/>
          <p:cNvSpPr txBox="1"/>
          <p:nvPr/>
        </p:nvSpPr>
        <p:spPr>
          <a:xfrm>
            <a:off x="4544568" y="4206240"/>
            <a:ext cx="2990088" cy="822960"/>
          </a:xfrm>
          <a:prstGeom prst="rect">
            <a:avLst/>
          </a:prstGeom>
          <a:noFill/>
        </p:spPr>
        <p:txBody>
          <a:bodyPr wrap="none" lIns="36576" rIns="36576" tIns="36576" bIns="36576" anchor="t">
            <a:spAutoFit/>
          </a:bodyPr>
          <a:lstStyle/>
          <a:p>
            <a:pPr algn="l"/>
            <a:r>
              <a:rPr sz="1000" b="0">
                <a:solidFill>
                  <a:srgbClr val="64708A"/>
                </a:solidFill>
                <a:latin typeface="Aptos"/>
              </a:rPr>
              <a:t>Restore mặc định vào DB thử</a:t>
            </a:r>
          </a:p>
        </p:txBody>
      </p:sp>
      <p:sp>
        <p:nvSpPr>
          <p:cNvPr id="26" name="Rounded Rectangle 25"/>
          <p:cNvSpPr/>
          <p:nvPr/>
        </p:nvSpPr>
        <p:spPr>
          <a:xfrm>
            <a:off x="8055864" y="3566160"/>
            <a:ext cx="3429000" cy="1572768"/>
          </a:xfrm>
          <a:prstGeom prst="roundRect">
            <a:avLst/>
          </a:prstGeom>
          <a:solidFill>
            <a:srgbClr val="FFFFFF"/>
          </a:solidFill>
          <a:ln>
            <a:solidFill>
              <a:srgbClr val="E1E6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5864" y="3566160"/>
            <a:ext cx="73152" cy="1572768"/>
          </a:xfrm>
          <a:prstGeom prst="rect">
            <a:avLst/>
          </a:prstGeom>
          <a:solidFill>
            <a:srgbClr val="14254A"/>
          </a:solidFill>
          <a:ln>
            <a:solidFill>
              <a:srgbClr val="142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3749039"/>
            <a:ext cx="3044951" cy="310896"/>
          </a:xfrm>
          <a:prstGeom prst="rect">
            <a:avLst/>
          </a:prstGeom>
          <a:noFill/>
        </p:spPr>
        <p:txBody>
          <a:bodyPr wrap="none" lIns="36576" rIns="36576" tIns="36576" bIns="36576" anchor="t">
            <a:spAutoFit/>
          </a:bodyPr>
          <a:lstStyle/>
          <a:p>
            <a:pPr algn="l"/>
            <a:r>
              <a:rPr sz="1300" b="1">
                <a:solidFill>
                  <a:srgbClr val="14254A"/>
                </a:solidFill>
                <a:latin typeface="Aptos"/>
              </a:rPr>
              <a:t>Dependency</a:t>
            </a:r>
          </a:p>
        </p:txBody>
      </p:sp>
      <p:sp>
        <p:nvSpPr>
          <p:cNvPr id="29" name="TextBox 28"/>
          <p:cNvSpPr txBox="1"/>
          <p:nvPr/>
        </p:nvSpPr>
        <p:spPr>
          <a:xfrm>
            <a:off x="8275320" y="4206240"/>
            <a:ext cx="2990088" cy="822960"/>
          </a:xfrm>
          <a:prstGeom prst="rect">
            <a:avLst/>
          </a:prstGeom>
          <a:noFill/>
        </p:spPr>
        <p:txBody>
          <a:bodyPr wrap="none" lIns="36576" rIns="36576" tIns="36576" bIns="36576" anchor="t">
            <a:spAutoFit/>
          </a:bodyPr>
          <a:lstStyle/>
          <a:p>
            <a:pPr algn="l"/>
            <a:r>
              <a:rPr sz="1000" b="0">
                <a:solidFill>
                  <a:srgbClr val="64708A"/>
                </a:solidFill>
                <a:latin typeface="Aptos"/>
              </a:rPr>
              <a:t>npm audit: 0 vulnerability</a:t>
            </a:r>
          </a:p>
        </p:txBody>
      </p:sp>
      <p:sp>
        <p:nvSpPr>
          <p:cNvPr id="30" name="Rounded Rectangle 29"/>
          <p:cNvSpPr/>
          <p:nvPr/>
        </p:nvSpPr>
        <p:spPr>
          <a:xfrm>
            <a:off x="594360" y="5623560"/>
            <a:ext cx="10972800" cy="438912"/>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742432"/>
            <a:ext cx="10515600" cy="201168"/>
          </a:xfrm>
          <a:prstGeom prst="rect">
            <a:avLst/>
          </a:prstGeom>
          <a:noFill/>
        </p:spPr>
        <p:txBody>
          <a:bodyPr wrap="none" lIns="36576" rIns="36576" tIns="36576" bIns="36576" anchor="t">
            <a:spAutoFit/>
          </a:bodyPr>
          <a:lstStyle/>
          <a:p>
            <a:pPr algn="ctr"/>
            <a:r>
              <a:rPr sz="1000" b="1">
                <a:solidFill>
                  <a:srgbClr val="14254A"/>
                </a:solidFill>
                <a:latin typeface="Aptos"/>
              </a:rPr>
              <a:t>Atlas Cloud Backup/PITR và restore snapshot thật phải nghiệm thu trong tài khoản Atlas.</a:t>
            </a:r>
          </a:p>
        </p:txBody>
      </p:sp>
      <p:cxnSp>
        <p:nvCxnSpPr>
          <p:cNvPr id="32" name="Connector 31"/>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22 · KIỂM THỬ</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Bằng chứng thay cho mô tả chung</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Test database riêng; SMTP/OpenAI giả lập; không dùng dữ liệu thật.</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26</a:t>
            </a:r>
          </a:p>
        </p:txBody>
      </p:sp>
      <p:sp>
        <p:nvSpPr>
          <p:cNvPr id="6" name="Rounded Rectangle 5"/>
          <p:cNvSpPr/>
          <p:nvPr/>
        </p:nvSpPr>
        <p:spPr>
          <a:xfrm>
            <a:off x="594360" y="1572768"/>
            <a:ext cx="2487168" cy="11430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10512"/>
            <a:ext cx="2103120" cy="365760"/>
          </a:xfrm>
          <a:prstGeom prst="rect">
            <a:avLst/>
          </a:prstGeom>
          <a:noFill/>
        </p:spPr>
        <p:txBody>
          <a:bodyPr wrap="none" lIns="36576" rIns="36576" tIns="36576" bIns="36576" anchor="t">
            <a:spAutoFit/>
          </a:bodyPr>
          <a:lstStyle/>
          <a:p>
            <a:pPr algn="ctr"/>
            <a:r>
              <a:rPr sz="2400" b="1">
                <a:solidFill>
                  <a:srgbClr val="2F5BEA"/>
                </a:solidFill>
                <a:latin typeface="Aptos"/>
              </a:rPr>
              <a:t>61</a:t>
            </a:r>
          </a:p>
        </p:txBody>
      </p:sp>
      <p:sp>
        <p:nvSpPr>
          <p:cNvPr id="8" name="TextBox 7"/>
          <p:cNvSpPr txBox="1"/>
          <p:nvPr/>
        </p:nvSpPr>
        <p:spPr>
          <a:xfrm>
            <a:off x="777240" y="2304288"/>
            <a:ext cx="2103120" cy="201168"/>
          </a:xfrm>
          <a:prstGeom prst="rect">
            <a:avLst/>
          </a:prstGeom>
          <a:noFill/>
        </p:spPr>
        <p:txBody>
          <a:bodyPr wrap="none" lIns="36576" rIns="36576" tIns="36576" bIns="36576" anchor="t">
            <a:spAutoFit/>
          </a:bodyPr>
          <a:lstStyle/>
          <a:p>
            <a:pPr algn="ctr"/>
            <a:r>
              <a:rPr sz="900" b="1">
                <a:solidFill>
                  <a:srgbClr val="64708A"/>
                </a:solidFill>
                <a:latin typeface="Aptos"/>
              </a:rPr>
              <a:t>nhóm regression</a:t>
            </a:r>
          </a:p>
        </p:txBody>
      </p:sp>
      <p:sp>
        <p:nvSpPr>
          <p:cNvPr id="9" name="Rounded Rectangle 8"/>
          <p:cNvSpPr/>
          <p:nvPr/>
        </p:nvSpPr>
        <p:spPr>
          <a:xfrm>
            <a:off x="3355848" y="1572768"/>
            <a:ext cx="2487168" cy="11430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38728" y="1810512"/>
            <a:ext cx="2103120" cy="365760"/>
          </a:xfrm>
          <a:prstGeom prst="rect">
            <a:avLst/>
          </a:prstGeom>
          <a:noFill/>
        </p:spPr>
        <p:txBody>
          <a:bodyPr wrap="none" lIns="36576" rIns="36576" tIns="36576" bIns="36576" anchor="t">
            <a:spAutoFit/>
          </a:bodyPr>
          <a:lstStyle/>
          <a:p>
            <a:pPr algn="ctr"/>
            <a:r>
              <a:rPr sz="2400" b="1">
                <a:solidFill>
                  <a:srgbClr val="1F9D73"/>
                </a:solidFill>
                <a:latin typeface="Aptos"/>
              </a:rPr>
              <a:t>20/20</a:t>
            </a:r>
          </a:p>
        </p:txBody>
      </p:sp>
      <p:sp>
        <p:nvSpPr>
          <p:cNvPr id="11" name="TextBox 10"/>
          <p:cNvSpPr txBox="1"/>
          <p:nvPr/>
        </p:nvSpPr>
        <p:spPr>
          <a:xfrm>
            <a:off x="3538728" y="2304288"/>
            <a:ext cx="2103120" cy="201168"/>
          </a:xfrm>
          <a:prstGeom prst="rect">
            <a:avLst/>
          </a:prstGeom>
          <a:noFill/>
        </p:spPr>
        <p:txBody>
          <a:bodyPr wrap="none" lIns="36576" rIns="36576" tIns="36576" bIns="36576" anchor="t">
            <a:spAutoFit/>
          </a:bodyPr>
          <a:lstStyle/>
          <a:p>
            <a:pPr algn="ctr"/>
            <a:r>
              <a:rPr sz="900" b="1">
                <a:solidFill>
                  <a:srgbClr val="64708A"/>
                </a:solidFill>
                <a:latin typeface="Aptos"/>
              </a:rPr>
              <a:t>Playwright UI</a:t>
            </a:r>
          </a:p>
        </p:txBody>
      </p:sp>
      <p:sp>
        <p:nvSpPr>
          <p:cNvPr id="12" name="Rounded Rectangle 11"/>
          <p:cNvSpPr/>
          <p:nvPr/>
        </p:nvSpPr>
        <p:spPr>
          <a:xfrm>
            <a:off x="6117336" y="1572768"/>
            <a:ext cx="2487168" cy="11430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0216" y="1810512"/>
            <a:ext cx="2103120" cy="365760"/>
          </a:xfrm>
          <a:prstGeom prst="rect">
            <a:avLst/>
          </a:prstGeom>
          <a:noFill/>
        </p:spPr>
        <p:txBody>
          <a:bodyPr wrap="none" lIns="36576" rIns="36576" tIns="36576" bIns="36576" anchor="t">
            <a:spAutoFit/>
          </a:bodyPr>
          <a:lstStyle/>
          <a:p>
            <a:pPr algn="ctr"/>
            <a:r>
              <a:rPr sz="2400" b="1">
                <a:solidFill>
                  <a:srgbClr val="3EC6E0"/>
                </a:solidFill>
                <a:latin typeface="Aptos"/>
              </a:rPr>
              <a:t>43/43</a:t>
            </a:r>
          </a:p>
        </p:txBody>
      </p:sp>
      <p:sp>
        <p:nvSpPr>
          <p:cNvPr id="14" name="TextBox 13"/>
          <p:cNvSpPr txBox="1"/>
          <p:nvPr/>
        </p:nvSpPr>
        <p:spPr>
          <a:xfrm>
            <a:off x="6300216" y="2304288"/>
            <a:ext cx="2103120" cy="201168"/>
          </a:xfrm>
          <a:prstGeom prst="rect">
            <a:avLst/>
          </a:prstGeom>
          <a:noFill/>
        </p:spPr>
        <p:txBody>
          <a:bodyPr wrap="none" lIns="36576" rIns="36576" tIns="36576" bIns="36576" anchor="t">
            <a:spAutoFit/>
          </a:bodyPr>
          <a:lstStyle/>
          <a:p>
            <a:pPr algn="ctr"/>
            <a:r>
              <a:rPr sz="900" b="1">
                <a:solidFill>
                  <a:srgbClr val="64708A"/>
                </a:solidFill>
                <a:latin typeface="Aptos"/>
              </a:rPr>
              <a:t>Postman API</a:t>
            </a:r>
          </a:p>
        </p:txBody>
      </p:sp>
      <p:sp>
        <p:nvSpPr>
          <p:cNvPr id="15" name="Rounded Rectangle 14"/>
          <p:cNvSpPr/>
          <p:nvPr/>
        </p:nvSpPr>
        <p:spPr>
          <a:xfrm>
            <a:off x="8878824" y="1572768"/>
            <a:ext cx="2487168" cy="114300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61704" y="1810512"/>
            <a:ext cx="2103120" cy="365760"/>
          </a:xfrm>
          <a:prstGeom prst="rect">
            <a:avLst/>
          </a:prstGeom>
          <a:noFill/>
        </p:spPr>
        <p:txBody>
          <a:bodyPr wrap="none" lIns="36576" rIns="36576" tIns="36576" bIns="36576" anchor="t">
            <a:spAutoFit/>
          </a:bodyPr>
          <a:lstStyle/>
          <a:p>
            <a:pPr algn="ctr"/>
            <a:r>
              <a:rPr sz="2400" b="1">
                <a:solidFill>
                  <a:srgbClr val="F5B942"/>
                </a:solidFill>
                <a:latin typeface="Aptos"/>
              </a:rPr>
              <a:t>96</a:t>
            </a:r>
          </a:p>
        </p:txBody>
      </p:sp>
      <p:sp>
        <p:nvSpPr>
          <p:cNvPr id="17" name="TextBox 16"/>
          <p:cNvSpPr txBox="1"/>
          <p:nvPr/>
        </p:nvSpPr>
        <p:spPr>
          <a:xfrm>
            <a:off x="9061704" y="2304288"/>
            <a:ext cx="2103120" cy="201168"/>
          </a:xfrm>
          <a:prstGeom prst="rect">
            <a:avLst/>
          </a:prstGeom>
          <a:noFill/>
        </p:spPr>
        <p:txBody>
          <a:bodyPr wrap="none" lIns="36576" rIns="36576" tIns="36576" bIns="36576" anchor="t">
            <a:spAutoFit/>
          </a:bodyPr>
          <a:lstStyle/>
          <a:p>
            <a:pPr algn="ctr"/>
            <a:r>
              <a:rPr sz="900" b="1">
                <a:solidFill>
                  <a:srgbClr val="64708A"/>
                </a:solidFill>
                <a:latin typeface="Aptos"/>
              </a:rPr>
              <a:t>request đồng thời</a:t>
            </a:r>
          </a:p>
        </p:txBody>
      </p:sp>
      <p:sp>
        <p:nvSpPr>
          <p:cNvPr id="18" name="Oval 17"/>
          <p:cNvSpPr/>
          <p:nvPr/>
        </p:nvSpPr>
        <p:spPr>
          <a:xfrm>
            <a:off x="685800" y="315468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3063240"/>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Quyền</a:t>
            </a:r>
          </a:p>
        </p:txBody>
      </p:sp>
      <p:sp>
        <p:nvSpPr>
          <p:cNvPr id="20" name="TextBox 19"/>
          <p:cNvSpPr txBox="1"/>
          <p:nvPr/>
        </p:nvSpPr>
        <p:spPr>
          <a:xfrm>
            <a:off x="1920240" y="3063240"/>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Admin/Staff/Teacher/Student</a:t>
            </a:r>
          </a:p>
        </p:txBody>
      </p:sp>
      <p:sp>
        <p:nvSpPr>
          <p:cNvPr id="21" name="Oval 20"/>
          <p:cNvSpPr/>
          <p:nvPr/>
        </p:nvSpPr>
        <p:spPr>
          <a:xfrm>
            <a:off x="6172200" y="315468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063240"/>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IDOR</a:t>
            </a:r>
          </a:p>
        </p:txBody>
      </p:sp>
      <p:sp>
        <p:nvSpPr>
          <p:cNvPr id="23" name="TextBox 22"/>
          <p:cNvSpPr txBox="1"/>
          <p:nvPr/>
        </p:nvSpPr>
        <p:spPr>
          <a:xfrm>
            <a:off x="7406640" y="3063240"/>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Đổi ObjectId vẫn 403</a:t>
            </a:r>
          </a:p>
        </p:txBody>
      </p:sp>
      <p:sp>
        <p:nvSpPr>
          <p:cNvPr id="24" name="Oval 23"/>
          <p:cNvSpPr/>
          <p:nvPr/>
        </p:nvSpPr>
        <p:spPr>
          <a:xfrm>
            <a:off x="685800" y="3813048"/>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3721608"/>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CSRF</a:t>
            </a:r>
          </a:p>
        </p:txBody>
      </p:sp>
      <p:sp>
        <p:nvSpPr>
          <p:cNvPr id="26" name="TextBox 25"/>
          <p:cNvSpPr txBox="1"/>
          <p:nvPr/>
        </p:nvSpPr>
        <p:spPr>
          <a:xfrm>
            <a:off x="1920240" y="3721608"/>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POST thiếu token không ghi</a:t>
            </a:r>
          </a:p>
        </p:txBody>
      </p:sp>
      <p:sp>
        <p:nvSpPr>
          <p:cNvPr id="27" name="Oval 26"/>
          <p:cNvSpPr/>
          <p:nvPr/>
        </p:nvSpPr>
        <p:spPr>
          <a:xfrm>
            <a:off x="6172200" y="3813048"/>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2" y="3721608"/>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XSS</a:t>
            </a:r>
          </a:p>
        </p:txBody>
      </p:sp>
      <p:sp>
        <p:nvSpPr>
          <p:cNvPr id="29" name="TextBox 28"/>
          <p:cNvSpPr txBox="1"/>
          <p:nvPr/>
        </p:nvSpPr>
        <p:spPr>
          <a:xfrm>
            <a:off x="7406640" y="3721608"/>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Script chỉ hiển thị dạng chữ</a:t>
            </a:r>
          </a:p>
        </p:txBody>
      </p:sp>
      <p:sp>
        <p:nvSpPr>
          <p:cNvPr id="30" name="Oval 29"/>
          <p:cNvSpPr/>
          <p:nvPr/>
        </p:nvSpPr>
        <p:spPr>
          <a:xfrm>
            <a:off x="685800" y="4471416"/>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4379976"/>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Upload</a:t>
            </a:r>
          </a:p>
        </p:txBody>
      </p:sp>
      <p:sp>
        <p:nvSpPr>
          <p:cNvPr id="32" name="TextBox 31"/>
          <p:cNvSpPr txBox="1"/>
          <p:nvPr/>
        </p:nvSpPr>
        <p:spPr>
          <a:xfrm>
            <a:off x="1920240" y="4379976"/>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MZ giả PDF bị 400</a:t>
            </a:r>
          </a:p>
        </p:txBody>
      </p:sp>
      <p:sp>
        <p:nvSpPr>
          <p:cNvPr id="33" name="Oval 32"/>
          <p:cNvSpPr/>
          <p:nvPr/>
        </p:nvSpPr>
        <p:spPr>
          <a:xfrm>
            <a:off x="6172200" y="4471416"/>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2" y="4379976"/>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OTP</a:t>
            </a:r>
          </a:p>
        </p:txBody>
      </p:sp>
      <p:sp>
        <p:nvSpPr>
          <p:cNvPr id="35" name="TextBox 34"/>
          <p:cNvSpPr txBox="1"/>
          <p:nvPr/>
        </p:nvSpPr>
        <p:spPr>
          <a:xfrm>
            <a:off x="7406640" y="4379976"/>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TLS, timeout, cooldown, reuse</a:t>
            </a:r>
          </a:p>
        </p:txBody>
      </p:sp>
      <p:sp>
        <p:nvSpPr>
          <p:cNvPr id="36" name="Oval 35"/>
          <p:cNvSpPr/>
          <p:nvPr/>
        </p:nvSpPr>
        <p:spPr>
          <a:xfrm>
            <a:off x="685800" y="5129783"/>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1832" y="5038344"/>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AI</a:t>
            </a:r>
          </a:p>
        </p:txBody>
      </p:sp>
      <p:sp>
        <p:nvSpPr>
          <p:cNvPr id="38" name="TextBox 37"/>
          <p:cNvSpPr txBox="1"/>
          <p:nvPr/>
        </p:nvSpPr>
        <p:spPr>
          <a:xfrm>
            <a:off x="1920240" y="5038344"/>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HTTPS stub tạo Draft + audit</a:t>
            </a:r>
          </a:p>
        </p:txBody>
      </p:sp>
      <p:sp>
        <p:nvSpPr>
          <p:cNvPr id="39" name="Oval 38"/>
          <p:cNvSpPr/>
          <p:nvPr/>
        </p:nvSpPr>
        <p:spPr>
          <a:xfrm>
            <a:off x="6172200" y="5129783"/>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8232" y="5038344"/>
            <a:ext cx="914400" cy="228600"/>
          </a:xfrm>
          <a:prstGeom prst="rect">
            <a:avLst/>
          </a:prstGeom>
          <a:noFill/>
        </p:spPr>
        <p:txBody>
          <a:bodyPr wrap="none" lIns="36576" rIns="36576" tIns="36576" bIns="36576" anchor="t">
            <a:spAutoFit/>
          </a:bodyPr>
          <a:lstStyle/>
          <a:p>
            <a:pPr algn="l"/>
            <a:r>
              <a:rPr sz="1000" b="1">
                <a:solidFill>
                  <a:srgbClr val="14254A"/>
                </a:solidFill>
                <a:latin typeface="Aptos"/>
              </a:rPr>
              <a:t>Error</a:t>
            </a:r>
          </a:p>
        </p:txBody>
      </p:sp>
      <p:sp>
        <p:nvSpPr>
          <p:cNvPr id="41" name="TextBox 40"/>
          <p:cNvSpPr txBox="1"/>
          <p:nvPr/>
        </p:nvSpPr>
        <p:spPr>
          <a:xfrm>
            <a:off x="7406640" y="5038344"/>
            <a:ext cx="3749039" cy="228600"/>
          </a:xfrm>
          <a:prstGeom prst="rect">
            <a:avLst/>
          </a:prstGeom>
          <a:noFill/>
        </p:spPr>
        <p:txBody>
          <a:bodyPr wrap="none" lIns="36576" rIns="36576" tIns="36576" bIns="36576" anchor="t">
            <a:spAutoFit/>
          </a:bodyPr>
          <a:lstStyle/>
          <a:p>
            <a:pPr algn="l"/>
            <a:r>
              <a:rPr sz="1000" b="0">
                <a:solidFill>
                  <a:srgbClr val="64708A"/>
                </a:solidFill>
                <a:latin typeface="Aptos"/>
              </a:rPr>
              <a:t>Production không lộ stack/secret</a:t>
            </a:r>
          </a:p>
        </p:txBody>
      </p:sp>
      <p:sp>
        <p:nvSpPr>
          <p:cNvPr id="42" name="Rounded Rectangle 41"/>
          <p:cNvSpPr/>
          <p:nvPr/>
        </p:nvSpPr>
        <p:spPr>
          <a:xfrm>
            <a:off x="640080" y="5833872"/>
            <a:ext cx="10927080" cy="347472"/>
          </a:xfrm>
          <a:prstGeom prst="roundRect">
            <a:avLst/>
          </a:prstGeom>
          <a:solidFill>
            <a:srgbClr val="EAF0FF"/>
          </a:solidFill>
          <a:ln>
            <a:solidFill>
              <a:srgbClr val="EA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 y="5916168"/>
            <a:ext cx="10561320" cy="182880"/>
          </a:xfrm>
          <a:prstGeom prst="rect">
            <a:avLst/>
          </a:prstGeom>
          <a:noFill/>
        </p:spPr>
        <p:txBody>
          <a:bodyPr wrap="none" lIns="36576" rIns="36576" tIns="36576" bIns="36576" anchor="t">
            <a:spAutoFit/>
          </a:bodyPr>
          <a:lstStyle/>
          <a:p>
            <a:pPr algn="ctr"/>
            <a:r>
              <a:rPr sz="900" b="1">
                <a:solidFill>
                  <a:srgbClr val="14254A"/>
                </a:solidFill>
                <a:latin typeface="Aptos"/>
              </a:rPr>
              <a:t>tests/*.py · ClientApp/e2e/*.spec.ts · Postman · ACCEPTANCE.md</a:t>
            </a:r>
          </a:p>
        </p:txBody>
      </p:sp>
      <p:cxnSp>
        <p:nvCxnSpPr>
          <p:cNvPr id="44" name="Connector 4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push dir="l"/>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TextBox 1"/>
          <p:cNvSpPr txBox="1"/>
          <p:nvPr/>
        </p:nvSpPr>
        <p:spPr>
          <a:xfrm>
            <a:off x="594360" y="329184"/>
            <a:ext cx="7315200" cy="256032"/>
          </a:xfrm>
          <a:prstGeom prst="rect">
            <a:avLst/>
          </a:prstGeom>
          <a:noFill/>
        </p:spPr>
        <p:txBody>
          <a:bodyPr wrap="none" lIns="36576" rIns="36576" tIns="36576" bIns="36576" anchor="t">
            <a:spAutoFit/>
          </a:bodyPr>
          <a:lstStyle/>
          <a:p>
            <a:pPr algn="l"/>
            <a:r>
              <a:rPr sz="900" b="1">
                <a:solidFill>
                  <a:srgbClr val="2F5BEA"/>
                </a:solidFill>
                <a:latin typeface="Aptos"/>
              </a:rPr>
              <a:t>23 · TRẠNG THÁI CUỐI</a:t>
            </a:r>
          </a:p>
        </p:txBody>
      </p:sp>
      <p:sp>
        <p:nvSpPr>
          <p:cNvPr id="3" name="TextBox 2"/>
          <p:cNvSpPr txBox="1"/>
          <p:nvPr/>
        </p:nvSpPr>
        <p:spPr>
          <a:xfrm>
            <a:off x="594360" y="658368"/>
            <a:ext cx="10972800" cy="502920"/>
          </a:xfrm>
          <a:prstGeom prst="rect">
            <a:avLst/>
          </a:prstGeom>
          <a:noFill/>
        </p:spPr>
        <p:txBody>
          <a:bodyPr wrap="none" lIns="36576" rIns="36576" tIns="36576" bIns="36576" anchor="t">
            <a:spAutoFit/>
          </a:bodyPr>
          <a:lstStyle/>
          <a:p>
            <a:pPr algn="l"/>
            <a:r>
              <a:rPr sz="2500" b="1">
                <a:solidFill>
                  <a:srgbClr val="14254A"/>
                </a:solidFill>
                <a:latin typeface="Aptos"/>
              </a:rPr>
              <a:t>Phần còn lại không phải module nghiệp vụ mới</a:t>
            </a:r>
          </a:p>
        </p:txBody>
      </p:sp>
      <p:sp>
        <p:nvSpPr>
          <p:cNvPr id="4" name="TextBox 3"/>
          <p:cNvSpPr txBox="1"/>
          <p:nvPr/>
        </p:nvSpPr>
        <p:spPr>
          <a:xfrm>
            <a:off x="612648" y="1161288"/>
            <a:ext cx="10789920" cy="384048"/>
          </a:xfrm>
          <a:prstGeom prst="rect">
            <a:avLst/>
          </a:prstGeom>
          <a:noFill/>
        </p:spPr>
        <p:txBody>
          <a:bodyPr wrap="none" lIns="36576" rIns="36576" tIns="36576" bIns="36576" anchor="t">
            <a:spAutoFit/>
          </a:bodyPr>
          <a:lstStyle/>
          <a:p>
            <a:pPr algn="l"/>
            <a:r>
              <a:rPr sz="1100" b="0">
                <a:solidFill>
                  <a:srgbClr val="64708A"/>
                </a:solidFill>
                <a:latin typeface="Aptos"/>
              </a:rPr>
              <a:t>Chủ yếu là cấu hình thật và bằng chứng báo cáo.</a:t>
            </a:r>
          </a:p>
        </p:txBody>
      </p:sp>
      <p:sp>
        <p:nvSpPr>
          <p:cNvPr id="5" name="TextBox 4"/>
          <p:cNvSpPr txBox="1"/>
          <p:nvPr/>
        </p:nvSpPr>
        <p:spPr>
          <a:xfrm>
            <a:off x="11109960" y="384048"/>
            <a:ext cx="457200" cy="256032"/>
          </a:xfrm>
          <a:prstGeom prst="rect">
            <a:avLst/>
          </a:prstGeom>
          <a:noFill/>
        </p:spPr>
        <p:txBody>
          <a:bodyPr wrap="none" lIns="36576" rIns="36576" tIns="36576" bIns="36576" anchor="t">
            <a:spAutoFit/>
          </a:bodyPr>
          <a:lstStyle/>
          <a:p>
            <a:pPr algn="r"/>
            <a:r>
              <a:rPr sz="900" b="1">
                <a:solidFill>
                  <a:srgbClr val="64708A"/>
                </a:solidFill>
                <a:latin typeface="Aptos"/>
              </a:rPr>
              <a:t>27</a:t>
            </a:r>
          </a:p>
        </p:txBody>
      </p:sp>
      <p:sp>
        <p:nvSpPr>
          <p:cNvPr id="6" name="Rounded Rectangle 5"/>
          <p:cNvSpPr/>
          <p:nvPr/>
        </p:nvSpPr>
        <p:spPr>
          <a:xfrm>
            <a:off x="594360" y="1572768"/>
            <a:ext cx="5303520" cy="4297680"/>
          </a:xfrm>
          <a:prstGeom prst="roundRect">
            <a:avLst/>
          </a:prstGeom>
          <a:solidFill>
            <a:srgbClr val="FFFFFF"/>
          </a:solidFill>
          <a:ln>
            <a:solidFill>
              <a:srgbClr val="DD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4297680" cy="274320"/>
          </a:xfrm>
          <a:prstGeom prst="rect">
            <a:avLst/>
          </a:prstGeom>
          <a:noFill/>
        </p:spPr>
        <p:txBody>
          <a:bodyPr wrap="none" lIns="36576" rIns="36576" tIns="36576" bIns="36576" anchor="t">
            <a:spAutoFit/>
          </a:bodyPr>
          <a:lstStyle/>
          <a:p>
            <a:pPr algn="l"/>
            <a:r>
              <a:rPr sz="1100" b="1">
                <a:solidFill>
                  <a:srgbClr val="1F9D73"/>
                </a:solidFill>
                <a:latin typeface="Aptos"/>
              </a:rPr>
              <a:t>ĐÃ HOÀN THÀNH TRONG SOURCE</a:t>
            </a:r>
          </a:p>
        </p:txBody>
      </p:sp>
      <p:sp>
        <p:nvSpPr>
          <p:cNvPr id="8" name="Oval 7"/>
          <p:cNvSpPr/>
          <p:nvPr/>
        </p:nvSpPr>
        <p:spPr>
          <a:xfrm>
            <a:off x="896112" y="242316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2340864"/>
            <a:ext cx="4114800" cy="246888"/>
          </a:xfrm>
          <a:prstGeom prst="rect">
            <a:avLst/>
          </a:prstGeom>
          <a:noFill/>
        </p:spPr>
        <p:txBody>
          <a:bodyPr wrap="none" lIns="36576" rIns="36576" tIns="36576" bIns="36576" anchor="t">
            <a:spAutoFit/>
          </a:bodyPr>
          <a:lstStyle/>
          <a:p>
            <a:pPr algn="l"/>
            <a:r>
              <a:rPr sz="1100" b="0">
                <a:solidFill>
                  <a:srgbClr val="14254A"/>
                </a:solidFill>
                <a:latin typeface="Aptos"/>
              </a:rPr>
              <a:t>Ba phân hệ nghiệp vụ chính</a:t>
            </a:r>
          </a:p>
        </p:txBody>
      </p:sp>
      <p:sp>
        <p:nvSpPr>
          <p:cNvPr id="10" name="Oval 9"/>
          <p:cNvSpPr/>
          <p:nvPr/>
        </p:nvSpPr>
        <p:spPr>
          <a:xfrm>
            <a:off x="896112" y="288036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2798064"/>
            <a:ext cx="4114800" cy="246888"/>
          </a:xfrm>
          <a:prstGeom prst="rect">
            <a:avLst/>
          </a:prstGeom>
          <a:noFill/>
        </p:spPr>
        <p:txBody>
          <a:bodyPr wrap="none" lIns="36576" rIns="36576" tIns="36576" bIns="36576" anchor="t">
            <a:spAutoFit/>
          </a:bodyPr>
          <a:lstStyle/>
          <a:p>
            <a:pPr algn="l"/>
            <a:r>
              <a:rPr sz="1100" b="0">
                <a:solidFill>
                  <a:srgbClr val="14254A"/>
                </a:solidFill>
                <a:latin typeface="Aptos"/>
              </a:rPr>
              <a:t>4 role + data scope</a:t>
            </a:r>
          </a:p>
        </p:txBody>
      </p:sp>
      <p:sp>
        <p:nvSpPr>
          <p:cNvPr id="12" name="Oval 11"/>
          <p:cNvSpPr/>
          <p:nvPr/>
        </p:nvSpPr>
        <p:spPr>
          <a:xfrm>
            <a:off x="896112" y="333756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3255264"/>
            <a:ext cx="4114800" cy="246888"/>
          </a:xfrm>
          <a:prstGeom prst="rect">
            <a:avLst/>
          </a:prstGeom>
          <a:noFill/>
        </p:spPr>
        <p:txBody>
          <a:bodyPr wrap="none" lIns="36576" rIns="36576" tIns="36576" bIns="36576" anchor="t">
            <a:spAutoFit/>
          </a:bodyPr>
          <a:lstStyle/>
          <a:p>
            <a:pPr algn="l"/>
            <a:r>
              <a:rPr sz="1100" b="0">
                <a:solidFill>
                  <a:srgbClr val="14254A"/>
                </a:solidFill>
                <a:latin typeface="Aptos"/>
              </a:rPr>
              <a:t>Kho học liệu &amp; kiểm duyệt</a:t>
            </a:r>
          </a:p>
        </p:txBody>
      </p:sp>
      <p:sp>
        <p:nvSpPr>
          <p:cNvPr id="14" name="Oval 13"/>
          <p:cNvSpPr/>
          <p:nvPr/>
        </p:nvSpPr>
        <p:spPr>
          <a:xfrm>
            <a:off x="896112" y="379476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3712464"/>
            <a:ext cx="4114800" cy="246888"/>
          </a:xfrm>
          <a:prstGeom prst="rect">
            <a:avLst/>
          </a:prstGeom>
          <a:noFill/>
        </p:spPr>
        <p:txBody>
          <a:bodyPr wrap="none" lIns="36576" rIns="36576" tIns="36576" bIns="36576" anchor="t">
            <a:spAutoFit/>
          </a:bodyPr>
          <a:lstStyle/>
          <a:p>
            <a:pPr algn="l"/>
            <a:r>
              <a:rPr sz="1100" b="0">
                <a:solidFill>
                  <a:srgbClr val="14254A"/>
                </a:solidFill>
                <a:latin typeface="Aptos"/>
              </a:rPr>
              <a:t>Quiz + OpenAI Draft</a:t>
            </a:r>
          </a:p>
        </p:txBody>
      </p:sp>
      <p:sp>
        <p:nvSpPr>
          <p:cNvPr id="16" name="Oval 15"/>
          <p:cNvSpPr/>
          <p:nvPr/>
        </p:nvSpPr>
        <p:spPr>
          <a:xfrm>
            <a:off x="896112" y="425196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4169664"/>
            <a:ext cx="4114800" cy="246888"/>
          </a:xfrm>
          <a:prstGeom prst="rect">
            <a:avLst/>
          </a:prstGeom>
          <a:noFill/>
        </p:spPr>
        <p:txBody>
          <a:bodyPr wrap="none" lIns="36576" rIns="36576" tIns="36576" bIns="36576" anchor="t">
            <a:spAutoFit/>
          </a:bodyPr>
          <a:lstStyle/>
          <a:p>
            <a:pPr algn="l"/>
            <a:r>
              <a:rPr sz="1100" b="0">
                <a:solidFill>
                  <a:srgbClr val="14254A"/>
                </a:solidFill>
                <a:latin typeface="Aptos"/>
              </a:rPr>
              <a:t>OTP · upload · audit · report</a:t>
            </a:r>
          </a:p>
        </p:txBody>
      </p:sp>
      <p:sp>
        <p:nvSpPr>
          <p:cNvPr id="18" name="Oval 17"/>
          <p:cNvSpPr/>
          <p:nvPr/>
        </p:nvSpPr>
        <p:spPr>
          <a:xfrm>
            <a:off x="896112" y="4709160"/>
            <a:ext cx="109728" cy="109728"/>
          </a:xfrm>
          <a:prstGeom prst="ellipse">
            <a:avLst/>
          </a:prstGeom>
          <a:solidFill>
            <a:srgbClr val="1F9D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4626864"/>
            <a:ext cx="4114800" cy="246888"/>
          </a:xfrm>
          <a:prstGeom prst="rect">
            <a:avLst/>
          </a:prstGeom>
          <a:noFill/>
        </p:spPr>
        <p:txBody>
          <a:bodyPr wrap="none" lIns="36576" rIns="36576" tIns="36576" bIns="36576" anchor="t">
            <a:spAutoFit/>
          </a:bodyPr>
          <a:lstStyle/>
          <a:p>
            <a:pPr algn="l"/>
            <a:r>
              <a:rPr sz="1100" b="0">
                <a:solidFill>
                  <a:srgbClr val="14254A"/>
                </a:solidFill>
                <a:latin typeface="Aptos"/>
              </a:rPr>
              <a:t>React TypeScript cho luồng chính</a:t>
            </a:r>
          </a:p>
        </p:txBody>
      </p:sp>
      <p:sp>
        <p:nvSpPr>
          <p:cNvPr id="20" name="Rounded Rectangle 19"/>
          <p:cNvSpPr/>
          <p:nvPr/>
        </p:nvSpPr>
        <p:spPr>
          <a:xfrm>
            <a:off x="6217920" y="1572768"/>
            <a:ext cx="5394960" cy="4297680"/>
          </a:xfrm>
          <a:prstGeom prst="roundRect">
            <a:avLst/>
          </a:prstGeom>
          <a:solidFill>
            <a:srgbClr val="FFF4DC"/>
          </a:solidFill>
          <a:ln>
            <a:solidFill>
              <a:srgbClr val="F0DCA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1874519"/>
            <a:ext cx="4297680" cy="274320"/>
          </a:xfrm>
          <a:prstGeom prst="rect">
            <a:avLst/>
          </a:prstGeom>
          <a:noFill/>
        </p:spPr>
        <p:txBody>
          <a:bodyPr wrap="none" lIns="36576" rIns="36576" tIns="36576" bIns="36576" anchor="t">
            <a:spAutoFit/>
          </a:bodyPr>
          <a:lstStyle/>
          <a:p>
            <a:pPr algn="l"/>
            <a:r>
              <a:rPr sz="1100" b="1">
                <a:solidFill>
                  <a:srgbClr val="A66B00"/>
                </a:solidFill>
                <a:latin typeface="Aptos"/>
              </a:rPr>
              <a:t>CẦN LÀM KHI NGHIỆM THU</a:t>
            </a:r>
          </a:p>
        </p:txBody>
      </p:sp>
      <p:sp>
        <p:nvSpPr>
          <p:cNvPr id="22" name="Oval 21"/>
          <p:cNvSpPr/>
          <p:nvPr/>
        </p:nvSpPr>
        <p:spPr>
          <a:xfrm>
            <a:off x="6519672" y="242316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93992" y="2340864"/>
            <a:ext cx="4206240" cy="246888"/>
          </a:xfrm>
          <a:prstGeom prst="rect">
            <a:avLst/>
          </a:prstGeom>
          <a:noFill/>
        </p:spPr>
        <p:txBody>
          <a:bodyPr wrap="none" lIns="36576" rIns="36576" tIns="36576" bIns="36576" anchor="t">
            <a:spAutoFit/>
          </a:bodyPr>
          <a:lstStyle/>
          <a:p>
            <a:pPr algn="l"/>
            <a:r>
              <a:rPr sz="1100" b="0">
                <a:solidFill>
                  <a:srgbClr val="14254A"/>
                </a:solidFill>
                <a:latin typeface="Aptos"/>
              </a:rPr>
              <a:t>Atlas DB user + IP allowlist</a:t>
            </a:r>
          </a:p>
        </p:txBody>
      </p:sp>
      <p:sp>
        <p:nvSpPr>
          <p:cNvPr id="24" name="Oval 23"/>
          <p:cNvSpPr/>
          <p:nvPr/>
        </p:nvSpPr>
        <p:spPr>
          <a:xfrm>
            <a:off x="6519672" y="288036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93992" y="2798064"/>
            <a:ext cx="4206240" cy="246888"/>
          </a:xfrm>
          <a:prstGeom prst="rect">
            <a:avLst/>
          </a:prstGeom>
          <a:noFill/>
        </p:spPr>
        <p:txBody>
          <a:bodyPr wrap="none" lIns="36576" rIns="36576" tIns="36576" bIns="36576" anchor="t">
            <a:spAutoFit/>
          </a:bodyPr>
          <a:lstStyle/>
          <a:p>
            <a:pPr algn="l"/>
            <a:r>
              <a:rPr sz="1100" b="0">
                <a:solidFill>
                  <a:srgbClr val="14254A"/>
                </a:solidFill>
                <a:latin typeface="Aptos"/>
              </a:rPr>
              <a:t>Atlas Backup/Audit và restore thật</a:t>
            </a:r>
          </a:p>
        </p:txBody>
      </p:sp>
      <p:sp>
        <p:nvSpPr>
          <p:cNvPr id="26" name="Oval 25"/>
          <p:cNvSpPr/>
          <p:nvPr/>
        </p:nvSpPr>
        <p:spPr>
          <a:xfrm>
            <a:off x="6519672" y="333756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93992" y="3255264"/>
            <a:ext cx="4206240" cy="246888"/>
          </a:xfrm>
          <a:prstGeom prst="rect">
            <a:avLst/>
          </a:prstGeom>
          <a:noFill/>
        </p:spPr>
        <p:txBody>
          <a:bodyPr wrap="none" lIns="36576" rIns="36576" tIns="36576" bIns="36576" anchor="t">
            <a:spAutoFit/>
          </a:bodyPr>
          <a:lstStyle/>
          <a:p>
            <a:pPr algn="l"/>
            <a:r>
              <a:rPr sz="1100" b="0">
                <a:solidFill>
                  <a:srgbClr val="14254A"/>
                </a:solidFill>
                <a:latin typeface="Aptos"/>
              </a:rPr>
              <a:t>Gmail · VNPAY · OpenAI credential thật</a:t>
            </a:r>
          </a:p>
        </p:txBody>
      </p:sp>
      <p:sp>
        <p:nvSpPr>
          <p:cNvPr id="28" name="Oval 27"/>
          <p:cNvSpPr/>
          <p:nvPr/>
        </p:nvSpPr>
        <p:spPr>
          <a:xfrm>
            <a:off x="6519672" y="379476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93992" y="3712464"/>
            <a:ext cx="4206240" cy="246888"/>
          </a:xfrm>
          <a:prstGeom prst="rect">
            <a:avLst/>
          </a:prstGeom>
          <a:noFill/>
        </p:spPr>
        <p:txBody>
          <a:bodyPr wrap="none" lIns="36576" rIns="36576" tIns="36576" bIns="36576" anchor="t">
            <a:spAutoFit/>
          </a:bodyPr>
          <a:lstStyle/>
          <a:p>
            <a:pPr algn="l"/>
            <a:r>
              <a:rPr sz="1100" b="0">
                <a:solidFill>
                  <a:srgbClr val="14254A"/>
                </a:solidFill>
                <a:latin typeface="Aptos"/>
              </a:rPr>
              <a:t>Ảnh khảo sát và bảng so sánh LMS</a:t>
            </a:r>
          </a:p>
        </p:txBody>
      </p:sp>
      <p:sp>
        <p:nvSpPr>
          <p:cNvPr id="30" name="Oval 29"/>
          <p:cNvSpPr/>
          <p:nvPr/>
        </p:nvSpPr>
        <p:spPr>
          <a:xfrm>
            <a:off x="6519672" y="425196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93992" y="4169664"/>
            <a:ext cx="4206240" cy="246888"/>
          </a:xfrm>
          <a:prstGeom prst="rect">
            <a:avLst/>
          </a:prstGeom>
          <a:noFill/>
        </p:spPr>
        <p:txBody>
          <a:bodyPr wrap="none" lIns="36576" rIns="36576" tIns="36576" bIns="36576" anchor="t">
            <a:spAutoFit/>
          </a:bodyPr>
          <a:lstStyle/>
          <a:p>
            <a:pPr algn="l"/>
            <a:r>
              <a:rPr sz="1100" b="0">
                <a:solidFill>
                  <a:srgbClr val="14254A"/>
                </a:solidFill>
                <a:latin typeface="Aptos"/>
              </a:rPr>
              <a:t>Backend test trên máy .NET 10 + Docker</a:t>
            </a:r>
          </a:p>
        </p:txBody>
      </p:sp>
      <p:sp>
        <p:nvSpPr>
          <p:cNvPr id="32" name="Oval 31"/>
          <p:cNvSpPr/>
          <p:nvPr/>
        </p:nvSpPr>
        <p:spPr>
          <a:xfrm>
            <a:off x="6519672" y="4709160"/>
            <a:ext cx="109728" cy="109728"/>
          </a:xfrm>
          <a:prstGeom prst="ellipse">
            <a:avLst/>
          </a:prstGeom>
          <a:solidFill>
            <a:srgbClr val="F5B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93992" y="4626864"/>
            <a:ext cx="4206240" cy="246888"/>
          </a:xfrm>
          <a:prstGeom prst="rect">
            <a:avLst/>
          </a:prstGeom>
          <a:noFill/>
        </p:spPr>
        <p:txBody>
          <a:bodyPr wrap="none" lIns="36576" rIns="36576" tIns="36576" bIns="36576" anchor="t">
            <a:spAutoFit/>
          </a:bodyPr>
          <a:lstStyle/>
          <a:p>
            <a:pPr algn="l"/>
            <a:r>
              <a:rPr sz="1100" b="0">
                <a:solidFill>
                  <a:srgbClr val="14254A"/>
                </a:solidFill>
                <a:latin typeface="Aptos"/>
              </a:rPr>
              <a:t>SQL lab riêng nếu môn bắt buộc</a:t>
            </a:r>
          </a:p>
        </p:txBody>
      </p:sp>
      <p:cxnSp>
        <p:nvCxnSpPr>
          <p:cNvPr id="34" name="Connector 33"/>
          <p:cNvCxnSpPr/>
          <p:nvPr/>
        </p:nvCxnSpPr>
        <p:spPr>
          <a:xfrm>
            <a:off x="594360" y="6528816"/>
            <a:ext cx="11000232" cy="0"/>
          </a:xfrm>
          <a:prstGeom prst="line">
            <a:avLst/>
          </a:prstGeom>
          <a:ln w="8890">
            <a:solidFill>
              <a:srgbClr val="DDE3F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12648" y="6583680"/>
            <a:ext cx="7315200" cy="164592"/>
          </a:xfrm>
          <a:prstGeom prst="rect">
            <a:avLst/>
          </a:prstGeom>
          <a:noFill/>
        </p:spPr>
        <p:txBody>
          <a:bodyPr wrap="none" lIns="36576" rIns="36576" tIns="36576" bIns="36576" anchor="t">
            <a:spAutoFit/>
          </a:bodyPr>
          <a:lstStyle/>
          <a:p>
            <a:pPr algn="l"/>
            <a:r>
              <a:rPr sz="700" b="1">
                <a:solidFill>
                  <a:srgbClr val="64708A"/>
                </a:solidFill>
                <a:latin typeface="Aptos"/>
              </a:rPr>
              <a:t>LEARNSPACE · ASP.NET CORE + REACT + MONGODB</a:t>
            </a:r>
          </a:p>
        </p:txBody>
      </p:sp>
    </p:spTree>
  </p:cSld>
  <p:clrMapOvr>
    <a:masterClrMapping/>
  </p:clrMapOvr>
  <p:transition spd="med">
    <p:wipe dir="r"/>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254A"/>
        </a:solidFill>
        <a:effectLst/>
      </p:bgPr>
    </p:bg>
    <p:spTree>
      <p:nvGrpSpPr>
        <p:cNvPr id="1" name=""/>
        <p:cNvGrpSpPr/>
        <p:nvPr/>
      </p:nvGrpSpPr>
      <p:grpSpPr/>
      <p:sp>
        <p:nvSpPr>
          <p:cNvPr id="2" name="Rounded Rectangle 1"/>
          <p:cNvSpPr/>
          <p:nvPr/>
        </p:nvSpPr>
        <p:spPr>
          <a:xfrm>
            <a:off x="621792" y="566928"/>
            <a:ext cx="1234440" cy="310896"/>
          </a:xfrm>
          <a:prstGeom prst="roundRect">
            <a:avLst/>
          </a:prstGeom>
          <a:solidFill>
            <a:srgbClr val="263B68"/>
          </a:solidFill>
          <a:ln>
            <a:solidFill>
              <a:srgbClr val="263B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 y="617220"/>
            <a:ext cx="1088136" cy="201168"/>
          </a:xfrm>
          <a:prstGeom prst="rect">
            <a:avLst/>
          </a:prstGeom>
          <a:noFill/>
        </p:spPr>
        <p:txBody>
          <a:bodyPr wrap="none" lIns="36576" rIns="36576" tIns="36576" bIns="36576" anchor="t">
            <a:spAutoFit/>
          </a:bodyPr>
          <a:lstStyle/>
          <a:p>
            <a:pPr algn="ctr"/>
            <a:r>
              <a:rPr sz="900" b="1">
                <a:solidFill>
                  <a:srgbClr val="3EC6E0"/>
                </a:solidFill>
                <a:latin typeface="Aptos"/>
              </a:rPr>
              <a:t>DEMO 7 PHÚT</a:t>
            </a:r>
          </a:p>
        </p:txBody>
      </p:sp>
      <p:sp>
        <p:nvSpPr>
          <p:cNvPr id="4" name="TextBox 3"/>
          <p:cNvSpPr txBox="1"/>
          <p:nvPr/>
        </p:nvSpPr>
        <p:spPr>
          <a:xfrm>
            <a:off x="621792" y="987552"/>
            <a:ext cx="7406640" cy="502920"/>
          </a:xfrm>
          <a:prstGeom prst="rect">
            <a:avLst/>
          </a:prstGeom>
          <a:noFill/>
        </p:spPr>
        <p:txBody>
          <a:bodyPr wrap="none" lIns="36576" rIns="36576" tIns="36576" bIns="36576" anchor="t">
            <a:spAutoFit/>
          </a:bodyPr>
          <a:lstStyle/>
          <a:p>
            <a:pPr algn="l"/>
            <a:r>
              <a:rPr sz="2800" b="1">
                <a:solidFill>
                  <a:srgbClr val="FFFFFF"/>
                </a:solidFill>
                <a:latin typeface="Aptos"/>
              </a:rPr>
              <a:t>Kịch bản trình diễn bám theo mục tiêu</a:t>
            </a:r>
          </a:p>
        </p:txBody>
      </p:sp>
      <p:sp>
        <p:nvSpPr>
          <p:cNvPr id="5" name="Rounded Rectangle 4"/>
          <p:cNvSpPr/>
          <p:nvPr/>
        </p:nvSpPr>
        <p:spPr>
          <a:xfrm>
            <a:off x="411480"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1</a:t>
            </a:r>
          </a:p>
        </p:txBody>
      </p:sp>
      <p:sp>
        <p:nvSpPr>
          <p:cNvPr id="7" name="TextBox 6"/>
          <p:cNvSpPr txBox="1"/>
          <p:nvPr/>
        </p:nvSpPr>
        <p:spPr>
          <a:xfrm>
            <a:off x="576072"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Admin phân quyền</a:t>
            </a:r>
          </a:p>
        </p:txBody>
      </p:sp>
      <p:sp>
        <p:nvSpPr>
          <p:cNvPr id="8" name="Rounded Rectangle 7"/>
          <p:cNvSpPr/>
          <p:nvPr/>
        </p:nvSpPr>
        <p:spPr>
          <a:xfrm>
            <a:off x="2075688"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14600"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2</a:t>
            </a:r>
          </a:p>
        </p:txBody>
      </p:sp>
      <p:sp>
        <p:nvSpPr>
          <p:cNvPr id="10" name="TextBox 9"/>
          <p:cNvSpPr txBox="1"/>
          <p:nvPr/>
        </p:nvSpPr>
        <p:spPr>
          <a:xfrm>
            <a:off x="2240280"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Staff xem sinh viên</a:t>
            </a:r>
          </a:p>
        </p:txBody>
      </p:sp>
      <p:sp>
        <p:nvSpPr>
          <p:cNvPr id="11" name="Rounded Rectangle 10"/>
          <p:cNvSpPr/>
          <p:nvPr/>
        </p:nvSpPr>
        <p:spPr>
          <a:xfrm>
            <a:off x="3739896"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78808"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3</a:t>
            </a:r>
          </a:p>
        </p:txBody>
      </p:sp>
      <p:sp>
        <p:nvSpPr>
          <p:cNvPr id="13" name="TextBox 12"/>
          <p:cNvSpPr txBox="1"/>
          <p:nvPr/>
        </p:nvSpPr>
        <p:spPr>
          <a:xfrm>
            <a:off x="3904487"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Teacher mở lớp</a:t>
            </a:r>
          </a:p>
        </p:txBody>
      </p:sp>
      <p:sp>
        <p:nvSpPr>
          <p:cNvPr id="14" name="Rounded Rectangle 13"/>
          <p:cNvSpPr/>
          <p:nvPr/>
        </p:nvSpPr>
        <p:spPr>
          <a:xfrm>
            <a:off x="5404104"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3016"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4</a:t>
            </a:r>
          </a:p>
        </p:txBody>
      </p:sp>
      <p:sp>
        <p:nvSpPr>
          <p:cNvPr id="16" name="TextBox 15"/>
          <p:cNvSpPr txBox="1"/>
          <p:nvPr/>
        </p:nvSpPr>
        <p:spPr>
          <a:xfrm>
            <a:off x="5568696"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Học liệu gửi duyệt</a:t>
            </a:r>
          </a:p>
        </p:txBody>
      </p:sp>
      <p:sp>
        <p:nvSpPr>
          <p:cNvPr id="17" name="Rounded Rectangle 16"/>
          <p:cNvSpPr/>
          <p:nvPr/>
        </p:nvSpPr>
        <p:spPr>
          <a:xfrm>
            <a:off x="7068312"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07224"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5</a:t>
            </a:r>
          </a:p>
        </p:txBody>
      </p:sp>
      <p:sp>
        <p:nvSpPr>
          <p:cNvPr id="19" name="TextBox 18"/>
          <p:cNvSpPr txBox="1"/>
          <p:nvPr/>
        </p:nvSpPr>
        <p:spPr>
          <a:xfrm>
            <a:off x="7232904"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AI tạo câu hỏi Draft</a:t>
            </a:r>
          </a:p>
        </p:txBody>
      </p:sp>
      <p:sp>
        <p:nvSpPr>
          <p:cNvPr id="20" name="Rounded Rectangle 19"/>
          <p:cNvSpPr/>
          <p:nvPr/>
        </p:nvSpPr>
        <p:spPr>
          <a:xfrm>
            <a:off x="8732519"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1432"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6</a:t>
            </a:r>
          </a:p>
        </p:txBody>
      </p:sp>
      <p:sp>
        <p:nvSpPr>
          <p:cNvPr id="22" name="TextBox 21"/>
          <p:cNvSpPr txBox="1"/>
          <p:nvPr/>
        </p:nvSpPr>
        <p:spPr>
          <a:xfrm>
            <a:off x="8897111"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Student học/nộp</a:t>
            </a:r>
          </a:p>
        </p:txBody>
      </p:sp>
      <p:sp>
        <p:nvSpPr>
          <p:cNvPr id="23" name="Rounded Rectangle 22"/>
          <p:cNvSpPr/>
          <p:nvPr/>
        </p:nvSpPr>
        <p:spPr>
          <a:xfrm>
            <a:off x="10396728" y="1965960"/>
            <a:ext cx="1417320" cy="1371600"/>
          </a:xfrm>
          <a:prstGeom prst="roundRect">
            <a:avLst/>
          </a:prstGeom>
          <a:solidFill>
            <a:srgbClr val="1D3974"/>
          </a:solidFill>
          <a:ln>
            <a:solidFill>
              <a:srgbClr val="3453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5640" y="2176272"/>
            <a:ext cx="530352" cy="274320"/>
          </a:xfrm>
          <a:prstGeom prst="rect">
            <a:avLst/>
          </a:prstGeom>
          <a:noFill/>
        </p:spPr>
        <p:txBody>
          <a:bodyPr wrap="none" lIns="36576" rIns="36576" tIns="36576" bIns="36576" anchor="t">
            <a:spAutoFit/>
          </a:bodyPr>
          <a:lstStyle/>
          <a:p>
            <a:pPr algn="ctr"/>
            <a:r>
              <a:rPr sz="1300" b="1">
                <a:solidFill>
                  <a:srgbClr val="3EC6E0"/>
                </a:solidFill>
                <a:latin typeface="Aptos"/>
              </a:rPr>
              <a:t>7</a:t>
            </a:r>
          </a:p>
        </p:txBody>
      </p:sp>
      <p:sp>
        <p:nvSpPr>
          <p:cNvPr id="25" name="TextBox 24"/>
          <p:cNvSpPr txBox="1"/>
          <p:nvPr/>
        </p:nvSpPr>
        <p:spPr>
          <a:xfrm>
            <a:off x="10561319" y="2670048"/>
            <a:ext cx="1097280" cy="411480"/>
          </a:xfrm>
          <a:prstGeom prst="rect">
            <a:avLst/>
          </a:prstGeom>
          <a:noFill/>
        </p:spPr>
        <p:txBody>
          <a:bodyPr wrap="none" lIns="36576" rIns="36576" tIns="36576" bIns="36576" anchor="t">
            <a:spAutoFit/>
          </a:bodyPr>
          <a:lstStyle/>
          <a:p>
            <a:pPr algn="ctr"/>
            <a:r>
              <a:rPr sz="1000" b="1">
                <a:solidFill>
                  <a:srgbClr val="FFFFFF"/>
                </a:solidFill>
                <a:latin typeface="Aptos"/>
              </a:rPr>
              <a:t>Báo cáo + audit</a:t>
            </a:r>
          </a:p>
        </p:txBody>
      </p:sp>
      <p:sp>
        <p:nvSpPr>
          <p:cNvPr id="26" name="TextBox 25"/>
          <p:cNvSpPr txBox="1"/>
          <p:nvPr/>
        </p:nvSpPr>
        <p:spPr>
          <a:xfrm>
            <a:off x="640080" y="3977639"/>
            <a:ext cx="1828800" cy="320040"/>
          </a:xfrm>
          <a:prstGeom prst="rect">
            <a:avLst/>
          </a:prstGeom>
          <a:noFill/>
        </p:spPr>
        <p:txBody>
          <a:bodyPr wrap="none" lIns="36576" rIns="36576" tIns="36576" bIns="36576" anchor="t">
            <a:spAutoFit/>
          </a:bodyPr>
          <a:lstStyle/>
          <a:p>
            <a:pPr algn="l"/>
            <a:r>
              <a:rPr sz="1800" b="1">
                <a:solidFill>
                  <a:srgbClr val="3EC6E0"/>
                </a:solidFill>
                <a:latin typeface="Aptos"/>
              </a:rPr>
              <a:t>Kết luận</a:t>
            </a:r>
          </a:p>
        </p:txBody>
      </p:sp>
      <p:sp>
        <p:nvSpPr>
          <p:cNvPr id="27" name="TextBox 26"/>
          <p:cNvSpPr txBox="1"/>
          <p:nvPr/>
        </p:nvSpPr>
        <p:spPr>
          <a:xfrm>
            <a:off x="640080" y="4443984"/>
            <a:ext cx="7315200" cy="914400"/>
          </a:xfrm>
          <a:prstGeom prst="rect">
            <a:avLst/>
          </a:prstGeom>
          <a:noFill/>
        </p:spPr>
        <p:txBody>
          <a:bodyPr wrap="none" lIns="36576" rIns="36576" tIns="36576" bIns="36576" anchor="t">
            <a:spAutoFit/>
          </a:bodyPr>
          <a:lstStyle/>
          <a:p>
            <a:pPr algn="l"/>
            <a:r>
              <a:rPr sz="2300" b="1">
                <a:solidFill>
                  <a:srgbClr val="FFFFFF"/>
                </a:solidFill>
                <a:latin typeface="Aptos"/>
              </a:rPr>
              <a:t>LearnSpace đã hiện thực hóa mục tiêu nghiệp vụ,
đồng thời kiểm soát quyền và dữ liệu ở server.</a:t>
            </a:r>
          </a:p>
        </p:txBody>
      </p:sp>
      <p:sp>
        <p:nvSpPr>
          <p:cNvPr id="28" name="Rounded Rectangle 27"/>
          <p:cNvSpPr/>
          <p:nvPr/>
        </p:nvSpPr>
        <p:spPr>
          <a:xfrm>
            <a:off x="8549640" y="3886200"/>
            <a:ext cx="2743200" cy="1645920"/>
          </a:xfrm>
          <a:prstGeom prst="roundRect">
            <a:avLst/>
          </a:prstGeom>
          <a:solidFill>
            <a:srgbClr val="2F5BEA"/>
          </a:solidFill>
          <a:ln>
            <a:solidFill>
              <a:srgbClr val="2F5B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9640" y="4251960"/>
            <a:ext cx="2743200" cy="502920"/>
          </a:xfrm>
          <a:prstGeom prst="rect">
            <a:avLst/>
          </a:prstGeom>
          <a:noFill/>
        </p:spPr>
        <p:txBody>
          <a:bodyPr wrap="none" lIns="36576" rIns="36576" tIns="36576" bIns="36576" anchor="t">
            <a:spAutoFit/>
          </a:bodyPr>
          <a:lstStyle/>
          <a:p>
            <a:pPr algn="ctr"/>
            <a:r>
              <a:rPr sz="3100" b="1">
                <a:solidFill>
                  <a:srgbClr val="FFFFFF"/>
                </a:solidFill>
                <a:latin typeface="Aptos"/>
              </a:rPr>
              <a:t>Q&amp;A</a:t>
            </a:r>
          </a:p>
        </p:txBody>
      </p:sp>
      <p:sp>
        <p:nvSpPr>
          <p:cNvPr id="30" name="TextBox 29"/>
          <p:cNvSpPr txBox="1"/>
          <p:nvPr/>
        </p:nvSpPr>
        <p:spPr>
          <a:xfrm>
            <a:off x="8759952" y="4892040"/>
            <a:ext cx="2331720" cy="256032"/>
          </a:xfrm>
          <a:prstGeom prst="rect">
            <a:avLst/>
          </a:prstGeom>
          <a:noFill/>
        </p:spPr>
        <p:txBody>
          <a:bodyPr wrap="none" lIns="36576" rIns="36576" tIns="36576" bIns="36576" anchor="t">
            <a:spAutoFit/>
          </a:bodyPr>
          <a:lstStyle/>
          <a:p>
            <a:pPr algn="ctr"/>
            <a:r>
              <a:rPr sz="900" b="0">
                <a:solidFill>
                  <a:srgbClr val="DDE7FF"/>
                </a:solidFill>
                <a:latin typeface="Aptos"/>
              </a:rPr>
              <a:t>Cảm ơn thầy/cô và các bạn</a:t>
            </a:r>
          </a:p>
        </p:txBody>
      </p:sp>
      <p:sp>
        <p:nvSpPr>
          <p:cNvPr id="31" name="TextBox 30"/>
          <p:cNvSpPr txBox="1"/>
          <p:nvPr/>
        </p:nvSpPr>
        <p:spPr>
          <a:xfrm>
            <a:off x="658368" y="6199632"/>
            <a:ext cx="5669280" cy="228600"/>
          </a:xfrm>
          <a:prstGeom prst="rect">
            <a:avLst/>
          </a:prstGeom>
          <a:noFill/>
        </p:spPr>
        <p:txBody>
          <a:bodyPr wrap="none" lIns="36576" rIns="36576" tIns="36576" bIns="36576" anchor="t">
            <a:spAutoFit/>
          </a:bodyPr>
          <a:lstStyle/>
          <a:p>
            <a:pPr algn="l"/>
            <a:r>
              <a:rPr sz="900" b="0">
                <a:solidFill>
                  <a:srgbClr val="AFC0ED"/>
                </a:solidFill>
                <a:latin typeface="Aptos"/>
              </a:rPr>
              <a:t>github.com/nguyenhaiphong0711-bit/BaoMat</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LearnSpace - Báo cáo mục tiêu nghiệp vụ và bảo mật</dc:title>
  <dc:subject>Đối chiếu kế hoạch, giao diện, code bảo mật và kiểm thử</dc:subject>
  <dc:creator>Nguyễn Hải Phong</dc:creator>
  <cp:keywords/>
  <dc:description>Ảnh giao diện tạo từ source React với dữ liệu minh họa; không dùng dữ liệu Atlas thật.</dc:description>
  <cp:lastModifiedBy>Steve Canny</cp:lastModifiedBy>
  <cp:revision>1</cp:revision>
  <dcterms:created xsi:type="dcterms:W3CDTF">2013-01-27T09:14:16Z</dcterms:created>
  <dcterms:modified xsi:type="dcterms:W3CDTF">2013-01-27T09:15:58Z</dcterms:modified>
  <cp:category/>
</cp:coreProperties>
</file>